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Cadrer la séance : ce cours part du principe que les bases de Java (variables, boucles, méthodes) sont déjà vues ou seront rappelées brièvement au Module 2. L'objectif final : être capable de concevoir ET développer une application Java en POO connectée à une base de données. Insister sur la progression : chaque brique s'appuie sur la précédente, ne pas sauter de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plan suit fidèlement la logique du manuel de référence du cours. Chaque grande étape s'appuie sur la précédente : ne jamais avancer sur les couches base de données avant que la POO fondamentale (Modules 3 à 18) soit acquise.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 « Quelle est la différence entre une recette de cuisine et un programme ? » Réponse attendue : aucune, structurellement — les deux exigent un ordre exact, sans étape devinée. Transition : pour écrire ces instructions, il faut un langage — Java en est 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point est un COMPLÉMENT pédagogique qui prépare directement le chapitre 8 du manuel (« Pourquoi avons-nous besoin de la POO »). Montrer au tableau l'exemple BoutiqueSansPOO vs BoutiqueAvecPOO (repris en Module 3). Insister : la procédurale n'est pas « fausse », elle devient juste ingérable à mesure que le programme grandit.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Anecdote à raconter : le nom « Java » viendrait du café bu par l'équipe créatrice, originaire de l'île de Java — d'où le logo tasse de café fumante. Insister sur la stabilité/robustesse long terme comme raison du choix de Java dans les systèmes bancaires et administratifs.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Décortiquer chaque flèche : (1) le développeur écrit du code source lisible ; (2) javac le compile en bytecode, un langage intermédiaire propre à Java ; (3) la JVM, installée sur chaque OS, traduit ce même bytecode pour la machine réelle. C'est cette étape intermédiaire qui permet au MÊME fichier compilé de tourner sur Windows, Mac et Linux sans réécriture.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COMPLÉMENT pédagogique : le manuel de référence détaille la JVM et la compilation (chapitre 1) mais ne nomme pas formellement JDK/JRE — ce point le complète pour l'usage pratique en salle (installation de l'environnement). Retenir la relation d'inclusion : JDK ⊃ JRE ⊃ JVM. Pour développer, il faut le JDK ; pour seulement exécuter un .jar déjà compilé, le JRE suffit.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Construire ce programme progressivement au tableau : (1) classe vide, (2) ajouter public static void main(String[] args), (3) ajouter System.out.println. Expliquer chaque mot brièvement mais annoncer qu'ils seront détaillés plus loin (public → chapitre encapsulation ; static → module static). Exécuter mentalement : javac Main.java puis java Main.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ces trois erreurs au tableau et demander aux étudiants de prédire le message d'erreur du compilateur pour chacune.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 (1) Faux — même bytecode, exécuté par la JVM propre à chaque OS. (2) Le bytecode (.class). (3) La JVM. (4) Le JDK contient le JRE (qui contient lui-même la JVM). (5) Parce que rien ne relie formellement les variables d'un même client entre elles — au-delà de quelques dizaines d'éléments, c'est ingérable à la main.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 rapide seulement — si le public maîtrise déjà ces notions, ne pas s'attarder. Analogie : une étiquette collée sur une boîte (le nom), le contenu de la boîte pouvant changer (la valeur), mais l'étiquette reste.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le piège de la division entière — c'est l'erreur la plus fréquente des débutants sur ce sujet. Demander : pourquoi (double) a / b donne-t-il un résultat différent de a / b ? Réponse : le transtypage doit être appliqué AVANT la division, sinon le calcul entier a déjà eu lieu.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Rappeler l'ordre de test : dès qu'une condition est vraie, le reste de la chaîne est ignoré, même si une condition suivante aurait aussi été vraie. Piège classique : ranger les conditions de la plus stricte à la plus large, pas l'inverse.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Décomposer l'ordre d'exécution du for : initialisation (une fois) → condition → bloc → incrément → retour à la condition. Piège classique : oublier de faire évoluer la condition testée → boucle infinie.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Piège classique : .length (attribut, sans parenthèses) sur un tableau vs .length() (méthode, avec parenthèses) sur un String.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dernière étape avant d'entrer en POO — souligner explicitement la transition : une méthode 'appartiendra' bientôt à une classe précise, et manipulera ses propres données, sans qu'on ait besoin de tout lui passer en paramètre.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Correction : boucler sur le tableau en sommant, diviser par notes.length (en forçant un double), puis un if/else simple. Laisser 5 minutes de recherche avant d'afficher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Reprendre l'exemple BoutiqueSansPOO du Module 1 si le temps le permet, ou le présenter ici pour la première fois. Le code exact est dans le manuel (chapitre 8) : deux clients, quatre variables, deux fonctions statiques qui les manipulent séparément.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Analogie du manuel : un dossier client regroupe TOUT ce qui concerne un client (données ET actions) en une seule unité cohérente. C'est exactement ce que propose la POO.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Ajouter un 4e terme oralement : Méthode = une action que l'objet sait faire (ex : ajouterAchat()). Insister : une classe seule ne représente JAMAIS un objet concret — le plan d'une maison n'est pas habitable.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donné tel quel dans la consigne du cours. Chaque objet a SES PROPRES valeurs (marque, couleur) mais partage la même structure (attributs marque/couleur/vitesse, méthodes démarrer/accélérer/freiner) définie une seule fois dans la classe.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Comparer explicitement avec la version « sans POO » du début du module. Souligner : ajouterAchat() utilise directement solde, sans qu'on le lui passe en paramètre séparément — elle sait déjà qu'elle appartient à un client précis.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POO organise le code déjà connu, elle n'ajoute rien de magique. Une classe se justifie par un ÉTAT qui évolue dans le temps (un client, un compte), pas par n'importe quel bout de logique isolé.</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 attendue : classe Livre, attributs titre (String) et disponible (boolean), méthode emprunter(). Faire justifier : un livre a un état qui évolue (disponible ou non) et des actions qui lui sont propres.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 1 du manuel : une classe vide, juste l'enveloppe. Rien à exécuter encore.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objet Voiture créé à partir de ce plan aura SON PROPRE marque/couleur/vitesse, indépendants des autres.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méthode void ajoute un comportement, sans encore de valeur de retour. Rappel du Module 2 sur les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chaque mot de la ligne : TYPE nomVariable = new Constructeur(). Montrer avec deux objets Voiture (voiture1 Toyota rouge, voiture2 Honda bleue) que chacun garde ses propres valeurs, indépendamment de l'autre.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explique pourquoi appeler une méthode sur un attribut objet non initialisé (String par ex.) provoque une NullPointerException — le sujet le plus fréquent d'erreur en Java, revu au Module 6 (constructeurs) pour le résoudre définitivement.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attendue proche de l'exercice du manuel (chapitre 9) : if (disponible) { disponible = false; ... } else { ... }. Vérifier que chaque étudiant a bien utilisé new.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 lien explicite avec le Module 2 : une méthode de classe fonctionne exactement pareil qu'une méthode static, sauf qu'elle appartient maintenant à un objet et peut lire/modifier ses attributs directement, sans les recevoir en paramètre.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Décomposer les trois étapes demandées par la consigne : déclaration (la méthode elle-même), appel (avec de vrais arguments), résultat (la valeur renvoyée, récupérable dans une variable).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distinction prépare directement le Module 7 (encapsulation, getters/setters) où les deux formes seront systématiquement utilisées côte à côte.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Résultat attendu : 50.0. Vérifier que les étudiants utilisent bien return et non un simple println à l'intérieur de la méthode.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 lien avec la NullPointerException du Module 4 : sans constructeur, rien n'empêche un attribut essentiel de rester à sa valeur par défaut, silencieusement.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exact du prompt du cours. Expliquer : sans aucun constructeur écrit, Java fournit gratuitement un constructeur vide. Dès qu'on écrit UN constructeur, ce constructeur par défaut disparaît.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Piège n°1 du chapitre : oublier this. dans « nom = nom; » n'assigne rien à l'attribut — Java comprend les deux « nom » comme le MÊME paramètre local. Bug silencieux, sans erreur de compilation.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évite de recopier les mêmes affectations dans les deux constructeurs. Règle stricte : this(...) doit être la toute première ligne du constructeur.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 directement le Module 7 (encapsulation) : le constructeur est le premier endroit où valider une donnée, garantissant qu'aucun objet invalide ne peut exister.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Analogie du manuel : on ne laisse pas n'importe qui entrer dans sa maison sans contrôle. Une porte verrouillée = private ; c'est le propriétaire (l'objet) qui décide qui entre, et à quelles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private rend l'attribut inaccessible depuis l'extérieur de la classe. La SEULE voie autorisée pour le modifier passe par une méthode publique contrôlée — ici deposer(), qui valide le montant avant d'agir.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Convention Java : get+Nom pour un getter, set+Nom pour un setter, is+Nom pour un booléen (isActif() plutôt que getActif()).</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Piège majeur du chapitre : un constructeur qui écrit this.prix = prix directement, en contournant setPrix(), crée un objet potentiellement invalide MALGRÉ l'existence d'un setter qui valide correctement.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que le constructeur appelle bien setPrix(prix) plutôt que this.prix = prix directement — c'est l'erreur n°2 du chapitre, très fréquente.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Tableau exact demandé par la consigne du cours. private = le plus restrictif (Module 7, encapsulation) ; public = accessible depuis n'importe où. protected est surtout utile en héritage (Module 10) : la classe fille y accède même dans un autre package.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la visibilité par défaut (« default », sans mot-clé) est réservée au même package — une notion approfondie au Module 18 (packages).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attendues : solde → private (Module 7) ; attribut partagé par la hiérarchie → protected (anticipe le Module 10) ; consulterSolde() → public.</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COMPLÉMENT pédagogique : ce module reprend l'ouverture laissée par le manuel de référence à la fin de son chapitre 9 (exercice « défi » sur le comptage global d'emprunts), qui annonce explicitement static sans encore l'enseigner formellement. Ce module comble ce point, avec l'exemple donné par la consigne du cours (classe Compteur).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Créer 3 objets Compteur au tableau : Compteur.nombreObjets vaut 3, quel que soit l'objet interrogé — il n'existe qu'UN SEUL nombreObjets, pas un par objet.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Rappeler que main() lui-même est static (vu dès le Module 1) : c'est pourquoi il peut être appelé sans jamais créer d'objet Main au préalable. Une méthode static ne peut accéder directement qu'à des membres static — jamais à un attribut d'instance sans objet précis.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l'accès : Etudiant.totalEtudiants ou Etudiant.afficherTotal(), jamais via un objet précis (même si Java l'autorise techniquement, ce n'est pas la convention).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Poser la question : « Quelle est la différence entre une classe et un objet ? » avant d'enchaîner (rappel Module 3), puis transition naturelle vers l'héritage comme second pilier de la POO.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Schéma exact demandé par la consigne. Le test « EST UN » valide qu'un héritage a du sens : un Chien EST UN Animal → héritage logique. Un Moteur N'EST PAS une Voiture (elle EN A un) → pas d'héritage, plutôt une composition (Module 15).</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Chien obtient AUTOMATIQUEMENT tout ce qu'Animal définit, sans l'avoir réécrit, et y ajoute ses propres méthodes. Java n'autorise l'héritage que d'une SEULE classe mère directe (pas d'héritage multiple de classes).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aucun super(...) explicite n'est écrit, Java tente d'appeler automatiquement le constructeur SANS paramètre de la classe mère. S'il n'existe pas (comme ici), erreur de compilation obligeant à écrire super(...) soi-même.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l'usage de super.calculerSalaire() plutôt que de recopier salaireBase directement — c'est tout l'intérêt de la réutilisation par héritage.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@Override est une ANNOTATION : une indication donnée au compilateur, pas une instruction exécutée. Elle n'est pas obligatoire pour que le code fonctionne, mais c'est une excellente pratique de sécurité.</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au tableau une redéfinition avec une faute de frappe volontaire (mangerr au lieu de manger) sans @Override, puis avec @Override — montrer que seul le second cas produit une erreur de compilation claire.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 : ceci prépare directement le polymorphisme (Module 12), où la redéfinition devient le mécanisme central.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systématiquement la présence de @Override — en faire une habitude dès ce module.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Poser la question dès maintenant : « À votre avis, quelle version de manger() va s'exécuter ? » Laisser les étudiants répondre avant de révéler la réponse (liaison dynamique).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cœur du chapitre : la variable a un type déclaré (Animal), mais Java exécute TOUJOURS la méthode de la classe RÉELLE de l'objet (Chien), jamais celle du type déclaré.</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vrai bénéfice : ajouter une classe Vache extends Animal demain ne demande AUCUNE modification de cette boucle. Sans polymorphisme, il faudrait un if (animal instanceof Chien) { ... } else if (... Chat) { ... } — fragile et à modifier à chaque nouveau type.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appeler aboyer(), il faudrait un transtypage explicite ((Chien) animal).aboyer() — technique avancée, à mentionner mais pas approfondir.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Résultat attendu : chaque employé affiche sa propre prime, sans aucun if/instanceof dans la boucle — exactement l'intérêt démontré.</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 (1) Appelle la version de la méthode définie dans la classe mère. (2) Il protège contre une faute de frappe qui créerait silencieusement une méthode indépendante. (3) Le type RÉEL de l'objet (Chien), jamais le type déclaré. (4) Une seule (pas d'héritage multiple de classes en Java). (5) Ajouter un type ne demande qu'une nouvelle classe avec sa méthode redéfinie — tout le code existant continue de fonctionner sans modification.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abstract devant une méthode = pas de corps, juste une signature : un contrat que CHAQUE classe fille concrète doit obligatoirement respecter, sous peine d'erreur de compilation.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Différence clé avec le Module 11 : une méthode normale redéfinissable est OPTIONNELLE à redéfinir ; une méthode abstraite est OBLIGATOIRE à implémenter, vérifié dès la compilation.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que new Forme() est bien refusé par le compilateur si un étudiant essaie.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Analogie du manuel : un contrat d'embauche générique (« livrer un rapport chaque vendredi ») ne précise pas COMMENT chacun doit le rédiger — un comptable et un designer respecteront ce même engagement, chacun à sa manière.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implements déclare qu'une classe respecte un contrat, sans lien d'héritage. Les méthodes d'une interface sont implicitement public — la classe qui implémente doit respecter cette même visibilité, jamais plus restrictive.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Tableau du manuel. Exemple d'ancrage : Animal → Chien/Chat = classe abstraite (base réelle commune) ; Volant → Oiseau/Avion = interface (capacité partagée, aucun lien de parenté).</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Souligner : une classe peut implémenter autant d'interfaces qu'elle le souhaite, séparées par des virgules — impossible avec l'héritage de classes.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 (Module 3) : une classe est un plan ; un objet est une instance concrète créée à partir de ce plan avec new.</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 (1) Erreur de compilation. (2) Autant que nécessaire. (3) public. (4) Quand des classes potentiellement très différentes partagent une capacité, sans base commune réelle.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L'indice le plus fiable pour distinguer agrégation et composition : QUI crée l'objet contenu, et OÙ ? Si le conteneur le crée lui-même avec new dans son propre constructeur →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école n'existe pas sans étudiants qui la fréquentent, mais un étudiant qui change d'école continue d'exister ailleurs — c'est une agrégation, pas une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ligne de commande (ou une pièce d'une maison) n'a aucun sens en dehors de son conteneur : si le conteneur est détruit, elle disparaît avec lui.</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LigneCommande sont créées À L'INTÉRIEUR du constructeur de Commande : elles n'ont aucune existence possible en dehors d'elle — signature d'une vraie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 (a) Composition — les roues n'ont aucun sens hors de la voiture qui les a créées. (b) Association — indépendants l'un de l'autre. (c) Agrégation — contenus, mais peuvent survivre à un transfert.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vue synthétise les Modules 10 (héritage), 14 (interfaces) et 15 (association/agrégation/composition) sous une seule notation graphique standardisée, approfondie au Module 25 (UML).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du manuel (chapitre 17) : Paiement.executer() doit à la fois marquer la commande payée ET réduire la dette du client — oublier l'un des deux crée un état incohérent, une erreur métier très réaliste.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choisit automatiquement la bonne version selon le NOMBRE et le TYPE des arguments fournis à l'appel — déjà vu avec les constructeurs surchargés au Module 6.</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Confusion très fréquente chez les débutants entre ces deux mots qui se ressemblent en français. Insister sur le moment où le choix est fait : compilation (surcharge) vs exécution (redéfinition, liaison dynamique).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que les étudiants comprennent bien que ce sont TROIS méthodes distinctes, coexistant dans la même classe, pas une seule méthode avec des paramètres optionnels (qui n'existe pas nativement en Java).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Analogie du manuel : une maison bien organisée — la cuisine contient les ustensiles, la chambre les vêtements. Chercher une casserole dans le garage n'aurait aucun sens.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dossier correspond à un package, déclaré en première ligne du fichier. Convention de nommage : tout en minuscules, souvent inspiré du domaine (model, service, dao, exception, ui).</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 attendue : model/Livre, dao/LivreDAO, service/ServicePret, exception/ExceptionLivreIndisponible.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Sans gestion, cette erreur arrêterait brutalement le programme. Avec try/catch, Java saute immédiatement au catch correspondant, puis le programme CONTINUE normalement après le bloc entier.</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est l'endroit privilégié pour fermer un fichier ou une connexion, même en cas d'erreur. Bien distinguer throw (verbe, déclenche) de throws (dans la signature, annonce sans attraper).</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exception personnalisée hérite d'Exception (ou RuntimeException) et représente une erreur avec un sens métier précis, bien plus lisible qu'une exception générique. super(message) est indispensable pour que getMessage() fonctionne.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throws SoldeInsuffisantException sur la signature de retirer(), et super(message) dans le constructeur de l'exception.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 Module 2 : String[] panier = new String[3]; ne peut jamais accueillir un 4e élément. ArrayList lève cette limite.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HashSet.add() renvoie un boolean : true si réellement ajouté, false si déjà présent. HashMap utilise put()/get(), jamais add() — confusion très fréquente en changeant de structure.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getOrDefault(cle, valeurParDefaut) sur une HashMap évite le piège classique du null renvoyé par get() sur une clé absente, qui provoque une NullPointerException dès qu'on essaie de l'utiliser comme un nombre.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 compte.put(mot, compte.getOrDefault(mot, 0) + 1); dans une boucle sur le tableau.</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 (1) L'agrégation contient des objets qui pourraient survivre au conteneur ; la composition contient des objets créés par lui, qui n'ont aucun sens sans lui. (2) Il est immédiatement abandonné, Java saute au catch. (3) throw déclenche volontairement une exception. (4) get(clé). (5) add() vérifie automatiquement la présence avant d'ajouter, et ignore les doublons.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Sans generics, une classe utilisant Object accepterait n'importe quel type sans contrôle, avec un transtypage manuel risqué (ClassCastException seulement à l'exécution). Les generics déplacent cette vérification à la COMPILATION.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peut aussi créer sa PROPRE classe générique, ex. class Boite&lt;T&gt; { T contenu; } — mentionner brièvement, sans s'y attarder si le temps manque.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Sans enum, un simple String pour un statut accepte n'importe quelle valeur (« En cours », « encours »…) sans que le compilateur ne détecte rien. Un enum limite les valeurs possibles à une liste fixe, vérifiée à la compilation.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Piège : un switch sur enum n'oblige PAS à traiter tous les cas (contrairement à une méthode abstraite) — toujours prévoir un default par prudence.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 HAUTE || this == CRITIQUE à l'intérieur même de l'enum — pas besoin de préfixe.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Sans fermeture (ou sans try-with-resources), les données écrites peuvent rester bloquées en mémoire tampon, jamais réellement transférées sur le disque. File/Path/Files (java.nio) offrent une API plus moderne, à mentionner brièvement.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second paramètre true du FileWriter signifie « ajouter à la fin », plutôt que d'écraser le fichier existant.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lambda écrit une petite méthode « à la volée », sans lui donner de nom. Elle ne fonctionne que sur une interface FONCTIONNELLE (une seule méthode abstraite) — Predicate, Function, Consumer, Supplier sont fournies par Java.</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forEach() applique une action à chaque élément. Le Stream combine tout ce qui précède : collections (Module 20), lambdas, et Optional pour les résultats potentiellement absents (average() par ex.).</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présenter cette partie comme un prérequis avant de maîtriser la POO fondamentale — insister que ce module est un bonus « Java moderne », consultable à tout moment après le Module 20.</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 (1) Le paramètre générique T est fixé à Etudiant, vérifié dès la compilation. (2) Chaque valeur d'enum n'existe qu'en un seul exemplaire garanti. (3) readLine() renvoie null. (4) Rien ne s'exécute : un Stream reste paresseux tant qu'aucune opération terminale n'est appelée.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Construire un programme de plusieurs classes sans plan préalable, c'est comme construire une maison sans dessiner ses plans d'abord. UML systématise ce qui était déjà utilisé intuitivement depuis le Module 3 (diagramme Voiture).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 » = private, « + » = public, « # » = protected. La multiplicité « 1 » et « * » sur la relation se lit : 1 Client peut avoir PLUSIEURS (*) Commande. Transformation en Java quasi mécanique : chaque « - » devient un attribut private, chaque « + » une méthode public.</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Mentionner brièvement les diagrammes de séquence (ordre des appels dans le temps) et d'activités (un if/else visuel, avec losange = décision) si le temps le permet — tous se transforment directement en code Java.</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Démarche professionnelle attendue : le squelette Java doit découler DIRECTEMENT du diagramme, sans improvisation.</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COMPLÉMENT pédagogique qui prépare directement les Modules 27-30 (DAO, JDBC). Chaque couche ne parle qu'à sa voisine directe — l'UI ne doit jamais appeler le DAO directement.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organisation en couches sera concrètement appliquée dans le Module 30 (projet Gestion des Étudiants) et le Projet final.</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Analogie : un classeur avec des intercalaires (tables), chacun contenant des fiches (lignes) construites sur le même modèle (colonnes). Piège classique : dupliquer une info en texte au lieu de la relier par clé étrangère — corriger une seule fois, pas partout.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DANGER ABSOLU à souligner fortement : UPDATE ou DELETE SANS WHERE s'applique à TOUTES les lignes de la table, sans exception — l'une des erreurs les plus redoutées de tout développeur.</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en SQL joue le même rôle que .filter() en Stream API (Module 24) : les deux filtrent des données selon une condition. GROUP BY + COUNT()/SUM()/AVG() sont les équivalents SQL de sum()/average().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JDBC (Java DataBase Connectivity) fait le pont entre un programme Java et une base de données, via un pilote (driver) spécifique à MySQL. Approfondi en détail au Module 28.</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CRUD = Create, Read, Update, Delete — les quatre opérations de base, détaillées au Module 28. Rappeler la définition d'une transaction en base bancaire : un virement = un débit + un crédit, tout ou rien.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 (1) Le diagramme de cas d'utilisation. (2) Il supprime TOUTES les lignes de la table, sans distinction. (3) JOIN. (4) Pour garder une séparation claire des responsabilités — le SQL doit rester isolé dans une seule couche, facilement remplaçable.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Dérouler ces étapes en direct si un environnement MySQL est disponible en classe ; sinon, présenter le code et son résultat attendu.</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jdbc:mysql://localhost:3306/ecole se décompose : préfixe jdbc:mysql:// → adresse localhost → port 3306 → base ecole. try-with-resources garantit la fermeture automatique de la connexion.</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reste une classe Java SIMPLE, sans aucune trace de JDBC ni de SQL — c'est le rôle exclusif du DAO (étape suivante, Module 29).</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PreparedStatement protège structurellement contre l'injection SQL — ne JAMAIS construire une requête en collant du texte utilisateur avec +. executeUpdate() pour INSERT/UPDATE/DELETE ; executeQuery() pour SELECT (renvoie un ResultSet).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rs.next() avance à la ligne suivante et renvoie false quand il n'y en a plus — exactement le même principe que readLine() renvoyant null (Module 23). Tester en direct si un environnement MySQL est disponible.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exercice prépare directement le Module 29 (DAO) et sert de base au TP 8.</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Analogie : un guichet unique en administration. Tout le monde s'adresse au MÊME guichet, sans connaître les procédures internes. Si la procédure change, seul le guichet s'adapte.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Rappeler l'usage d'interface (Module 14) : ce contrat pourrait avoir plusieurs implémentations (MySQL, PostgreSQL…) sans jamais changer le reste du programme.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exactement le bénéfice de l'encapsulation (Module 7), appliqué ici à l'échelle d'une couche entière plutôt qu'à un seul attribut.</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 règle de type « une moyenne doit être entre 0 et 20 » doit vivre dans le modèle (Module 7, encapsulation) ou dans une future couche Service, jamais dans le DAO.</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architecture reprend exactement les Modules 26 (couches) à 29 (DAO). C'est la synthèse de tout le cours jusqu'ici.</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projet reprend directement l'exemple filé Etudiant/EtudiantDAO des Modules 28-29. C'est le premier projet qui mobilise TOUTE la chaîne : modèle encapsulé → DAO → JDBC → MySQL.</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 lien explicite avec chaque module précédent lors de la présentation — ce projet est une synthèse, pas une nouveauté conceptuelle.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pratique guidée. Circuler pour vérifier : encapsulation respectée, SQL uniquement dans le DAO, gestion des exceptions SQLException à chaque appel.</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fondamental, dérivé directement des exercices de fin de chapitre du manuel (classes/objets). Correction rapide au tableau.</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que le constructeur appelle bien les setters plutôt que de contourner la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Ajouter une SoldeInsuffisantException personnalisée pour les groupes avancés (anticipe le Module 19).</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Reprend l'exemple fil rouge du cours (Animal/Chien/Chat).</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l'absence de tout instanceof dans la boucle — c'est le critère de réussite du TP.</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 terrain pour distinguer association (Membre/Emprunt) et composition. Peut être étendu avec ArrayList (Module 20) pour la liste d'emprunts.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 exceptions (stock insuffisant) et collections (HashMap) dans un scénario métier réaliste.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S'assurer qu'un environnement MySQL est disponible en salle, ou fournir un script SQL prêt à l'emploi + les identifiants de connexion.</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finale avant le projet noté. Correspond en substance au Module 30 (Gestion des étudiants), à réutiliser ou à décliner sur un autre domaine (produits, membres…).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Domaine à choisir avec les étudiants (gestion scolaire, bibliothèque, commerciale…) selon leur contexte — le manuel de référence utilisé pour ce cours propose son propre exemple filé complet, nommé GestionCommerciale, décrit dans le slide suivant à titre d'illustration REPRODUCTIBLE.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 exemple précis est le projet final du manuel de référence du cours — présenté ici comme modèle reproductible, pas comme un exercice imposé. Les étudiants peuvent transposer strictement la même architecture à un domaine de gestion scolaire (Étudiants/Professeurs/Classes/Notes), en gardant EXACTEMENT la même séparation en couches.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Grille d'évaluation suggérée : cocher chaque concept effectivement présent et correctement utilisé dans le rendu de chaque étudiant/groupe.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Glossaire condensé aux termes du programme de ce cours (Modules 1-30). Le manuel de référence contient un dictionnaire complet et bien plus large (Annexe A du manuel), à distribuer en complément si besoin.</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est un pense-bête, pas un cours — chaque ligne renvoie à son module pour l'explication complète. Le manuel de référence propose une Annexe B bien plus détaillée (commandes Maven/Git, raccourcis IDE), hors périmètre de ce cours de POO.</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double page condense les erreurs les plus significatives pour le périmètre du cours (POO + base de données). Le manuel de référence propose une Annexe C bien plus large, couvrant aussi tests, outils et bonnes pratiques d'architecture, hors périmètre direct de ce cours.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cycle est la vraie méthode d'apprentissage de la programmation : aucune lecture ne remplace la pratique réelle, y compris les erreurs de compilation et les NullPointerException, qui font partie intégrante de l'apprentissage.</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de clôture, à lire à voix haute en fin de cours. Rappeler que la maîtrise vient de la pratique répétée, pas de la seule lecture — encourager fortement à refaire les TP et le projet final sans regarder les corrigés.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88720"/>
            <a:ext cx="8229600" cy="457200"/>
          </a:xfrm>
          <a:prstGeom prst="rect">
            <a:avLst/>
          </a:prstGeom>
          <a:noFill/>
        </p:spPr>
        <p:txBody>
          <a:bodyPr wrap="square" anchor="t" lIns="0" rIns="0" tIns="0" bIns="0">
            <a:spAutoFit/>
          </a:bodyPr>
          <a:lstStyle/>
          <a:p>
            <a:pPr algn="l">
              <a:spcBef>
                <a:spcPts val="0"/>
              </a:spcBef>
              <a:spcAft>
                <a:spcPts val="0"/>
              </a:spcAft>
              <a:buNone/>
            </a:pPr>
            <a:r>
              <a:rPr sz="1600" b="1" i="0">
                <a:solidFill>
                  <a:srgbClr val="35C7E0"/>
                </a:solidFill>
                <a:latin typeface="Segoe UI"/>
              </a:rPr>
              <a:t>COURS DE PROGRAMMATION</a:t>
            </a:r>
          </a:p>
        </p:txBody>
      </p:sp>
      <p:sp>
        <p:nvSpPr>
          <p:cNvPr id="6" name="TextBox 5"/>
          <p:cNvSpPr txBox="1"/>
          <p:nvPr/>
        </p:nvSpPr>
        <p:spPr>
          <a:xfrm>
            <a:off x="640080" y="1737360"/>
            <a:ext cx="10515600" cy="1828800"/>
          </a:xfrm>
          <a:prstGeom prst="rect">
            <a:avLst/>
          </a:prstGeom>
          <a:noFill/>
        </p:spPr>
        <p:txBody>
          <a:bodyPr wrap="square" anchor="t" lIns="0" rIns="0" tIns="0" bIns="0">
            <a:spAutoFit/>
          </a:bodyPr>
          <a:lstStyle/>
          <a:p>
            <a:pPr algn="l">
              <a:lnSpc>
                <a:spcPct val="100000"/>
              </a:lnSpc>
              <a:spcBef>
                <a:spcPts val="0"/>
              </a:spcBef>
              <a:spcAft>
                <a:spcPts val="0"/>
              </a:spcAft>
              <a:buNone/>
            </a:pPr>
            <a:r>
              <a:rPr sz="7600" b="1" i="0">
                <a:solidFill>
                  <a:srgbClr val="ECF0F7"/>
                </a:solidFill>
                <a:latin typeface="Segoe UI Semibold"/>
              </a:rPr>
              <a:t>JAVA</a:t>
            </a:r>
          </a:p>
        </p:txBody>
      </p:sp>
      <p:sp>
        <p:nvSpPr>
          <p:cNvPr id="7" name="TextBox 6"/>
          <p:cNvSpPr txBox="1"/>
          <p:nvPr/>
        </p:nvSpPr>
        <p:spPr>
          <a:xfrm>
            <a:off x="640080" y="3246120"/>
            <a:ext cx="10058400" cy="731520"/>
          </a:xfrm>
          <a:prstGeom prst="rect">
            <a:avLst/>
          </a:prstGeom>
          <a:noFill/>
        </p:spPr>
        <p:txBody>
          <a:bodyPr wrap="square" anchor="t" lIns="0" rIns="0" tIns="0" bIns="0">
            <a:spAutoFit/>
          </a:bodyPr>
          <a:lstStyle/>
          <a:p>
            <a:pPr algn="l">
              <a:spcBef>
                <a:spcPts val="0"/>
              </a:spcBef>
              <a:spcAft>
                <a:spcPts val="0"/>
              </a:spcAft>
              <a:buNone/>
            </a:pPr>
            <a:r>
              <a:rPr sz="3000" b="1" i="0">
                <a:solidFill>
                  <a:srgbClr val="F28C28"/>
                </a:solidFill>
                <a:latin typeface="Segoe UI Semibold"/>
              </a:rPr>
              <a:t>Programmation Orientée Objet</a:t>
            </a:r>
          </a:p>
        </p:txBody>
      </p:sp>
      <p:sp>
        <p:nvSpPr>
          <p:cNvPr id="8" name="Rectangle 7"/>
          <p:cNvSpPr/>
          <p:nvPr/>
        </p:nvSpPr>
        <p:spPr>
          <a:xfrm>
            <a:off x="640080" y="4069080"/>
            <a:ext cx="2926080"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51960"/>
            <a:ext cx="8686800" cy="822960"/>
          </a:xfrm>
          <a:prstGeom prst="rect">
            <a:avLst/>
          </a:prstGeom>
          <a:noFill/>
        </p:spPr>
        <p:txBody>
          <a:bodyPr wrap="square" anchor="t" lIns="0" rIns="0" tIns="0" bIns="0">
            <a:spAutoFit/>
          </a:bodyPr>
          <a:lstStyle/>
          <a:p>
            <a:pPr algn="l">
              <a:spcBef>
                <a:spcPts val="0"/>
              </a:spcBef>
              <a:spcAft>
                <a:spcPts val="0"/>
              </a:spcAft>
              <a:buNone/>
            </a:pPr>
            <a:r>
              <a:rPr sz="1700" b="0" i="1">
                <a:solidFill>
                  <a:srgbClr val="93A1BE"/>
                </a:solidFill>
                <a:latin typeface="Segoe UI"/>
              </a:rPr>
              <a:t>De la classe et de l'objet à l'application complète avec base de données</a:t>
            </a:r>
          </a:p>
        </p:txBody>
      </p:sp>
      <p:sp>
        <p:nvSpPr>
          <p:cNvPr id="10" name="TextBox 9"/>
          <p:cNvSpPr txBox="1"/>
          <p:nvPr/>
        </p:nvSpPr>
        <p:spPr>
          <a:xfrm>
            <a:off x="640080" y="5440680"/>
            <a:ext cx="8229600" cy="1097280"/>
          </a:xfrm>
          <a:prstGeom prst="rect">
            <a:avLst/>
          </a:prstGeom>
          <a:noFill/>
        </p:spPr>
        <p:txBody>
          <a:bodyPr wrap="square" anchor="t" lIns="0" rIns="0" tIns="0" bIns="0">
            <a:spAutoFit/>
          </a:bodyPr>
          <a:lstStyle/>
          <a:p>
            <a:pPr algn="l">
              <a:spcBef>
                <a:spcPts val="0"/>
              </a:spcBef>
              <a:spcAft>
                <a:spcPts val="400"/>
              </a:spcAft>
              <a:buNone/>
            </a:pPr>
            <a:r>
              <a:rPr sz="1300" b="0" i="0">
                <a:solidFill>
                  <a:srgbClr val="5C6A87"/>
                </a:solidFill>
                <a:latin typeface="Segoe UI"/>
              </a:rPr>
              <a:t>Enseignant : ____________________</a:t>
            </a:r>
          </a:p>
          <a:p>
            <a:pPr algn="l">
              <a:spcBef>
                <a:spcPts val="0"/>
              </a:spcBef>
              <a:spcAft>
                <a:spcPts val="400"/>
              </a:spcAft>
              <a:buNone/>
            </a:pPr>
            <a:r>
              <a:rPr sz="1300" b="0" i="0">
                <a:solidFill>
                  <a:srgbClr val="5C6A87"/>
                </a:solidFill>
                <a:latin typeface="Segoe UI"/>
              </a:rPr>
              <a:t>Établissement : ____________________</a:t>
            </a:r>
          </a:p>
          <a:p>
            <a:pPr algn="l">
              <a:spcBef>
                <a:spcPts val="0"/>
              </a:spcBef>
              <a:spcAft>
                <a:spcPts val="400"/>
              </a:spcAft>
              <a:buNone/>
            </a:pPr>
            <a:r>
              <a:rPr sz="1300" b="0" i="0">
                <a:solidFill>
                  <a:srgbClr val="5C6A87"/>
                </a:solidFill>
                <a:latin typeface="Segoe UI"/>
              </a:rPr>
              <a:t>Année académique : ____________________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OBJECTIFS DU COURS</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Où ce cours va vous mener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Comprendre la Programmation Orientée Objet (POO) et penser en objets, pas seulement en instructions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Maîtriser classes, objets, encapsulation, héritage, polymorphisme, abstraction, interfaces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Utiliser les structures de données de Java : tableaux, ArrayList, HashSet, HashMap</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Gérer les erreurs proprement avec les exceptions, et faire persister des données (fichiers, puis base de données)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Concevoir avec UML avant de coder, et organiser une application en couches claires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Connecter Java à MySQL avec JDBC, via une architecture DAO propre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Construire une application complète, du modèle de données jusqu'à la base de données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PLAN DU COURS</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Progression du cours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1. Introduction à la POO — 2. Rappel des bases Java</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3-9. Classe, objet, attribut, méthode, constructeur, encapsulation, modificateurs, static</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10-14. Héritage, redéfinition, polymorphisme, abstraction, interfaces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15-18. Relations entre classes, surcharge, packages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19-24. Exceptions, collections, génériques, enum, fichiers, lambdas &amp; streams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25-26. UML et architecture en couches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27-30. Bases de données, JDBC, DAO, projet Gestion des Étudiants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TP 1 à 9, quiz, projet final, glossaire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Introduction à la POO</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Qu'est-ce que la programmation ? Pourquoi la POO ? Comment Java fonctionne.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Qu'est-ce qu'un programme ?</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777240"/>
          </a:xfrm>
          <a:prstGeom prst="rect">
            <a:avLst/>
          </a:prstGeom>
          <a:solidFill>
            <a:srgbClr val="121C32"/>
          </a:solidFill>
          <a:ln w="12700">
            <a:solidFill>
              <a:srgbClr val="F28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17320"/>
            <a:ext cx="73152"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17320"/>
            <a:ext cx="10454335" cy="777240"/>
          </a:xfrm>
          <a:prstGeom prst="rect">
            <a:avLst/>
          </a:prstGeom>
          <a:noFill/>
        </p:spPr>
        <p:txBody>
          <a:bodyPr wrap="square" anchor="ctr" lIns="0" rIns="0" tIns="0" bIns="0">
            <a:spAutoFit/>
          </a:bodyPr>
          <a:lstStyle/>
          <a:p>
            <a:pPr algn="l">
              <a:spcBef>
                <a:spcPts val="0"/>
              </a:spcBef>
              <a:spcAft>
                <a:spcPts val="0"/>
              </a:spcAft>
              <a:buNone/>
            </a:pPr>
            <a:r>
              <a:rPr sz="1600" b="0" i="1">
                <a:solidFill>
                  <a:srgbClr val="ECF0F7"/>
                </a:solidFill>
                <a:latin typeface="Segoe UI"/>
              </a:rPr>
              <a:t>Programme = suite d'instructions, écrites dans un ordre précis, exécutées une par une par un ordinateur.</a:t>
            </a:r>
          </a:p>
        </p:txBody>
      </p:sp>
      <p:sp>
        <p:nvSpPr>
          <p:cNvPr id="9" name="TextBox 8"/>
          <p:cNvSpPr txBox="1"/>
          <p:nvPr/>
        </p:nvSpPr>
        <p:spPr>
          <a:xfrm>
            <a:off x="640080" y="2423160"/>
            <a:ext cx="10911535" cy="379476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 ordinateur ne sait rien faire seul : il exécute une suite d'instructions précises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Analogie : une recette de cuisine — un ordre exact, aucune étape devinée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 langage de programmation traduit une intention humaine en instructions compréhensibles par la machine</a:t>
            </a:r>
          </a:p>
        </p:txBody>
      </p:sp>
      <p:sp>
        <p:nvSpPr>
          <p:cNvPr id="10" name="TextBox 9"/>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1" name="TextBox 10"/>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12" name="TextBox 11"/>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a:t>
            </a:r>
          </a:p>
        </p:txBody>
      </p:sp>
      <p:sp>
        <p:nvSpPr>
          <p:cNvPr id="13" name="Rectangle 12"/>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Programmation procédurale : la limite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Approche procédurale : des variables séparées + des fonctions qui les manipulent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Exemple : nomClient1/soldeClient1, nomClient2/soldeClient2… rien ne les relie formellement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Avec 100 clients : 200 variables à suivre à la main — aucune n'appartient visiblement à l'autre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La POO répond à ce problème précis : regrouper données + actions dans une même unité, l'objet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Java : contexte et caractéristiques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Créé en 1995 par Sun Microsystems (racheté depuis par Oracle)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Devise historique : « Write Once, Run Anywhere » (écrit une fois, exécuté partout)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Utilisé dans les banques, assurances, administrations, Android, le côté serveur, les applications d'entreprise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Fortement typé, orienté objet, portable grâce à la JVM</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Comment un programme Java s'exécute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Code Java (.java)</a:t>
            </a:r>
          </a:p>
        </p:txBody>
      </p:sp>
      <p:sp>
        <p:nvSpPr>
          <p:cNvPr id="9" name="Down Arrow 8"/>
          <p:cNvSpPr/>
          <p:nvPr/>
        </p:nvSpPr>
        <p:spPr>
          <a:xfrm>
            <a:off x="5967832" y="2304288"/>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542032"/>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542032"/>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542032"/>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javac (compilation)</a:t>
            </a:r>
          </a:p>
        </p:txBody>
      </p:sp>
      <p:sp>
        <p:nvSpPr>
          <p:cNvPr id="13" name="Down Arrow 12"/>
          <p:cNvSpPr/>
          <p:nvPr/>
        </p:nvSpPr>
        <p:spPr>
          <a:xfrm>
            <a:off x="5967832" y="3291840"/>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3928" y="3529584"/>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3928" y="3529584"/>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8248" y="3529584"/>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Bytecode (.class)</a:t>
            </a:r>
          </a:p>
        </p:txBody>
      </p:sp>
      <p:sp>
        <p:nvSpPr>
          <p:cNvPr id="17" name="Down Arrow 16"/>
          <p:cNvSpPr/>
          <p:nvPr/>
        </p:nvSpPr>
        <p:spPr>
          <a:xfrm>
            <a:off x="5967832" y="4279392"/>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63928" y="4517136"/>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63928" y="4517136"/>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8248" y="4517136"/>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JVM (Java Virtual Machine)</a:t>
            </a:r>
          </a:p>
        </p:txBody>
      </p:sp>
      <p:sp>
        <p:nvSpPr>
          <p:cNvPr id="21" name="Down Arrow 20"/>
          <p:cNvSpPr/>
          <p:nvPr/>
        </p:nvSpPr>
        <p:spPr>
          <a:xfrm>
            <a:off x="5967832" y="5266944"/>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63928" y="5504688"/>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63928" y="5504688"/>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38248" y="5504688"/>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Système d'exploitation</a:t>
            </a:r>
          </a:p>
        </p:txBody>
      </p:sp>
      <p:sp>
        <p:nvSpPr>
          <p:cNvPr id="25" name="TextBox 24"/>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26" name="TextBox 25"/>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27" name="TextBox 26"/>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a:t>
            </a:r>
          </a:p>
        </p:txBody>
      </p:sp>
      <p:sp>
        <p:nvSpPr>
          <p:cNvPr id="28" name="Rectangle 27"/>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 — COMPLÉMENT PÉDAGOGIQUE</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JDK, JRE et JVM</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JVM</a:t>
            </a:r>
          </a:p>
        </p:txBody>
      </p:sp>
      <p:sp>
        <p:nvSpPr>
          <p:cNvPr id="9" name="TextBox 8"/>
          <p:cNvSpPr txBox="1"/>
          <p:nvPr/>
        </p:nvSpPr>
        <p:spPr>
          <a:xfrm>
            <a:off x="868680"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Java Virtual Machine — exécute le bytecode sur la machine réelle, quel que soit l'OS.</a:t>
            </a:r>
          </a:p>
        </p:txBody>
      </p:sp>
      <p:sp>
        <p:nvSpPr>
          <p:cNvPr id="10" name="Rectangle 9"/>
          <p:cNvSpPr/>
          <p:nvPr/>
        </p:nvSpPr>
        <p:spPr>
          <a:xfrm>
            <a:off x="4383938"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600200"/>
            <a:ext cx="3423818" cy="73152"/>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2538"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JRE</a:t>
            </a:r>
          </a:p>
        </p:txBody>
      </p:sp>
      <p:sp>
        <p:nvSpPr>
          <p:cNvPr id="13" name="TextBox 12"/>
          <p:cNvSpPr txBox="1"/>
          <p:nvPr/>
        </p:nvSpPr>
        <p:spPr>
          <a:xfrm>
            <a:off x="4612538"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Java Runtime Environment — la JVM + les bibliothèques nécessaires pour EXÉCUTER un programme Java déjà compilé.</a:t>
            </a:r>
          </a:p>
        </p:txBody>
      </p:sp>
      <p:sp>
        <p:nvSpPr>
          <p:cNvPr id="14" name="Rectangle 13"/>
          <p:cNvSpPr/>
          <p:nvPr/>
        </p:nvSpPr>
        <p:spPr>
          <a:xfrm>
            <a:off x="8127797"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7797"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397"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JDK</a:t>
            </a:r>
          </a:p>
        </p:txBody>
      </p:sp>
      <p:sp>
        <p:nvSpPr>
          <p:cNvPr id="17" name="TextBox 16"/>
          <p:cNvSpPr txBox="1"/>
          <p:nvPr/>
        </p:nvSpPr>
        <p:spPr>
          <a:xfrm>
            <a:off x="8356397"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Java Development Kit — le JRE + les outils pour DÉVELOPPER (javac, débogueur…). Nécessaire pour écrire et compiler du code.</a:t>
            </a:r>
          </a:p>
        </p:txBody>
      </p:sp>
      <p:sp>
        <p:nvSpPr>
          <p:cNvPr id="18" name="TextBox 1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9" name="TextBox 1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20" name="TextBox 1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a:t>
            </a:r>
          </a:p>
        </p:txBody>
      </p:sp>
      <p:sp>
        <p:nvSpPr>
          <p:cNvPr id="21" name="Rectangle 2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Ton premier programme Java</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Main</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static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main</a:t>
            </a:r>
            <a:r>
              <a:rPr sz="1700" b="0" i="0">
                <a:solidFill>
                  <a:srgbClr val="E3E9F4"/>
                </a:solidFill>
                <a:latin typeface="Consolas"/>
              </a:rPr>
              <a:t>(</a:t>
            </a:r>
            <a:r>
              <a:rPr sz="1700" b="0" i="0">
                <a:solidFill>
                  <a:srgbClr val="F28C28"/>
                </a:solidFill>
                <a:latin typeface="Consolas"/>
              </a:rPr>
              <a:t>String</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args</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"Bonjour !"</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public class Main → un point d'entrée obligatoire : la méthode main().</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Le nom du fichier ne correspond pas exactement au nom de la classe publique</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une accolade fermante</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Faute de casse : System.out.printLn au lieu de println (Java est sensible à la casse)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 programme est une suite d'instructions précises, exécutées dans l'ordre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Java est compilé en bytecode, puis exécuté par la JVM — d'où sa portabilité</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JDK (développer) ⊃ JRE (exécuter) ⊃ JVM (machine virtuelle)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Chaque programme Java démarre par la méthode main(), point d'entrée obligatoire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Quiz — Introduction à la POO</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20000"/>
              </a:lnSpc>
              <a:spcAft>
                <a:spcPts val="1200"/>
              </a:spcAft>
              <a:buNone/>
            </a:pPr>
            <a:r>
              <a:rPr sz="1650" b="1" i="0">
                <a:solidFill>
                  <a:srgbClr val="E8C54A"/>
                </a:solidFill>
                <a:latin typeface="Segoe UI"/>
              </a:rPr>
              <a:t>1.  </a:t>
            </a:r>
            <a:r>
              <a:rPr sz="1650" b="0" i="0">
                <a:solidFill>
                  <a:srgbClr val="ECF0F7"/>
                </a:solidFill>
                <a:latin typeface="Segoe UI"/>
              </a:rPr>
              <a:t>Vrai ou faux : un .class compilé sur Windows doit être recompilé pour tourner sur Mac.</a:t>
            </a:r>
          </a:p>
          <a:p>
            <a:pPr>
              <a:lnSpc>
                <a:spcPct val="120000"/>
              </a:lnSpc>
              <a:spcAft>
                <a:spcPts val="1200"/>
              </a:spcAft>
              <a:buNone/>
            </a:pPr>
            <a:r>
              <a:rPr sz="1650" b="1" i="0">
                <a:solidFill>
                  <a:srgbClr val="E8C54A"/>
                </a:solidFill>
                <a:latin typeface="Segoe UI"/>
              </a:rPr>
              <a:t>2.  </a:t>
            </a:r>
            <a:r>
              <a:rPr sz="1650" b="0" i="0">
                <a:solidFill>
                  <a:srgbClr val="ECF0F7"/>
                </a:solidFill>
                <a:latin typeface="Segoe UI"/>
              </a:rPr>
              <a:t>Que produit javac à partir d'un fichier .java ?</a:t>
            </a:r>
          </a:p>
          <a:p>
            <a:pPr>
              <a:lnSpc>
                <a:spcPct val="120000"/>
              </a:lnSpc>
              <a:spcAft>
                <a:spcPts val="1200"/>
              </a:spcAft>
              <a:buNone/>
            </a:pPr>
            <a:r>
              <a:rPr sz="1650" b="1" i="0">
                <a:solidFill>
                  <a:srgbClr val="E8C54A"/>
                </a:solidFill>
                <a:latin typeface="Segoe UI"/>
              </a:rPr>
              <a:t>3.  </a:t>
            </a:r>
            <a:r>
              <a:rPr sz="1650" b="0" i="0">
                <a:solidFill>
                  <a:srgbClr val="ECF0F7"/>
                </a:solidFill>
                <a:latin typeface="Segoe UI"/>
              </a:rPr>
              <a:t>Quel outil exécute réellement le bytecode ?</a:t>
            </a:r>
          </a:p>
          <a:p>
            <a:pPr>
              <a:lnSpc>
                <a:spcPct val="120000"/>
              </a:lnSpc>
              <a:spcAft>
                <a:spcPts val="1200"/>
              </a:spcAft>
              <a:buNone/>
            </a:pPr>
            <a:r>
              <a:rPr sz="1650" b="1" i="0">
                <a:solidFill>
                  <a:srgbClr val="E8C54A"/>
                </a:solidFill>
                <a:latin typeface="Segoe UI"/>
              </a:rPr>
              <a:t>4.  </a:t>
            </a:r>
            <a:r>
              <a:rPr sz="1650" b="0" i="0">
                <a:solidFill>
                  <a:srgbClr val="ECF0F7"/>
                </a:solidFill>
                <a:latin typeface="Segoe UI"/>
              </a:rPr>
              <a:t>Le JDK contient-il le JRE, ou l'inverse ?</a:t>
            </a:r>
          </a:p>
          <a:p>
            <a:pPr>
              <a:lnSpc>
                <a:spcPct val="120000"/>
              </a:lnSpc>
              <a:spcAft>
                <a:spcPts val="1200"/>
              </a:spcAft>
              <a:buNone/>
            </a:pPr>
            <a:r>
              <a:rPr sz="1650" b="1" i="0">
                <a:solidFill>
                  <a:srgbClr val="E8C54A"/>
                </a:solidFill>
                <a:latin typeface="Segoe UI"/>
              </a:rPr>
              <a:t>5.  </a:t>
            </a:r>
            <a:r>
              <a:rPr sz="1650" b="0" i="0">
                <a:solidFill>
                  <a:srgbClr val="ECF0F7"/>
                </a:solidFill>
                <a:latin typeface="Segoe UI"/>
              </a:rPr>
              <a:t>Pourquoi la programmation procédurale devient-elle ingérable avec beaucoup de clients ?</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 — Introduction à la POO</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Rappel des bases Java</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Variables, types, opérateurs, conditions, boucles, méthodes — avant d'entrer en POO</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 — Rappel des bases Java</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Variables et types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int</a:t>
            </a:r>
            <a:r>
              <a:rPr sz="1500" b="0" i="0">
                <a:solidFill>
                  <a:srgbClr val="E3E9F4"/>
                </a:solidFill>
                <a:latin typeface="Consolas"/>
              </a:rPr>
              <a:t> </a:t>
            </a:r>
            <a:r>
              <a:rPr sz="1500" b="0" i="0">
                <a:solidFill>
                  <a:srgbClr val="E3E9F4"/>
                </a:solidFill>
                <a:latin typeface="Consolas"/>
              </a:rPr>
              <a:t>age</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20</a:t>
            </a:r>
            <a:r>
              <a:rPr sz="1500" b="0" i="0">
                <a:solidFill>
                  <a:srgbClr val="E3E9F4"/>
                </a:solidFill>
                <a:latin typeface="Consolas"/>
              </a:rPr>
              <a:t>;</a:t>
            </a:r>
          </a:p>
          <a:p>
            <a:pPr algn="l">
              <a:lnSpc>
                <a:spcPct val="115000"/>
              </a:lnSpc>
              <a:spcAft>
                <a:spcPts val="200"/>
              </a:spcAft>
              <a:buNone/>
            </a:pPr>
            <a:r>
              <a:rPr sz="1500" b="0" i="0">
                <a:solidFill>
                  <a:srgbClr val="F28C28"/>
                </a:solidFill>
                <a:latin typeface="Consolas"/>
              </a:rPr>
              <a:t>double</a:t>
            </a:r>
            <a:r>
              <a:rPr sz="1500" b="0" i="0">
                <a:solidFill>
                  <a:srgbClr val="E3E9F4"/>
                </a:solidFill>
                <a:latin typeface="Consolas"/>
              </a:rPr>
              <a:t> </a:t>
            </a:r>
            <a:r>
              <a:rPr sz="1500" b="0" i="0">
                <a:solidFill>
                  <a:srgbClr val="E3E9F4"/>
                </a:solidFill>
                <a:latin typeface="Consolas"/>
              </a:rPr>
              <a:t>prix</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250.0</a:t>
            </a:r>
            <a:r>
              <a:rPr sz="1500" b="0" i="0">
                <a:solidFill>
                  <a:srgbClr val="E3E9F4"/>
                </a:solidFill>
                <a:latin typeface="Consolas"/>
              </a:rPr>
              <a:t>;</a:t>
            </a:r>
          </a:p>
          <a:p>
            <a:pPr algn="l">
              <a:lnSpc>
                <a:spcPct val="115000"/>
              </a:lnSpc>
              <a:spcAft>
                <a:spcPts val="200"/>
              </a:spcAft>
              <a:buNone/>
            </a:pPr>
            <a:r>
              <a:rPr sz="1500" b="0" i="0">
                <a:solidFill>
                  <a:srgbClr val="F28C28"/>
                </a:solidFill>
                <a:latin typeface="Consolas"/>
              </a:rPr>
              <a:t>String</a:t>
            </a:r>
            <a:r>
              <a:rPr sz="1500" b="0" i="0">
                <a:solidFill>
                  <a:srgbClr val="E3E9F4"/>
                </a:solidFill>
                <a:latin typeface="Consolas"/>
              </a:rPr>
              <a:t> </a:t>
            </a:r>
            <a:r>
              <a:rPr sz="1500" b="0" i="0">
                <a:solidFill>
                  <a:srgbClr val="E3E9F4"/>
                </a:solidFill>
                <a:latin typeface="Consolas"/>
              </a:rPr>
              <a:t>nom</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33C984"/>
                </a:solidFill>
                <a:latin typeface="Consolas"/>
              </a:rPr>
              <a:t>"Jaslin"</a:t>
            </a:r>
            <a:r>
              <a:rPr sz="1500" b="0" i="0">
                <a:solidFill>
                  <a:srgbClr val="E3E9F4"/>
                </a:solidFill>
                <a:latin typeface="Consolas"/>
              </a:rPr>
              <a:t>;</a:t>
            </a:r>
          </a:p>
          <a:p>
            <a:pPr algn="l">
              <a:lnSpc>
                <a:spcPct val="115000"/>
              </a:lnSpc>
              <a:spcAft>
                <a:spcPts val="200"/>
              </a:spcAft>
              <a:buNone/>
            </a:pPr>
            <a:r>
              <a:rPr sz="1500" b="0" i="0">
                <a:solidFill>
                  <a:srgbClr val="F28C28"/>
                </a:solidFill>
                <a:latin typeface="Consolas"/>
              </a:rPr>
              <a:t>boolean</a:t>
            </a:r>
            <a:r>
              <a:rPr sz="1500" b="0" i="0">
                <a:solidFill>
                  <a:srgbClr val="E3E9F4"/>
                </a:solidFill>
                <a:latin typeface="Consolas"/>
              </a:rPr>
              <a:t> </a:t>
            </a:r>
            <a:r>
              <a:rPr sz="1500" b="0" i="0">
                <a:solidFill>
                  <a:srgbClr val="E3E9F4"/>
                </a:solidFill>
                <a:latin typeface="Consolas"/>
              </a:rPr>
              <a:t>actif</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true</a:t>
            </a: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Une variable = un espace nommé en mémoire (nom + type + valeur)</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Java est fortement typé : le type est déclaré et vérifié à la compilation</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Types primitifs courants : int, double, boolean, char — String est un objet</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 — Rappel des bases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Opérateurs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int</a:t>
            </a:r>
            <a:r>
              <a:rPr sz="1500" b="0" i="0">
                <a:solidFill>
                  <a:srgbClr val="E3E9F4"/>
                </a:solidFill>
                <a:latin typeface="Consolas"/>
              </a:rPr>
              <a:t> </a:t>
            </a:r>
            <a:r>
              <a:rPr sz="1500" b="0" i="0">
                <a:solidFill>
                  <a:srgbClr val="E3E9F4"/>
                </a:solidFill>
                <a:latin typeface="Consolas"/>
              </a:rPr>
              <a:t>a</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10</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b</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3</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b</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13</a:t>
            </a:r>
          </a:p>
          <a:p>
            <a:pPr algn="l">
              <a:lnSpc>
                <a:spcPct val="115000"/>
              </a:lnSpc>
              <a:spcAft>
                <a:spcPts val="200"/>
              </a:spcAft>
              <a:buNone/>
            </a:pPr>
            <a:r>
              <a:rPr sz="1500" b="0" i="0">
                <a:solidFill>
                  <a:srgbClr val="E3E9F4"/>
                </a:solidFill>
                <a:latin typeface="Consolas"/>
              </a:rPr>
              <a:t>a</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b</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3  (division ENTIÈRE)</a:t>
            </a:r>
          </a:p>
          <a:p>
            <a:pPr algn="l">
              <a:lnSpc>
                <a:spcPct val="115000"/>
              </a:lnSpc>
              <a:spcAft>
                <a:spcPts val="200"/>
              </a:spcAft>
              <a:buNone/>
            </a:pPr>
            <a:r>
              <a:rPr sz="1500" b="0" i="0">
                <a:solidFill>
                  <a:srgbClr val="E3E9F4"/>
                </a:solidFill>
                <a:latin typeface="Consolas"/>
              </a:rPr>
              <a:t>a</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b</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1  (modulo : le reste)</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Arithmétiques : + - * / %</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Piège classique : 10 / 3 vaut 3, pas 3.33 — la partie décimale est supprimée, pas arrondie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Comparaison (==, !=, &lt;, &gt;) et logiques (&amp;&amp;, ||, !)</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 — Rappel des bases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Conditions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if</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note</a:t>
            </a:r>
            <a:r>
              <a:rPr sz="1500" b="0" i="0">
                <a:solidFill>
                  <a:srgbClr val="E3E9F4"/>
                </a:solidFill>
                <a:latin typeface="Consolas"/>
              </a:rPr>
              <a:t> </a:t>
            </a:r>
            <a:r>
              <a:rPr sz="1500" b="0" i="0">
                <a:solidFill>
                  <a:srgbClr val="E3E9F4"/>
                </a:solidFill>
                <a:latin typeface="Consolas"/>
              </a:rPr>
              <a:t>&gt;</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16</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Très Bien</a:t>
            </a:r>
          </a:p>
          <a:p>
            <a:pPr algn="l">
              <a:lnSpc>
                <a:spcPct val="115000"/>
              </a:lnSpc>
              <a:spcAft>
                <a:spcPts val="200"/>
              </a:spcAft>
              <a:buNone/>
            </a:pP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else</a:t>
            </a:r>
            <a:r>
              <a:rPr sz="1500" b="0" i="0">
                <a:solidFill>
                  <a:srgbClr val="E3E9F4"/>
                </a:solidFill>
                <a:latin typeface="Consolas"/>
              </a:rPr>
              <a:t> </a:t>
            </a:r>
            <a:r>
              <a:rPr sz="1500" b="0" i="0">
                <a:solidFill>
                  <a:srgbClr val="F28C28"/>
                </a:solidFill>
                <a:latin typeface="Consolas"/>
              </a:rPr>
              <a:t>if</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note</a:t>
            </a:r>
            <a:r>
              <a:rPr sz="1500" b="0" i="0">
                <a:solidFill>
                  <a:srgbClr val="E3E9F4"/>
                </a:solidFill>
                <a:latin typeface="Consolas"/>
              </a:rPr>
              <a:t> </a:t>
            </a:r>
            <a:r>
              <a:rPr sz="1500" b="0" i="0">
                <a:solidFill>
                  <a:srgbClr val="E3E9F4"/>
                </a:solidFill>
                <a:latin typeface="Consolas"/>
              </a:rPr>
              <a:t>&gt;</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10</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Admis</a:t>
            </a:r>
          </a:p>
          <a:p>
            <a:pPr algn="l">
              <a:lnSpc>
                <a:spcPct val="115000"/>
              </a:lnSpc>
              <a:spcAft>
                <a:spcPts val="200"/>
              </a:spcAft>
              <a:buNone/>
            </a:pP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else</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Non admis</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if / else if / else exécute UN SEUL bloc, le premier dont la condition est vraie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switch : une alternative pour tester une même variable contre plusieurs valeurs</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 — Rappel des bases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Boucles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for</a:t>
            </a:r>
            <a:r>
              <a:rPr sz="1500" b="0" i="0">
                <a:solidFill>
                  <a:srgbClr val="E3E9F4"/>
                </a:solidFill>
                <a:latin typeface="Consolas"/>
              </a:rPr>
              <a:t> </a:t>
            </a:r>
            <a:r>
              <a:rPr sz="1500" b="0" i="0">
                <a:solidFill>
                  <a:srgbClr val="E3E9F4"/>
                </a:solidFill>
                <a:latin typeface="Consolas"/>
              </a:rPr>
              <a:t>(</a:t>
            </a:r>
            <a:r>
              <a:rPr sz="1500" b="0" i="0">
                <a:solidFill>
                  <a:srgbClr val="F28C28"/>
                </a:solidFill>
                <a:latin typeface="Consolas"/>
              </a:rPr>
              <a:t>int</a:t>
            </a:r>
            <a:r>
              <a:rPr sz="1500" b="0" i="0">
                <a:solidFill>
                  <a:srgbClr val="E3E9F4"/>
                </a:solidFill>
                <a:latin typeface="Consolas"/>
              </a:rPr>
              <a:t> </a:t>
            </a:r>
            <a:r>
              <a:rPr sz="1500" b="0" i="0">
                <a:solidFill>
                  <a:srgbClr val="E3E9F4"/>
                </a:solidFill>
                <a:latin typeface="Consolas"/>
              </a:rPr>
              <a:t>i</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1</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i</a:t>
            </a:r>
            <a:r>
              <a:rPr sz="1500" b="0" i="0">
                <a:solidFill>
                  <a:srgbClr val="E3E9F4"/>
                </a:solidFill>
                <a:latin typeface="Consolas"/>
              </a:rPr>
              <a:t> </a:t>
            </a:r>
            <a:r>
              <a:rPr sz="1500" b="0" i="0">
                <a:solidFill>
                  <a:srgbClr val="E3E9F4"/>
                </a:solidFill>
                <a:latin typeface="Consolas"/>
              </a:rPr>
              <a:t>&lt;</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5</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i</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35C7E0"/>
                </a:solidFill>
                <a:latin typeface="Consolas"/>
              </a:rPr>
              <a:t>System</a:t>
            </a:r>
            <a:r>
              <a:rPr sz="1500" b="0" i="0">
                <a:solidFill>
                  <a:srgbClr val="E3E9F4"/>
                </a:solidFill>
                <a:latin typeface="Consolas"/>
              </a:rPr>
              <a:t>.</a:t>
            </a:r>
            <a:r>
              <a:rPr sz="1500" b="0" i="0">
                <a:solidFill>
                  <a:srgbClr val="E3E9F4"/>
                </a:solidFill>
                <a:latin typeface="Consolas"/>
              </a:rPr>
              <a:t>out</a:t>
            </a:r>
            <a:r>
              <a:rPr sz="1500" b="0" i="0">
                <a:solidFill>
                  <a:srgbClr val="E3E9F4"/>
                </a:solidFill>
                <a:latin typeface="Consolas"/>
              </a:rPr>
              <a:t>.</a:t>
            </a:r>
            <a:r>
              <a:rPr sz="1500" b="0" i="0">
                <a:solidFill>
                  <a:srgbClr val="E3E9F4"/>
                </a:solidFill>
                <a:latin typeface="Consolas"/>
              </a:rPr>
              <a:t>println</a:t>
            </a:r>
            <a:r>
              <a:rPr sz="1500" b="0" i="0">
                <a:solidFill>
                  <a:srgbClr val="E3E9F4"/>
                </a:solidFill>
                <a:latin typeface="Consolas"/>
              </a:rPr>
              <a:t>(</a:t>
            </a:r>
            <a:r>
              <a:rPr sz="1500" b="0" i="0">
                <a:solidFill>
                  <a:srgbClr val="E3E9F4"/>
                </a:solidFill>
                <a:latin typeface="Consolas"/>
              </a:rPr>
              <a:t>i</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for : nombre de répétitions connu à l'avance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while / do-while : répète tant qu'une condition reste vraie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for-each : parcourt chaque élément d'un tableau ou d'une collection</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 — Rappel des bases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Tableaux (rappel)</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 tableau a une taille FIXE, décidée une fois pour toutes : int[] notes = {12, 15, 9};</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Accès par indice, toujours à partir de 0 : notes[0] est le premier élément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Parcours avec for classique ou for-each</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Approfondi au Module 20 (Collections), avec ArrayList qui lève cette limite de taille fixe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 — Rappel des bases Java</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Méthodes : paramètres et valeur de retour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static</a:t>
            </a:r>
            <a:r>
              <a:rPr sz="1500" b="0" i="0">
                <a:solidFill>
                  <a:srgbClr val="E3E9F4"/>
                </a:solidFill>
                <a:latin typeface="Consolas"/>
              </a:rPr>
              <a:t> </a:t>
            </a:r>
            <a:r>
              <a:rPr sz="1500" b="0" i="0">
                <a:solidFill>
                  <a:srgbClr val="F28C28"/>
                </a:solidFill>
                <a:latin typeface="Consolas"/>
              </a:rPr>
              <a:t>int</a:t>
            </a:r>
            <a:r>
              <a:rPr sz="1500" b="0" i="0">
                <a:solidFill>
                  <a:srgbClr val="E3E9F4"/>
                </a:solidFill>
                <a:latin typeface="Consolas"/>
              </a:rPr>
              <a:t> </a:t>
            </a:r>
            <a:r>
              <a:rPr sz="1500" b="0" i="0">
                <a:solidFill>
                  <a:srgbClr val="E3E9F4"/>
                </a:solidFill>
                <a:latin typeface="Consolas"/>
              </a:rPr>
              <a:t>additionner</a:t>
            </a:r>
            <a:r>
              <a:rPr sz="1500" b="0" i="0">
                <a:solidFill>
                  <a:srgbClr val="E3E9F4"/>
                </a:solidFill>
                <a:latin typeface="Consolas"/>
              </a:rPr>
              <a:t>(</a:t>
            </a:r>
            <a:r>
              <a:rPr sz="1500" b="0" i="0">
                <a:solidFill>
                  <a:srgbClr val="F28C28"/>
                </a:solidFill>
                <a:latin typeface="Consolas"/>
              </a:rPr>
              <a:t>int</a:t>
            </a:r>
            <a:r>
              <a:rPr sz="1500" b="0" i="0">
                <a:solidFill>
                  <a:srgbClr val="E3E9F4"/>
                </a:solidFill>
                <a:latin typeface="Consolas"/>
              </a:rPr>
              <a:t> </a:t>
            </a:r>
            <a:r>
              <a:rPr sz="1500" b="0" i="0">
                <a:solidFill>
                  <a:srgbClr val="E3E9F4"/>
                </a:solidFill>
                <a:latin typeface="Consolas"/>
              </a:rPr>
              <a:t>a</a:t>
            </a: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int</a:t>
            </a:r>
            <a:r>
              <a:rPr sz="1500" b="0" i="0">
                <a:solidFill>
                  <a:srgbClr val="E3E9F4"/>
                </a:solidFill>
                <a:latin typeface="Consolas"/>
              </a:rPr>
              <a:t> </a:t>
            </a:r>
            <a:r>
              <a:rPr sz="1500" b="0" i="0">
                <a:solidFill>
                  <a:srgbClr val="E3E9F4"/>
                </a:solidFill>
                <a:latin typeface="Consolas"/>
              </a:rPr>
              <a:t>b</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return</a:t>
            </a:r>
            <a:r>
              <a:rPr sz="1500" b="0" i="0">
                <a:solidFill>
                  <a:srgbClr val="E3E9F4"/>
                </a:solidFill>
                <a:latin typeface="Consolas"/>
              </a:rPr>
              <a:t> </a:t>
            </a:r>
            <a:r>
              <a:rPr sz="1500" b="0" i="0">
                <a:solidFill>
                  <a:srgbClr val="E3E9F4"/>
                </a:solidFill>
                <a:latin typeface="Consolas"/>
              </a:rPr>
              <a:t>a</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b</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p>
          <a:p>
            <a:pPr algn="l">
              <a:lnSpc>
                <a:spcPct val="115000"/>
              </a:lnSpc>
              <a:spcAft>
                <a:spcPts val="200"/>
              </a:spcAft>
              <a:buNone/>
            </a:pPr>
            <a:r>
              <a:rPr sz="1500" b="0" i="0">
                <a:solidFill>
                  <a:srgbClr val="F28C28"/>
                </a:solidFill>
                <a:latin typeface="Consolas"/>
              </a:rPr>
              <a:t>int</a:t>
            </a:r>
            <a:r>
              <a:rPr sz="1500" b="0" i="0">
                <a:solidFill>
                  <a:srgbClr val="E3E9F4"/>
                </a:solidFill>
                <a:latin typeface="Consolas"/>
              </a:rPr>
              <a:t> </a:t>
            </a:r>
            <a:r>
              <a:rPr sz="1500" b="0" i="0">
                <a:solidFill>
                  <a:srgbClr val="E3E9F4"/>
                </a:solidFill>
                <a:latin typeface="Consolas"/>
              </a:rPr>
              <a:t>resultat</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additionner</a:t>
            </a:r>
            <a:r>
              <a:rPr sz="1500" b="0" i="0">
                <a:solidFill>
                  <a:srgbClr val="E3E9F4"/>
                </a:solidFill>
                <a:latin typeface="Consolas"/>
              </a:rPr>
              <a:t>(</a:t>
            </a:r>
            <a:r>
              <a:rPr sz="1500" b="0" i="0">
                <a:solidFill>
                  <a:srgbClr val="E8C54A"/>
                </a:solidFill>
                <a:latin typeface="Consolas"/>
              </a:rPr>
              <a:t>3</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4</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5C6A87"/>
                </a:solidFill>
                <a:latin typeface="Consolas"/>
              </a:rPr>
              <a:t>// 7</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Une méthode regroupe des instructions sous un nom réutilisable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void = ne renvoie rien ; un type de retour (int, double…) exige un return</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Paramètre = nom dans la définition ; argument = valeur réelle envoyée à l'appel</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 — Rappel des bases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2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Exercice de synthèse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Écrivez une méthode calculerMoyenne(int[] notes) qui renvoie la moyenne d'un tableau de notes, puis un programme main qui affiche « Admis » si la moyenne est ≥ 10, « Non admis » sinon.</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 — Rappel des bases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3</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Comprendre la Programmation Orientée Objet</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Objet, classe, attribut, méthode, état, comportement, instance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 — Comprendre la Programmation Orientée Objet</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problème que la POO résout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Boutique sans POO : nomClient1/soldeClient1, nomClient2/soldeClient2… variables séparées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Rien, dans le code, ne dit que nomClient1 et soldeClient1 appartiennent au MÊME client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Avec 100 clients : 200 variables séparées à suivre à la main</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 — Comprendre la Programmation Orientée Objet</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Tas de papiers vs dossier organisé</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5272888" cy="470916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5272888" cy="5029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08760"/>
            <a:ext cx="5272888" cy="502920"/>
          </a:xfrm>
          <a:prstGeom prst="rect">
            <a:avLst/>
          </a:prstGeom>
          <a:noFill/>
        </p:spPr>
        <p:txBody>
          <a:bodyPr wrap="square" anchor="ctr" lIns="0" rIns="0" tIns="0" bIns="0">
            <a:spAutoFit/>
          </a:bodyPr>
          <a:lstStyle/>
          <a:p>
            <a:pPr algn="ctr">
              <a:spcBef>
                <a:spcPts val="0"/>
              </a:spcBef>
              <a:spcAft>
                <a:spcPts val="0"/>
              </a:spcAft>
              <a:buNone/>
            </a:pPr>
            <a:r>
              <a:rPr sz="1700" b="1" i="0">
                <a:solidFill>
                  <a:srgbClr val="0B1220"/>
                </a:solidFill>
                <a:latin typeface="Segoe UI"/>
              </a:rPr>
              <a:t>Sans POO</a:t>
            </a:r>
          </a:p>
        </p:txBody>
      </p:sp>
      <p:sp>
        <p:nvSpPr>
          <p:cNvPr id="9" name="TextBox 8"/>
          <p:cNvSpPr txBox="1"/>
          <p:nvPr/>
        </p:nvSpPr>
        <p:spPr>
          <a:xfrm>
            <a:off x="914400" y="2286000"/>
            <a:ext cx="4724248" cy="3703320"/>
          </a:xfrm>
          <a:prstGeom prst="rect">
            <a:avLst/>
          </a:prstGeom>
          <a:noFill/>
        </p:spPr>
        <p:txBody>
          <a:bodyPr wrap="square" anchor="t" lIns="0" rIns="0" tIns="0" bIns="0">
            <a:spAutoFit/>
          </a:bodyPr>
          <a:lstStyle/>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Feuille 1 : "Marie"</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Feuille 2 : "0" (solde ?)</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100 clients = 200 feuilles éparpillées</a:t>
            </a:r>
          </a:p>
        </p:txBody>
      </p:sp>
      <p:sp>
        <p:nvSpPr>
          <p:cNvPr id="10" name="Rectangle 9"/>
          <p:cNvSpPr/>
          <p:nvPr/>
        </p:nvSpPr>
        <p:spPr>
          <a:xfrm>
            <a:off x="6278728" y="1508760"/>
            <a:ext cx="5272888" cy="470916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8728" y="1508760"/>
            <a:ext cx="5272888" cy="502920"/>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8728" y="1508760"/>
            <a:ext cx="5272888" cy="502920"/>
          </a:xfrm>
          <a:prstGeom prst="rect">
            <a:avLst/>
          </a:prstGeom>
          <a:noFill/>
        </p:spPr>
        <p:txBody>
          <a:bodyPr wrap="square" anchor="ctr" lIns="0" rIns="0" tIns="0" bIns="0">
            <a:spAutoFit/>
          </a:bodyPr>
          <a:lstStyle/>
          <a:p>
            <a:pPr algn="ctr">
              <a:spcBef>
                <a:spcPts val="0"/>
              </a:spcBef>
              <a:spcAft>
                <a:spcPts val="0"/>
              </a:spcAft>
              <a:buNone/>
            </a:pPr>
            <a:r>
              <a:rPr sz="1700" b="1" i="0">
                <a:solidFill>
                  <a:srgbClr val="0B1220"/>
                </a:solidFill>
                <a:latin typeface="Segoe UI"/>
              </a:rPr>
              <a:t>Avec POO</a:t>
            </a:r>
          </a:p>
        </p:txBody>
      </p:sp>
      <p:sp>
        <p:nvSpPr>
          <p:cNvPr id="13" name="TextBox 12"/>
          <p:cNvSpPr txBox="1"/>
          <p:nvPr/>
        </p:nvSpPr>
        <p:spPr>
          <a:xfrm>
            <a:off x="6553048" y="2286000"/>
            <a:ext cx="4724248" cy="3703320"/>
          </a:xfrm>
          <a:prstGeom prst="rect">
            <a:avLst/>
          </a:prstGeom>
          <a:noFill/>
        </p:spPr>
        <p:txBody>
          <a:bodyPr wrap="square" anchor="t" lIns="0" rIns="0" tIns="0" bIns="0">
            <a:spAutoFit/>
          </a:bodyPr>
          <a:lstStyle/>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DOSSIER Marie</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Nom : Marie — Solde : 500 HTG</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Actions : ajouterAchat()</a:t>
            </a:r>
          </a:p>
        </p:txBody>
      </p:sp>
      <p:sp>
        <p:nvSpPr>
          <p:cNvPr id="14" name="TextBox 13"/>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5" name="TextBox 14"/>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 — Comprendre la Programmation Orientée Objet</a:t>
            </a:r>
          </a:p>
        </p:txBody>
      </p:sp>
      <p:sp>
        <p:nvSpPr>
          <p:cNvPr id="16" name="TextBox 15"/>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24</a:t>
            </a:r>
          </a:p>
        </p:txBody>
      </p:sp>
      <p:sp>
        <p:nvSpPr>
          <p:cNvPr id="17" name="Rectangle 16"/>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vocabulaire fondamental</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Classe</a:t>
            </a:r>
          </a:p>
        </p:txBody>
      </p:sp>
      <p:sp>
        <p:nvSpPr>
          <p:cNvPr id="9" name="TextBox 8"/>
          <p:cNvSpPr txBox="1"/>
          <p:nvPr/>
        </p:nvSpPr>
        <p:spPr>
          <a:xfrm>
            <a:off x="868680"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Le plan, le moule (ex : le plan-type d'un dossier client).</a:t>
            </a:r>
          </a:p>
        </p:txBody>
      </p:sp>
      <p:sp>
        <p:nvSpPr>
          <p:cNvPr id="10" name="Rectangle 9"/>
          <p:cNvSpPr/>
          <p:nvPr/>
        </p:nvSpPr>
        <p:spPr>
          <a:xfrm>
            <a:off x="4383938"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600200"/>
            <a:ext cx="3423818" cy="73152"/>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2538"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Objet</a:t>
            </a:r>
          </a:p>
        </p:txBody>
      </p:sp>
      <p:sp>
        <p:nvSpPr>
          <p:cNvPr id="13" name="TextBox 12"/>
          <p:cNvSpPr txBox="1"/>
          <p:nvPr/>
        </p:nvSpPr>
        <p:spPr>
          <a:xfrm>
            <a:off x="4612538"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Une chose réelle construite à partir du plan (ex : le dossier de Marie, précisément).</a:t>
            </a:r>
          </a:p>
        </p:txBody>
      </p:sp>
      <p:sp>
        <p:nvSpPr>
          <p:cNvPr id="14" name="Rectangle 13"/>
          <p:cNvSpPr/>
          <p:nvPr/>
        </p:nvSpPr>
        <p:spPr>
          <a:xfrm>
            <a:off x="8127797"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7797"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397"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Attribut</a:t>
            </a:r>
          </a:p>
        </p:txBody>
      </p:sp>
      <p:sp>
        <p:nvSpPr>
          <p:cNvPr id="17" name="TextBox 16"/>
          <p:cNvSpPr txBox="1"/>
          <p:nvPr/>
        </p:nvSpPr>
        <p:spPr>
          <a:xfrm>
            <a:off x="8356397"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Une caractéristique de l'objet (ex : le nom, le solde).</a:t>
            </a:r>
          </a:p>
        </p:txBody>
      </p:sp>
      <p:sp>
        <p:nvSpPr>
          <p:cNvPr id="18" name="TextBox 1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9" name="TextBox 1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 — Comprendre la Programmation Orientée Objet</a:t>
            </a:r>
          </a:p>
        </p:txBody>
      </p:sp>
      <p:sp>
        <p:nvSpPr>
          <p:cNvPr id="20" name="TextBox 1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25</a:t>
            </a:r>
          </a:p>
        </p:txBody>
      </p:sp>
      <p:sp>
        <p:nvSpPr>
          <p:cNvPr id="21" name="Rectangle 2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3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Une classe, plusieurs objets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07128" y="1691640"/>
            <a:ext cx="2377440" cy="548640"/>
          </a:xfrm>
          <a:prstGeom prst="rect">
            <a:avLst/>
          </a:prstGeom>
          <a:solidFill>
            <a:srgbClr val="121C32"/>
          </a:solidFill>
          <a:ln w="19050">
            <a:solidFill>
              <a:srgbClr val="35C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07128" y="1691640"/>
            <a:ext cx="2377440" cy="548640"/>
          </a:xfrm>
          <a:prstGeom prst="rect">
            <a:avLst/>
          </a:prstGeom>
          <a:noFill/>
        </p:spPr>
        <p:txBody>
          <a:bodyPr wrap="square" anchor="ctr" lIns="0" rIns="0" tIns="0" bIns="0">
            <a:spAutoFit/>
          </a:bodyPr>
          <a:lstStyle/>
          <a:p>
            <a:pPr algn="ctr">
              <a:spcBef>
                <a:spcPts val="0"/>
              </a:spcBef>
              <a:spcAft>
                <a:spcPts val="0"/>
              </a:spcAft>
              <a:buNone/>
            </a:pPr>
            <a:r>
              <a:rPr sz="1800" b="1" i="0">
                <a:solidFill>
                  <a:srgbClr val="ECF0F7"/>
                </a:solidFill>
                <a:latin typeface="Segoe UI"/>
              </a:rPr>
              <a:t>Voiture (classe)</a:t>
            </a:r>
          </a:p>
        </p:txBody>
      </p:sp>
      <p:cxnSp>
        <p:nvCxnSpPr>
          <p:cNvPr id="8" name="Connector 7"/>
          <p:cNvCxnSpPr/>
          <p:nvPr/>
        </p:nvCxnSpPr>
        <p:spPr>
          <a:xfrm>
            <a:off x="6095848" y="2240280"/>
            <a:ext cx="0" cy="320040"/>
          </a:xfrm>
          <a:prstGeom prst="line">
            <a:avLst/>
          </a:prstGeom>
          <a:ln w="25400">
            <a:solidFill>
              <a:srgbClr val="24314D"/>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444088" y="2560320"/>
            <a:ext cx="5303520"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3444088" y="2560320"/>
            <a:ext cx="0" cy="228600"/>
          </a:xfrm>
          <a:prstGeom prst="line">
            <a:avLst/>
          </a:prstGeom>
          <a:ln w="25400">
            <a:solidFill>
              <a:srgbClr val="24314D"/>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346808" y="2788920"/>
            <a:ext cx="2194560" cy="50292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46808" y="2788920"/>
            <a:ext cx="73152" cy="5029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46808" y="2788920"/>
            <a:ext cx="2194560" cy="502920"/>
          </a:xfrm>
          <a:prstGeom prst="rect">
            <a:avLst/>
          </a:prstGeom>
          <a:noFill/>
        </p:spPr>
        <p:txBody>
          <a:bodyPr wrap="square" anchor="ctr" lIns="0" rIns="0" tIns="0" bIns="0">
            <a:spAutoFit/>
          </a:bodyPr>
          <a:lstStyle/>
          <a:p>
            <a:pPr algn="ctr">
              <a:spcBef>
                <a:spcPts val="0"/>
              </a:spcBef>
              <a:spcAft>
                <a:spcPts val="0"/>
              </a:spcAft>
              <a:buNone/>
            </a:pPr>
            <a:r>
              <a:rPr sz="1500" b="1" i="0">
                <a:solidFill>
                  <a:srgbClr val="ECF0F7"/>
                </a:solidFill>
                <a:latin typeface="Segoe UI"/>
              </a:rPr>
              <a:t>Toyota rouge</a:t>
            </a:r>
          </a:p>
        </p:txBody>
      </p:sp>
      <p:cxnSp>
        <p:nvCxnSpPr>
          <p:cNvPr id="14" name="Connector 13"/>
          <p:cNvCxnSpPr/>
          <p:nvPr/>
        </p:nvCxnSpPr>
        <p:spPr>
          <a:xfrm>
            <a:off x="6095848" y="2560320"/>
            <a:ext cx="0" cy="228600"/>
          </a:xfrm>
          <a:prstGeom prst="line">
            <a:avLst/>
          </a:prstGeom>
          <a:ln w="25400">
            <a:solidFill>
              <a:srgbClr val="24314D"/>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998568" y="2788920"/>
            <a:ext cx="2194560" cy="50292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98568" y="2788920"/>
            <a:ext cx="73152" cy="5029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98568" y="2788920"/>
            <a:ext cx="2194560" cy="502920"/>
          </a:xfrm>
          <a:prstGeom prst="rect">
            <a:avLst/>
          </a:prstGeom>
          <a:noFill/>
        </p:spPr>
        <p:txBody>
          <a:bodyPr wrap="square" anchor="ctr" lIns="0" rIns="0" tIns="0" bIns="0">
            <a:spAutoFit/>
          </a:bodyPr>
          <a:lstStyle/>
          <a:p>
            <a:pPr algn="ctr">
              <a:spcBef>
                <a:spcPts val="0"/>
              </a:spcBef>
              <a:spcAft>
                <a:spcPts val="0"/>
              </a:spcAft>
              <a:buNone/>
            </a:pPr>
            <a:r>
              <a:rPr sz="1500" b="1" i="0">
                <a:solidFill>
                  <a:srgbClr val="ECF0F7"/>
                </a:solidFill>
                <a:latin typeface="Segoe UI"/>
              </a:rPr>
              <a:t>BMW noire</a:t>
            </a:r>
          </a:p>
        </p:txBody>
      </p:sp>
      <p:cxnSp>
        <p:nvCxnSpPr>
          <p:cNvPr id="18" name="Connector 17"/>
          <p:cNvCxnSpPr/>
          <p:nvPr/>
        </p:nvCxnSpPr>
        <p:spPr>
          <a:xfrm>
            <a:off x="8747608" y="2560320"/>
            <a:ext cx="0" cy="228600"/>
          </a:xfrm>
          <a:prstGeom prst="line">
            <a:avLst/>
          </a:prstGeom>
          <a:ln w="25400">
            <a:solidFill>
              <a:srgbClr val="24314D"/>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650328" y="2788920"/>
            <a:ext cx="2194560" cy="50292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50328" y="2788920"/>
            <a:ext cx="73152" cy="5029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50328" y="2788920"/>
            <a:ext cx="2194560" cy="502920"/>
          </a:xfrm>
          <a:prstGeom prst="rect">
            <a:avLst/>
          </a:prstGeom>
          <a:noFill/>
        </p:spPr>
        <p:txBody>
          <a:bodyPr wrap="square" anchor="ctr" lIns="0" rIns="0" tIns="0" bIns="0">
            <a:spAutoFit/>
          </a:bodyPr>
          <a:lstStyle/>
          <a:p>
            <a:pPr algn="ctr">
              <a:spcBef>
                <a:spcPts val="0"/>
              </a:spcBef>
              <a:spcAft>
                <a:spcPts val="0"/>
              </a:spcAft>
              <a:buNone/>
            </a:pPr>
            <a:r>
              <a:rPr sz="1500" b="1" i="0">
                <a:solidFill>
                  <a:srgbClr val="ECF0F7"/>
                </a:solidFill>
                <a:latin typeface="Segoe UI"/>
              </a:rPr>
              <a:t>Mercedes blanche</a:t>
            </a:r>
          </a:p>
        </p:txBody>
      </p:sp>
      <p:sp>
        <p:nvSpPr>
          <p:cNvPr id="22" name="TextBox 21"/>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23" name="TextBox 22"/>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 — Comprendre la Programmation Orientée Objet</a:t>
            </a:r>
          </a:p>
        </p:txBody>
      </p:sp>
      <p:sp>
        <p:nvSpPr>
          <p:cNvPr id="24" name="TextBox 23"/>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26</a:t>
            </a:r>
          </a:p>
        </p:txBody>
      </p:sp>
      <p:sp>
        <p:nvSpPr>
          <p:cNvPr id="25" name="Rectangle 24"/>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Vocabulaire en code : classe Client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Client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5C6A87"/>
                </a:solidFill>
                <a:latin typeface="Consolas"/>
              </a:rPr>
              <a:t>// ATTRIBUTS</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solde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5C6A87"/>
                </a:solidFill>
                <a:latin typeface="Consolas"/>
              </a:rPr>
              <a:t>// MÉTHODE</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ajouterAchat</a:t>
            </a:r>
            <a:r>
              <a:rPr sz="1700" b="0" i="0">
                <a:solidFill>
                  <a:srgbClr val="E3E9F4"/>
                </a:solidFill>
                <a:latin typeface="Consolas"/>
              </a:rPr>
              <a:t>(</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montant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solde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solde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montant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Les données (nom, solde) et l'action (ajouterAchat) vivent désormais ensemble.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 — Comprendre la Programmation Orientée Objet</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27</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Croire que la POO élimine le besoin des variables/conditions/boucles/méthodes déjà connues</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Vouloir créer une classe pour absolument tout, y compris un simple calcul sans état à conserver</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 — Comprendre la Programmation Orientée Objet</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3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Identifier classe / attributs / méthode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Pour une application de bibliothèque, identifiez une classe plausible, donnez-lui au moins 2 attributs et 1 méthode.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 — Comprendre la Programmation Orientée Objet</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29</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CLASSE = le plan ; OBJET = une instance concrète construite à partir du plan</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ATTRIBUT = une caractéristique ; MÉTHODE = une action</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La POO regroupe données et actions liées, plutôt que de les séparer</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Une classe seule ne représente jamais un objet précis</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 — Comprendre la Programmation Orientée Objet</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30</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4</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Créer une classe Java</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Construire une classe pas à pas, puis créer un objet avec new</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4 — Créer une classe Java</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4 — ÉTAPE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Une classe vide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Voiture</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4 — Créer une classe Java</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32</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4 — ÉTAPE 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Ajouter les attributs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Voiture</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marque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couleur</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vitesse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4 — Créer une classe Java</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33</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4 — ÉTAPE 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Ajouter une méthode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Voiture</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marque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couleur</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vitesse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demarrer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"La voiture démarre"</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4 — Créer une classe Java</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34</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4 — ÉTAPE 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Créer un objet avec new</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E3E9F4"/>
                </a:solidFill>
                <a:latin typeface="Consolas"/>
              </a:rPr>
              <a:t>Voiture</a:t>
            </a:r>
            <a:r>
              <a:rPr sz="1500" b="0" i="0">
                <a:solidFill>
                  <a:srgbClr val="E3E9F4"/>
                </a:solidFill>
                <a:latin typeface="Consolas"/>
              </a:rPr>
              <a:t> </a:t>
            </a:r>
            <a:r>
              <a:rPr sz="1500" b="0" i="0">
                <a:solidFill>
                  <a:srgbClr val="E3E9F4"/>
                </a:solidFill>
                <a:latin typeface="Consolas"/>
              </a:rPr>
              <a:t>voiture1</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new</a:t>
            </a:r>
            <a:r>
              <a:rPr sz="1500" b="0" i="0">
                <a:solidFill>
                  <a:srgbClr val="E3E9F4"/>
                </a:solidFill>
                <a:latin typeface="Consolas"/>
              </a:rPr>
              <a:t> </a:t>
            </a:r>
            <a:r>
              <a:rPr sz="1500" b="0" i="0">
                <a:solidFill>
                  <a:srgbClr val="E3E9F4"/>
                </a:solidFill>
                <a:latin typeface="Consolas"/>
              </a:rPr>
              <a:t>Voiture</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voiture1</a:t>
            </a:r>
            <a:r>
              <a:rPr sz="1500" b="0" i="0">
                <a:solidFill>
                  <a:srgbClr val="E3E9F4"/>
                </a:solidFill>
                <a:latin typeface="Consolas"/>
              </a:rPr>
              <a:t>.</a:t>
            </a:r>
            <a:r>
              <a:rPr sz="1500" b="0" i="0">
                <a:solidFill>
                  <a:srgbClr val="E3E9F4"/>
                </a:solidFill>
                <a:latin typeface="Consolas"/>
              </a:rPr>
              <a:t>marque</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33C984"/>
                </a:solidFill>
                <a:latin typeface="Consolas"/>
              </a:rPr>
              <a:t>"Toyota"</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voiture1</a:t>
            </a:r>
            <a:r>
              <a:rPr sz="1500" b="0" i="0">
                <a:solidFill>
                  <a:srgbClr val="E3E9F4"/>
                </a:solidFill>
                <a:latin typeface="Consolas"/>
              </a:rPr>
              <a:t>.</a:t>
            </a:r>
            <a:r>
              <a:rPr sz="1500" b="0" i="0">
                <a:solidFill>
                  <a:srgbClr val="E3E9F4"/>
                </a:solidFill>
                <a:latin typeface="Consolas"/>
              </a:rPr>
              <a:t>couleur</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33C984"/>
                </a:solidFill>
                <a:latin typeface="Consolas"/>
              </a:rPr>
              <a:t>"Rouge"</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p>
          <a:p>
            <a:pPr algn="l">
              <a:lnSpc>
                <a:spcPct val="115000"/>
              </a:lnSpc>
              <a:spcAft>
                <a:spcPts val="200"/>
              </a:spcAft>
              <a:buNone/>
            </a:pPr>
            <a:r>
              <a:rPr sz="1500" b="0" i="0">
                <a:solidFill>
                  <a:srgbClr val="E3E9F4"/>
                </a:solidFill>
                <a:latin typeface="Consolas"/>
              </a:rPr>
              <a:t>voiture1</a:t>
            </a:r>
            <a:r>
              <a:rPr sz="1500" b="0" i="0">
                <a:solidFill>
                  <a:srgbClr val="E3E9F4"/>
                </a:solidFill>
                <a:latin typeface="Consolas"/>
              </a:rPr>
              <a:t>.</a:t>
            </a:r>
            <a:r>
              <a:rPr sz="1500" b="0" i="0">
                <a:solidFill>
                  <a:srgbClr val="E3E9F4"/>
                </a:solidFill>
                <a:latin typeface="Consolas"/>
              </a:rPr>
              <a:t>demarrer</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35C7E0"/>
                </a:solidFill>
                <a:latin typeface="Consolas"/>
              </a:rPr>
              <a:t>System</a:t>
            </a:r>
            <a:r>
              <a:rPr sz="1500" b="0" i="0">
                <a:solidFill>
                  <a:srgbClr val="E3E9F4"/>
                </a:solidFill>
                <a:latin typeface="Consolas"/>
              </a:rPr>
              <a:t>.</a:t>
            </a:r>
            <a:r>
              <a:rPr sz="1500" b="0" i="0">
                <a:solidFill>
                  <a:srgbClr val="E3E9F4"/>
                </a:solidFill>
                <a:latin typeface="Consolas"/>
              </a:rPr>
              <a:t>out</a:t>
            </a:r>
            <a:r>
              <a:rPr sz="1500" b="0" i="0">
                <a:solidFill>
                  <a:srgbClr val="E3E9F4"/>
                </a:solidFill>
                <a:latin typeface="Consolas"/>
              </a:rPr>
              <a:t>.</a:t>
            </a:r>
            <a:r>
              <a:rPr sz="1500" b="0" i="0">
                <a:solidFill>
                  <a:srgbClr val="E3E9F4"/>
                </a:solidFill>
                <a:latin typeface="Consolas"/>
              </a:rPr>
              <a:t>println</a:t>
            </a:r>
            <a:r>
              <a:rPr sz="1500" b="0" i="0">
                <a:solidFill>
                  <a:srgbClr val="E3E9F4"/>
                </a:solidFill>
                <a:latin typeface="Consolas"/>
              </a:rPr>
              <a:t>(</a:t>
            </a:r>
            <a:r>
              <a:rPr sz="1500" b="0" i="0">
                <a:solidFill>
                  <a:srgbClr val="E3E9F4"/>
                </a:solidFill>
                <a:latin typeface="Consolas"/>
              </a:rPr>
              <a:t>voiture1</a:t>
            </a:r>
            <a:r>
              <a:rPr sz="1500" b="0" i="0">
                <a:solidFill>
                  <a:srgbClr val="E3E9F4"/>
                </a:solidFill>
                <a:latin typeface="Consolas"/>
              </a:rPr>
              <a:t>.</a:t>
            </a:r>
            <a:r>
              <a:rPr sz="1500" b="0" i="0">
                <a:solidFill>
                  <a:srgbClr val="E3E9F4"/>
                </a:solidFill>
                <a:latin typeface="Consolas"/>
              </a:rPr>
              <a:t>marque</a:t>
            </a:r>
            <a:r>
              <a:rPr sz="1500" b="0" i="0">
                <a:solidFill>
                  <a:srgbClr val="E3E9F4"/>
                </a:solidFill>
                <a:latin typeface="Consolas"/>
              </a:rPr>
              <a:t>)</a:t>
            </a: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new déclenche : réservation mémoire → attributs à leur valeur par défaut → appel du constructeur</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Voiture voiture2 = new Voiture(); crée un DEUXIÈME objet, totalement indépendant du premier</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Le point (.) accède aux attributs et méthodes d'un objet précis</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4 — Créer une classe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Valeurs par défaut d'un attribut non initialisé</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911534" cy="2834640"/>
        </p:xfrm>
        <a:graphic>
          <a:graphicData uri="http://schemas.openxmlformats.org/drawingml/2006/table">
            <a:tbl>
              <a:tblPr firstRow="1" bandRow="1">
                <a:tableStyleId>{5C22544A-7EE6-4342-B048-85BDC9FD1C3A}</a:tableStyleId>
              </a:tblPr>
              <a:tblGrid>
                <a:gridCol w="5455767"/>
                <a:gridCol w="5455767"/>
              </a:tblGrid>
              <a:tr h="566928">
                <a:tc>
                  <a:txBody>
                    <a:bodyPr wrap="square"/>
                    <a:lstStyle/>
                    <a:p>
                      <a:pPr algn="l"/>
                      <a:r>
                        <a:rPr sz="1400" b="1" i="0">
                          <a:solidFill>
                            <a:srgbClr val="0B1220"/>
                          </a:solidFill>
                          <a:latin typeface="Segoe UI"/>
                        </a:rPr>
                        <a:t>Type</a:t>
                      </a:r>
                    </a:p>
                  </a:txBody>
                  <a:tcPr marT="50800" marB="50800" marL="127000" marR="127000">
                    <a:solidFill>
                      <a:srgbClr val="F28C28"/>
                    </a:solidFill>
                  </a:tcPr>
                </a:tc>
                <a:tc>
                  <a:txBody>
                    <a:bodyPr wrap="square"/>
                    <a:lstStyle/>
                    <a:p>
                      <a:pPr algn="l"/>
                      <a:r>
                        <a:rPr sz="1400" b="1" i="0">
                          <a:solidFill>
                            <a:srgbClr val="0B1220"/>
                          </a:solidFill>
                          <a:latin typeface="Segoe UI"/>
                        </a:rPr>
                        <a:t>Valeur par défaut</a:t>
                      </a:r>
                    </a:p>
                  </a:txBody>
                  <a:tcPr marT="50800" marB="50800" marL="127000" marR="127000">
                    <a:solidFill>
                      <a:srgbClr val="F28C28"/>
                    </a:solidFill>
                  </a:tcPr>
                </a:tc>
              </a:tr>
              <a:tr h="566928">
                <a:tc>
                  <a:txBody>
                    <a:bodyPr wrap="square"/>
                    <a:lstStyle/>
                    <a:p>
                      <a:r>
                        <a:rPr sz="1350" b="1" i="0">
                          <a:solidFill>
                            <a:srgbClr val="ECF0F7"/>
                          </a:solidFill>
                          <a:latin typeface="Segoe UI"/>
                        </a:rPr>
                        <a:t>int, long, short, byte</a:t>
                      </a:r>
                    </a:p>
                  </a:txBody>
                  <a:tcPr marT="50800" marB="50800" marL="127000" marR="127000">
                    <a:solidFill>
                      <a:srgbClr val="121C32"/>
                    </a:solidFill>
                  </a:tcPr>
                </a:tc>
                <a:tc>
                  <a:txBody>
                    <a:bodyPr wrap="square"/>
                    <a:lstStyle/>
                    <a:p>
                      <a:r>
                        <a:rPr sz="1350" b="0" i="0">
                          <a:solidFill>
                            <a:srgbClr val="ECF0F7"/>
                          </a:solidFill>
                          <a:latin typeface="Segoe UI"/>
                        </a:rPr>
                        <a:t>0</a:t>
                      </a:r>
                    </a:p>
                  </a:txBody>
                  <a:tcPr marT="50800" marB="50800" marL="127000" marR="127000">
                    <a:solidFill>
                      <a:srgbClr val="121C32"/>
                    </a:solidFill>
                  </a:tcPr>
                </a:tc>
              </a:tr>
              <a:tr h="566928">
                <a:tc>
                  <a:txBody>
                    <a:bodyPr wrap="square"/>
                    <a:lstStyle/>
                    <a:p>
                      <a:r>
                        <a:rPr sz="1350" b="1" i="0">
                          <a:solidFill>
                            <a:srgbClr val="ECF0F7"/>
                          </a:solidFill>
                          <a:latin typeface="Segoe UI"/>
                        </a:rPr>
                        <a:t>double, float</a:t>
                      </a:r>
                    </a:p>
                  </a:txBody>
                  <a:tcPr marT="50800" marB="50800" marL="127000" marR="127000">
                    <a:solidFill>
                      <a:srgbClr val="0B1220"/>
                    </a:solidFill>
                  </a:tcPr>
                </a:tc>
                <a:tc>
                  <a:txBody>
                    <a:bodyPr wrap="square"/>
                    <a:lstStyle/>
                    <a:p>
                      <a:r>
                        <a:rPr sz="1350" b="0" i="0">
                          <a:solidFill>
                            <a:srgbClr val="ECF0F7"/>
                          </a:solidFill>
                          <a:latin typeface="Segoe UI"/>
                        </a:rPr>
                        <a:t>0.0</a:t>
                      </a:r>
                    </a:p>
                  </a:txBody>
                  <a:tcPr marT="50800" marB="50800" marL="127000" marR="127000">
                    <a:solidFill>
                      <a:srgbClr val="0B1220"/>
                    </a:solidFill>
                  </a:tcPr>
                </a:tc>
              </a:tr>
              <a:tr h="566928">
                <a:tc>
                  <a:txBody>
                    <a:bodyPr wrap="square"/>
                    <a:lstStyle/>
                    <a:p>
                      <a:r>
                        <a:rPr sz="1350" b="1" i="0">
                          <a:solidFill>
                            <a:srgbClr val="ECF0F7"/>
                          </a:solidFill>
                          <a:latin typeface="Segoe UI"/>
                        </a:rPr>
                        <a:t>boolean</a:t>
                      </a:r>
                    </a:p>
                  </a:txBody>
                  <a:tcPr marT="50800" marB="50800" marL="127000" marR="127000">
                    <a:solidFill>
                      <a:srgbClr val="121C32"/>
                    </a:solidFill>
                  </a:tcPr>
                </a:tc>
                <a:tc>
                  <a:txBody>
                    <a:bodyPr wrap="square"/>
                    <a:lstStyle/>
                    <a:p>
                      <a:r>
                        <a:rPr sz="1350" b="0" i="0">
                          <a:solidFill>
                            <a:srgbClr val="ECF0F7"/>
                          </a:solidFill>
                          <a:latin typeface="Segoe UI"/>
                        </a:rPr>
                        <a:t>false</a:t>
                      </a:r>
                    </a:p>
                  </a:txBody>
                  <a:tcPr marT="50800" marB="50800" marL="127000" marR="127000">
                    <a:solidFill>
                      <a:srgbClr val="121C32"/>
                    </a:solidFill>
                  </a:tcPr>
                </a:tc>
              </a:tr>
              <a:tr h="566928">
                <a:tc>
                  <a:txBody>
                    <a:bodyPr wrap="square"/>
                    <a:lstStyle/>
                    <a:p>
                      <a:r>
                        <a:rPr sz="1350" b="1" i="0">
                          <a:solidFill>
                            <a:srgbClr val="ECF0F7"/>
                          </a:solidFill>
                          <a:latin typeface="Segoe UI"/>
                        </a:rPr>
                        <a:t>String, tout type objet</a:t>
                      </a:r>
                    </a:p>
                  </a:txBody>
                  <a:tcPr marT="50800" marB="50800" marL="127000" marR="127000">
                    <a:solidFill>
                      <a:srgbClr val="0B1220"/>
                    </a:solidFill>
                  </a:tcPr>
                </a:tc>
                <a:tc>
                  <a:txBody>
                    <a:bodyPr wrap="square"/>
                    <a:lstStyle/>
                    <a:p>
                      <a:r>
                        <a:rPr sz="1350" b="0" i="0">
                          <a:solidFill>
                            <a:srgbClr val="ECF0F7"/>
                          </a:solidFill>
                          <a:latin typeface="Segoe UI"/>
                        </a:rPr>
                        <a:t>null</a:t>
                      </a:r>
                    </a:p>
                  </a:txBody>
                  <a:tcPr marT="50800" marB="50800" marL="127000" marR="127000">
                    <a:solidFill>
                      <a:srgbClr val="0B1220"/>
                    </a:solidFill>
                  </a:tcPr>
                </a:tc>
              </a:tr>
            </a:tbl>
          </a:graphicData>
        </a:graphic>
      </p:graphicFrame>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4 — Créer une classe Java</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36</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4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Construire une classe complète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Créez une classe Livre avec les attributs titre (String) et disponible (boolean), une méthode emprunter() qui affiche un message différent selon la disponibilité. Créez un objet et testez.</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4 — Créer une classe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37</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new réserve la mémoire, initialise les valeurs par défaut, puis appelle le constructeur</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Une variable objet contient une RÉFÉRENCE, jamais l'objet lui-même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Deux objets créés séparément sont toujours indépendants, sauf affectation directe (v2 = v1)</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4 — Créer une classe Java</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38</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5</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Attributs et méthodes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Paramètres, valeur de retour, méthodes void et méthodes avec retour</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5 — Attributs et méthodes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39</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Attribut d'instance vs méthode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Attribut d'instance : chaque objet a SA PROPRE copie (ex : le solde de CE client précis)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Méthode void : effectue une action, ne renvoie rien</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Méthode avec retour : calcule et RENVOIE un résultat avec return</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Méthode avec paramètres : reçoit des informations en entrée, entre parenthèses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5 — Attributs et méthodes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5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Méthode avec paramètres et retour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calculerSalaire</a:t>
            </a:r>
            <a:r>
              <a:rPr sz="1700" b="0" i="0">
                <a:solidFill>
                  <a:srgbClr val="E3E9F4"/>
                </a:solidFill>
                <a:latin typeface="Consolas"/>
              </a:rPr>
              <a:t>(</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salaire</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prime</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return</a:t>
            </a:r>
            <a:r>
              <a:rPr sz="1700" b="0" i="0">
                <a:solidFill>
                  <a:srgbClr val="E3E9F4"/>
                </a:solidFill>
                <a:latin typeface="Consolas"/>
              </a:rPr>
              <a:t> </a:t>
            </a:r>
            <a:r>
              <a:rPr sz="1700" b="0" i="0">
                <a:solidFill>
                  <a:srgbClr val="E3E9F4"/>
                </a:solidFill>
                <a:latin typeface="Consolas"/>
              </a:rPr>
              <a:t>salaire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prime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1. Déclaration → 2. Appel : calculerSalaire(15000, 2000) → 3. Résultat : 17000.0</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5 — Attributs et méthodes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41</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void vs avec retour, côte à côte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void</a:t>
            </a:r>
            <a:r>
              <a:rPr sz="1500" b="0" i="0">
                <a:solidFill>
                  <a:srgbClr val="E3E9F4"/>
                </a:solidFill>
                <a:latin typeface="Consolas"/>
              </a:rPr>
              <a:t> </a:t>
            </a:r>
            <a:r>
              <a:rPr sz="1500" b="0" i="0">
                <a:solidFill>
                  <a:srgbClr val="E3E9F4"/>
                </a:solidFill>
                <a:latin typeface="Consolas"/>
              </a:rPr>
              <a:t>afficherSolde</a:t>
            </a:r>
            <a:r>
              <a:rPr sz="1500" b="0" i="0">
                <a:solidFill>
                  <a:srgbClr val="E3E9F4"/>
                </a:solidFill>
                <a:latin typeface="Consolas"/>
              </a:rPr>
              <a:t>(</a:t>
            </a:r>
            <a:r>
              <a:rPr sz="1500" b="0" i="0">
                <a:solidFill>
                  <a:srgbClr val="F28C28"/>
                </a:solidFill>
                <a:latin typeface="Consolas"/>
              </a:rPr>
              <a:t>double</a:t>
            </a:r>
            <a:r>
              <a:rPr sz="1500" b="0" i="0">
                <a:solidFill>
                  <a:srgbClr val="E3E9F4"/>
                </a:solidFill>
                <a:latin typeface="Consolas"/>
              </a:rPr>
              <a:t> </a:t>
            </a:r>
            <a:r>
              <a:rPr sz="1500" b="0" i="0">
                <a:solidFill>
                  <a:srgbClr val="E3E9F4"/>
                </a:solidFill>
                <a:latin typeface="Consolas"/>
              </a:rPr>
              <a:t>solde</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35C7E0"/>
                </a:solidFill>
                <a:latin typeface="Consolas"/>
              </a:rPr>
              <a:t>System</a:t>
            </a:r>
            <a:r>
              <a:rPr sz="1500" b="0" i="0">
                <a:solidFill>
                  <a:srgbClr val="E3E9F4"/>
                </a:solidFill>
                <a:latin typeface="Consolas"/>
              </a:rPr>
              <a:t>.</a:t>
            </a:r>
            <a:r>
              <a:rPr sz="1500" b="0" i="0">
                <a:solidFill>
                  <a:srgbClr val="E3E9F4"/>
                </a:solidFill>
                <a:latin typeface="Consolas"/>
              </a:rPr>
              <a:t>out</a:t>
            </a:r>
            <a:r>
              <a:rPr sz="1500" b="0" i="0">
                <a:solidFill>
                  <a:srgbClr val="E3E9F4"/>
                </a:solidFill>
                <a:latin typeface="Consolas"/>
              </a:rPr>
              <a:t>.</a:t>
            </a:r>
            <a:r>
              <a:rPr sz="1500" b="0" i="0">
                <a:solidFill>
                  <a:srgbClr val="E3E9F4"/>
                </a:solidFill>
                <a:latin typeface="Consolas"/>
              </a:rPr>
              <a:t>println</a:t>
            </a:r>
            <a:r>
              <a:rPr sz="1500" b="0" i="0">
                <a:solidFill>
                  <a:srgbClr val="E3E9F4"/>
                </a:solidFill>
                <a:latin typeface="Consolas"/>
              </a:rPr>
              <a:t>(</a:t>
            </a:r>
            <a:r>
              <a:rPr sz="1500" b="0" i="0">
                <a:solidFill>
                  <a:srgbClr val="E3E9F4"/>
                </a:solidFill>
                <a:latin typeface="Consolas"/>
              </a:rPr>
              <a:t>solde</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p>
          <a:p>
            <a:pPr algn="l">
              <a:lnSpc>
                <a:spcPct val="115000"/>
              </a:lnSpc>
              <a:spcAft>
                <a:spcPts val="200"/>
              </a:spcAft>
              <a:buNone/>
            </a:pPr>
            <a:r>
              <a:rPr sz="1500" b="0" i="0">
                <a:solidFill>
                  <a:srgbClr val="F28C28"/>
                </a:solidFill>
                <a:latin typeface="Consolas"/>
              </a:rPr>
              <a:t>double</a:t>
            </a:r>
            <a:r>
              <a:rPr sz="1500" b="0" i="0">
                <a:solidFill>
                  <a:srgbClr val="E3E9F4"/>
                </a:solidFill>
                <a:latin typeface="Consolas"/>
              </a:rPr>
              <a:t> </a:t>
            </a:r>
            <a:r>
              <a:rPr sz="1500" b="0" i="0">
                <a:solidFill>
                  <a:srgbClr val="E3E9F4"/>
                </a:solidFill>
                <a:latin typeface="Consolas"/>
              </a:rPr>
              <a:t>getSolde</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return</a:t>
            </a:r>
            <a:r>
              <a:rPr sz="1500" b="0" i="0">
                <a:solidFill>
                  <a:srgbClr val="E3E9F4"/>
                </a:solidFill>
                <a:latin typeface="Consolas"/>
              </a:rPr>
              <a:t> </a:t>
            </a:r>
            <a:r>
              <a:rPr sz="1500" b="0" i="0">
                <a:solidFill>
                  <a:srgbClr val="E3E9F4"/>
                </a:solidFill>
                <a:latin typeface="Consolas"/>
              </a:rPr>
              <a:t>solde</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void → agit (afficher, modifier), rien à récupérer dans une variable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avec type de retour → calcule et renvoie une valeur exploitable ensuite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Oublier return dans une méthode non-void est une erreur de compilation</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5 — Attributs et méthodes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42</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5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Écrire une méthode avec retour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Écrivez une méthode calculerRemise(double prix, double pourcentage) qui renvoie le montant de la remise (prix * pourcentage / 100). Appelez-la et affichez le résultat pour un prix de 500 et une remise de 10%.</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5 — Attributs et méthodes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43</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 attribut d'instance appartient à CHAQUE objet séparément</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void = aucun retour ; un type de retour exige return</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Les paramètres sont l'entrée, la valeur de retour est la sortie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5 — Attributs et méthodes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44</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6</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Constructeurs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Initialiser un objet dès sa création, this, surcharge de constructeurs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6 — Constructeurs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45</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problème : un objet peut naître incomplet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Livre livre = new Livre(); livre.titre = "..."; — et si on OUBLIE livre.disponible = true; ?</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Le programme continue de fonctionner SANS erreur visible, avec un objet incomplet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Analogie : un meuble en kit livré sans obligation d'assemblage vs un vendeur qui exige les infos avant de livrer</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6 — Constructeurs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46</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Constructeur par défaut vs paramétré</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Etudiant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Etudiant</a:t>
            </a:r>
            <a:r>
              <a:rPr sz="1700" b="0" i="0">
                <a:solidFill>
                  <a:srgbClr val="E3E9F4"/>
                </a:solidFill>
                <a:latin typeface="Consolas"/>
              </a:rPr>
              <a:t>(</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nom</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age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Etudiant e = new Etudiant("Jean", 20); — les 2 informations deviennent OBLIGATOIRES</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6 — Constructeurs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47</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Comprendre this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this.nom</a:t>
            </a:r>
          </a:p>
        </p:txBody>
      </p:sp>
      <p:sp>
        <p:nvSpPr>
          <p:cNvPr id="9" name="TextBox 8"/>
          <p:cNvSpPr txBox="1"/>
          <p:nvPr/>
        </p:nvSpPr>
        <p:spPr>
          <a:xfrm>
            <a:off x="868680"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L'ATTRIBUT de l'objet en cours de construction (à gauche du =).</a:t>
            </a:r>
          </a:p>
        </p:txBody>
      </p:sp>
      <p:sp>
        <p:nvSpPr>
          <p:cNvPr id="10" name="Rectangle 9"/>
          <p:cNvSpPr/>
          <p:nvPr/>
        </p:nvSpPr>
        <p:spPr>
          <a:xfrm>
            <a:off x="4383938"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600200"/>
            <a:ext cx="3423818" cy="73152"/>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2538"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nom</a:t>
            </a:r>
          </a:p>
        </p:txBody>
      </p:sp>
      <p:sp>
        <p:nvSpPr>
          <p:cNvPr id="13" name="TextBox 12"/>
          <p:cNvSpPr txBox="1"/>
          <p:nvPr/>
        </p:nvSpPr>
        <p:spPr>
          <a:xfrm>
            <a:off x="4612538"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Le PARAMÈTRE reçu par le constructeur (à droite du =).</a:t>
            </a:r>
          </a:p>
        </p:txBody>
      </p:sp>
      <p:sp>
        <p:nvSpPr>
          <p:cNvPr id="14" name="Rectangle 13"/>
          <p:cNvSpPr/>
          <p:nvPr/>
        </p:nvSpPr>
        <p:spPr>
          <a:xfrm>
            <a:off x="8127797"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7797"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397"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this</a:t>
            </a:r>
          </a:p>
        </p:txBody>
      </p:sp>
      <p:sp>
        <p:nvSpPr>
          <p:cNvPr id="17" name="TextBox 16"/>
          <p:cNvSpPr txBox="1"/>
          <p:nvPr/>
        </p:nvSpPr>
        <p:spPr>
          <a:xfrm>
            <a:off x="8356397"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Désigne l'objet en cours de construction ou de manipulation.</a:t>
            </a:r>
          </a:p>
        </p:txBody>
      </p:sp>
      <p:sp>
        <p:nvSpPr>
          <p:cNvPr id="18" name="TextBox 1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9" name="TextBox 1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6 — Constructeurs</a:t>
            </a:r>
          </a:p>
        </p:txBody>
      </p:sp>
      <p:sp>
        <p:nvSpPr>
          <p:cNvPr id="20" name="TextBox 1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48</a:t>
            </a:r>
          </a:p>
        </p:txBody>
      </p:sp>
      <p:sp>
        <p:nvSpPr>
          <p:cNvPr id="21" name="Rectangle 2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Plusieurs constructeurs (surcharge)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E3E9F4"/>
                </a:solidFill>
                <a:latin typeface="Consolas"/>
              </a:rPr>
              <a:t>Etudiant</a:t>
            </a:r>
            <a:r>
              <a:rPr sz="1700" b="0" i="0">
                <a:solidFill>
                  <a:srgbClr val="E3E9F4"/>
                </a:solidFill>
                <a:latin typeface="Consolas"/>
              </a:rPr>
              <a:t>(</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moyenne</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nom</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age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moyenne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moyenne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Etudiant</a:t>
            </a:r>
            <a:r>
              <a:rPr sz="1700" b="0" i="0">
                <a:solidFill>
                  <a:srgbClr val="E3E9F4"/>
                </a:solidFill>
                <a:latin typeface="Consolas"/>
              </a:rPr>
              <a:t>(</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r>
              <a:rPr sz="1700" b="0" i="0">
                <a:solidFill>
                  <a:srgbClr val="E3E9F4"/>
                </a:solidFill>
                <a:latin typeface="Consolas"/>
              </a:rPr>
              <a:t> </a:t>
            </a:r>
            <a:r>
              <a:rPr sz="1700" b="0" i="0">
                <a:solidFill>
                  <a:srgbClr val="E8C54A"/>
                </a:solidFill>
                <a:latin typeface="Consolas"/>
              </a:rPr>
              <a:t>0.0</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5C6A87"/>
                </a:solidFill>
                <a:latin typeface="Consolas"/>
              </a:rPr>
              <a:t>// délègue, doit être la 1re ligne</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6 — Constructeurs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49</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Dès qu'un constructeur est écrit, le constructeur par défaut disparaît</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this. → nom = nom; n'assigne rien à l'attribut (bug silencieux)</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this(...) qui n'est pas la première ligne du constructeur</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6 — Constructeurs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6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Constructeur avec validation</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Écrivez une classe CompteBancaire(String titulaire, double soldeInitial) dont le constructeur refuse (avec throw new IllegalArgumentException) un solde initial négatif.</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6 — Constructeurs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51</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 constructeur porte le nom de la classe, sans type de retour, exécuté à chaque new</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this.attribut distingue l'attribut du paramètre de même nom</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Plusieurs constructeurs (surcharge) ; this(...) en 1re ligne évite la duplication</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6 — Constructeurs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52</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7</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Encapsulation</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Premier pilier de la POO — protéger les données d'un objet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7 — Encapsulation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problème des attributs publics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CompteBancaire</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solde</a:t>
            </a:r>
            <a:r>
              <a:rPr sz="1700" b="0" i="0">
                <a:solidFill>
                  <a:srgbClr val="E3E9F4"/>
                </a:solidFill>
                <a:latin typeface="Consolas"/>
              </a:rPr>
              <a:t>;</a:t>
            </a:r>
            <a:r>
              <a:rPr sz="1700" b="0" i="0">
                <a:solidFill>
                  <a:srgbClr val="E3E9F4"/>
                </a:solidFill>
                <a:latin typeface="Consolas"/>
              </a:rPr>
              <a:t> </a:t>
            </a:r>
            <a:r>
              <a:rPr sz="1700" b="0" i="0">
                <a:solidFill>
                  <a:srgbClr val="5C6A87"/>
                </a:solidFill>
                <a:latin typeface="Consolas"/>
              </a:rPr>
              <a:t>// accessible par N'IMPORTE QUEL code, sans contrôle</a:t>
            </a:r>
          </a:p>
          <a:p>
            <a:pPr algn="l">
              <a:lnSpc>
                <a:spcPct val="115000"/>
              </a:lnSpc>
              <a:spcAft>
                <a:spcPts val="200"/>
              </a:spcAft>
              <a:buNone/>
            </a:pP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compte</a:t>
            </a:r>
            <a:r>
              <a:rPr sz="1700" b="0" i="0">
                <a:solidFill>
                  <a:srgbClr val="E3E9F4"/>
                </a:solidFill>
                <a:latin typeface="Consolas"/>
              </a:rPr>
              <a:t>.</a:t>
            </a:r>
            <a:r>
              <a:rPr sz="1700" b="0" i="0">
                <a:solidFill>
                  <a:srgbClr val="E3E9F4"/>
                </a:solidFill>
                <a:latin typeface="Consolas"/>
              </a:rPr>
              <a:t>solde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8C54A"/>
                </a:solidFill>
                <a:latin typeface="Consolas"/>
              </a:rPr>
              <a:t>50000</a:t>
            </a:r>
            <a:r>
              <a:rPr sz="1700" b="0" i="0">
                <a:solidFill>
                  <a:srgbClr val="E3E9F4"/>
                </a:solidFill>
                <a:latin typeface="Consolas"/>
              </a:rPr>
              <a:t>;</a:t>
            </a:r>
            <a:r>
              <a:rPr sz="1700" b="0" i="0">
                <a:solidFill>
                  <a:srgbClr val="E3E9F4"/>
                </a:solidFill>
                <a:latin typeface="Consolas"/>
              </a:rPr>
              <a:t> </a:t>
            </a:r>
            <a:r>
              <a:rPr sz="1700" b="0" i="0">
                <a:solidFill>
                  <a:srgbClr val="5C6A87"/>
                </a:solidFill>
                <a:latin typeface="Consolas"/>
              </a:rPr>
              <a:t>// rien ne l'empêche !</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7 — Encapsulation</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54</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private : la solution</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CompteBancaire</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private</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solde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deposer</a:t>
            </a:r>
            <a:r>
              <a:rPr sz="1700" b="0" i="0">
                <a:solidFill>
                  <a:srgbClr val="E3E9F4"/>
                </a:solidFill>
                <a:latin typeface="Consolas"/>
              </a:rPr>
              <a:t>(</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montant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if</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montant</a:t>
            </a:r>
            <a:r>
              <a:rPr sz="1700" b="0" i="0">
                <a:solidFill>
                  <a:srgbClr val="E3E9F4"/>
                </a:solidFill>
                <a:latin typeface="Consolas"/>
              </a:rPr>
              <a:t> </a:t>
            </a:r>
            <a:r>
              <a:rPr sz="1700" b="0" i="0">
                <a:solidFill>
                  <a:srgbClr val="E3E9F4"/>
                </a:solidFill>
                <a:latin typeface="Consolas"/>
              </a:rPr>
              <a:t>&gt;</a:t>
            </a:r>
            <a:r>
              <a:rPr sz="1700" b="0" i="0">
                <a:solidFill>
                  <a:srgbClr val="E3E9F4"/>
                </a:solidFill>
                <a:latin typeface="Consolas"/>
              </a:rPr>
              <a:t> </a:t>
            </a:r>
            <a:r>
              <a:rPr sz="1700" b="0" i="0">
                <a:solidFill>
                  <a:srgbClr val="E8C54A"/>
                </a:solidFill>
                <a:latin typeface="Consolas"/>
              </a:rPr>
              <a:t>0</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solde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montant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getSolde</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return</a:t>
            </a:r>
            <a:r>
              <a:rPr sz="1700" b="0" i="0">
                <a:solidFill>
                  <a:srgbClr val="E3E9F4"/>
                </a:solidFill>
                <a:latin typeface="Consolas"/>
              </a:rPr>
              <a:t> </a:t>
            </a:r>
            <a:r>
              <a:rPr sz="1700" b="0" i="0">
                <a:solidFill>
                  <a:srgbClr val="E3E9F4"/>
                </a:solidFill>
                <a:latin typeface="Consolas"/>
              </a:rPr>
              <a:t>solde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Exemple exact de la consigne du cours.</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7 — Encapsulation</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Getter, setter, accesseurs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Getter</a:t>
            </a:r>
          </a:p>
        </p:txBody>
      </p:sp>
      <p:sp>
        <p:nvSpPr>
          <p:cNvPr id="9" name="TextBox 8"/>
          <p:cNvSpPr txBox="1"/>
          <p:nvPr/>
        </p:nvSpPr>
        <p:spPr>
          <a:xfrm>
            <a:off x="868680"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Méthode publique qui LIT la valeur d'un attribut privé, sans la modifier.</a:t>
            </a:r>
          </a:p>
        </p:txBody>
      </p:sp>
      <p:sp>
        <p:nvSpPr>
          <p:cNvPr id="10" name="Rectangle 9"/>
          <p:cNvSpPr/>
          <p:nvPr/>
        </p:nvSpPr>
        <p:spPr>
          <a:xfrm>
            <a:off x="4383938"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600200"/>
            <a:ext cx="3423818" cy="73152"/>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2538"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Setter</a:t>
            </a:r>
          </a:p>
        </p:txBody>
      </p:sp>
      <p:sp>
        <p:nvSpPr>
          <p:cNvPr id="13" name="TextBox 12"/>
          <p:cNvSpPr txBox="1"/>
          <p:nvPr/>
        </p:nvSpPr>
        <p:spPr>
          <a:xfrm>
            <a:off x="4612538"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Méthode publique qui MODIFIE un attribut privé, idéalement avec validation.</a:t>
            </a:r>
          </a:p>
        </p:txBody>
      </p:sp>
      <p:sp>
        <p:nvSpPr>
          <p:cNvPr id="14" name="Rectangle 13"/>
          <p:cNvSpPr/>
          <p:nvPr/>
        </p:nvSpPr>
        <p:spPr>
          <a:xfrm>
            <a:off x="8127797"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7797"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397"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private/public</a:t>
            </a:r>
          </a:p>
        </p:txBody>
      </p:sp>
      <p:sp>
        <p:nvSpPr>
          <p:cNvPr id="17" name="TextBox 16"/>
          <p:cNvSpPr txBox="1"/>
          <p:nvPr/>
        </p:nvSpPr>
        <p:spPr>
          <a:xfrm>
            <a:off x="8356397"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private = accessible seulement dans la classe ; public = accessible partout.</a:t>
            </a:r>
          </a:p>
        </p:txBody>
      </p:sp>
      <p:sp>
        <p:nvSpPr>
          <p:cNvPr id="18" name="TextBox 1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9" name="TextBox 1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7 — Encapsulation</a:t>
            </a:r>
          </a:p>
        </p:txBody>
      </p:sp>
      <p:sp>
        <p:nvSpPr>
          <p:cNvPr id="20" name="TextBox 1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56</a:t>
            </a:r>
          </a:p>
        </p:txBody>
      </p:sp>
      <p:sp>
        <p:nvSpPr>
          <p:cNvPr id="21" name="Rectangle 2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Pourquoi cette approche est meilleure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 setter qui valide GARANTIT qu'aucun objet incohérent ne peut jamais exister</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Le constructeur doit réutiliser les setters, jamais les contourner en assignant l'attribut directement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 attribut sans setter (souvent final) devient immuable après création (ex : un identifiant)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7 — Encapsulation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Un setter qui ne valide rien n'apporte presque aucun bénéfice par rapport à un attribut public</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Le constructeur contourne le setter en assignant directement l'attribut : aucune validation appliquée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7 — Encapsulation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7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Encapsuler une classe existante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Cette classe n'est pas encapsulée : public class Produit { public String nom; public double prix; }. Rendez ses attributs privés, ajoutez des getters, et un setter setPrix() qui refuse tout prix négatif.</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7 — Encapsulation</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59</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Encapsulation = attributs private + méthodes publiques contrôlées</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 setter n'a de valeur que s'il valide réellement les données</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Le constructeur doit réutiliser les setters, jamais les contourner</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7 — Encapsulation</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60</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8</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Modificateurs d'accès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private, default, protected, public — qui peut voir quoi</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8 — Modificateurs d'accès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8</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Les 4 niveaux de visibilité</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911535" cy="2834640"/>
        </p:xfrm>
        <a:graphic>
          <a:graphicData uri="http://schemas.openxmlformats.org/drawingml/2006/table">
            <a:tbl>
              <a:tblPr firstRow="1" bandRow="1">
                <a:tableStyleId>{5C22544A-7EE6-4342-B048-85BDC9FD1C3A}</a:tableStyleId>
              </a:tblPr>
              <a:tblGrid>
                <a:gridCol w="2182307"/>
                <a:gridCol w="2182307"/>
                <a:gridCol w="2182307"/>
                <a:gridCol w="2182307"/>
                <a:gridCol w="2182307"/>
              </a:tblGrid>
              <a:tr h="566928">
                <a:tc>
                  <a:txBody>
                    <a:bodyPr wrap="square"/>
                    <a:lstStyle/>
                    <a:p>
                      <a:pPr algn="l"/>
                      <a:r>
                        <a:rPr sz="1400" b="1" i="0">
                          <a:solidFill>
                            <a:srgbClr val="0B1220"/>
                          </a:solidFill>
                          <a:latin typeface="Segoe UI"/>
                        </a:rPr>
                        <a:t>Modificateur</a:t>
                      </a:r>
                    </a:p>
                  </a:txBody>
                  <a:tcPr marT="50800" marB="50800" marL="127000" marR="127000">
                    <a:solidFill>
                      <a:srgbClr val="F28C28"/>
                    </a:solidFill>
                  </a:tcPr>
                </a:tc>
                <a:tc>
                  <a:txBody>
                    <a:bodyPr wrap="square"/>
                    <a:lstStyle/>
                    <a:p>
                      <a:pPr algn="l"/>
                      <a:r>
                        <a:rPr sz="1400" b="1" i="0">
                          <a:solidFill>
                            <a:srgbClr val="0B1220"/>
                          </a:solidFill>
                          <a:latin typeface="Segoe UI"/>
                        </a:rPr>
                        <a:t>Classe</a:t>
                      </a:r>
                    </a:p>
                  </a:txBody>
                  <a:tcPr marT="50800" marB="50800" marL="127000" marR="127000">
                    <a:solidFill>
                      <a:srgbClr val="F28C28"/>
                    </a:solidFill>
                  </a:tcPr>
                </a:tc>
                <a:tc>
                  <a:txBody>
                    <a:bodyPr wrap="square"/>
                    <a:lstStyle/>
                    <a:p>
                      <a:pPr algn="l"/>
                      <a:r>
                        <a:rPr sz="1400" b="1" i="0">
                          <a:solidFill>
                            <a:srgbClr val="0B1220"/>
                          </a:solidFill>
                          <a:latin typeface="Segoe UI"/>
                        </a:rPr>
                        <a:t>Package</a:t>
                      </a:r>
                    </a:p>
                  </a:txBody>
                  <a:tcPr marT="50800" marB="50800" marL="127000" marR="127000">
                    <a:solidFill>
                      <a:srgbClr val="F28C28"/>
                    </a:solidFill>
                  </a:tcPr>
                </a:tc>
                <a:tc>
                  <a:txBody>
                    <a:bodyPr wrap="square"/>
                    <a:lstStyle/>
                    <a:p>
                      <a:pPr algn="l"/>
                      <a:r>
                        <a:rPr sz="1400" b="1" i="0">
                          <a:solidFill>
                            <a:srgbClr val="0B1220"/>
                          </a:solidFill>
                          <a:latin typeface="Segoe UI"/>
                        </a:rPr>
                        <a:t>Sous-classe</a:t>
                      </a:r>
                    </a:p>
                  </a:txBody>
                  <a:tcPr marT="50800" marB="50800" marL="127000" marR="127000">
                    <a:solidFill>
                      <a:srgbClr val="F28C28"/>
                    </a:solidFill>
                  </a:tcPr>
                </a:tc>
                <a:tc>
                  <a:txBody>
                    <a:bodyPr wrap="square"/>
                    <a:lstStyle/>
                    <a:p>
                      <a:pPr algn="l"/>
                      <a:r>
                        <a:rPr sz="1400" b="1" i="0">
                          <a:solidFill>
                            <a:srgbClr val="0B1220"/>
                          </a:solidFill>
                          <a:latin typeface="Segoe UI"/>
                        </a:rPr>
                        <a:t>Partout</a:t>
                      </a:r>
                    </a:p>
                  </a:txBody>
                  <a:tcPr marT="50800" marB="50800" marL="127000" marR="127000">
                    <a:solidFill>
                      <a:srgbClr val="F28C28"/>
                    </a:solidFill>
                  </a:tcPr>
                </a:tc>
              </a:tr>
              <a:tr h="566928">
                <a:tc>
                  <a:txBody>
                    <a:bodyPr wrap="square"/>
                    <a:lstStyle/>
                    <a:p>
                      <a:r>
                        <a:rPr sz="1350" b="1" i="0">
                          <a:solidFill>
                            <a:srgbClr val="ECF0F7"/>
                          </a:solidFill>
                          <a:latin typeface="Segoe UI"/>
                        </a:rPr>
                        <a:t>private</a:t>
                      </a:r>
                    </a:p>
                  </a:txBody>
                  <a:tcPr marT="50800" marB="50800" marL="127000" marR="127000">
                    <a:solidFill>
                      <a:srgbClr val="121C32"/>
                    </a:solidFill>
                  </a:tcPr>
                </a:tc>
                <a:tc>
                  <a:txBody>
                    <a:bodyPr wrap="square"/>
                    <a:lstStyle/>
                    <a:p>
                      <a:r>
                        <a:rPr sz="1350" b="0" i="0">
                          <a:solidFill>
                            <a:srgbClr val="ECF0F7"/>
                          </a:solidFill>
                          <a:latin typeface="Segoe UI"/>
                        </a:rPr>
                        <a:t>✓</a:t>
                      </a:r>
                    </a:p>
                  </a:txBody>
                  <a:tcPr marT="50800" marB="50800" marL="127000" marR="127000">
                    <a:solidFill>
                      <a:srgbClr val="121C32"/>
                    </a:solidFill>
                  </a:tcPr>
                </a:tc>
                <a:tc>
                  <a:txBody>
                    <a:bodyPr wrap="square"/>
                    <a:lstStyle/>
                    <a:p>
                      <a:r>
                        <a:rPr sz="1350" b="0" i="0">
                          <a:solidFill>
                            <a:srgbClr val="ECF0F7"/>
                          </a:solidFill>
                          <a:latin typeface="Segoe UI"/>
                        </a:rPr>
                        <a:t/>
                      </a:r>
                    </a:p>
                  </a:txBody>
                  <a:tcPr marT="50800" marB="50800" marL="127000" marR="127000">
                    <a:solidFill>
                      <a:srgbClr val="121C32"/>
                    </a:solidFill>
                  </a:tcPr>
                </a:tc>
                <a:tc>
                  <a:txBody>
                    <a:bodyPr wrap="square"/>
                    <a:lstStyle/>
                    <a:p>
                      <a:r>
                        <a:rPr sz="1350" b="0" i="0">
                          <a:solidFill>
                            <a:srgbClr val="ECF0F7"/>
                          </a:solidFill>
                          <a:latin typeface="Segoe UI"/>
                        </a:rPr>
                        <a:t/>
                      </a:r>
                    </a:p>
                  </a:txBody>
                  <a:tcPr marT="50800" marB="50800" marL="127000" marR="127000">
                    <a:solidFill>
                      <a:srgbClr val="121C32"/>
                    </a:solidFill>
                  </a:tcPr>
                </a:tc>
                <a:tc>
                  <a:txBody>
                    <a:bodyPr wrap="square"/>
                    <a:lstStyle/>
                    <a:p>
                      <a:r>
                        <a:rPr sz="1350" b="0" i="0">
                          <a:solidFill>
                            <a:srgbClr val="ECF0F7"/>
                          </a:solidFill>
                          <a:latin typeface="Segoe UI"/>
                        </a:rPr>
                        <a:t/>
                      </a:r>
                    </a:p>
                  </a:txBody>
                  <a:tcPr marT="50800" marB="50800" marL="127000" marR="127000">
                    <a:solidFill>
                      <a:srgbClr val="121C32"/>
                    </a:solidFill>
                  </a:tcPr>
                </a:tc>
              </a:tr>
              <a:tr h="566928">
                <a:tc>
                  <a:txBody>
                    <a:bodyPr wrap="square"/>
                    <a:lstStyle/>
                    <a:p>
                      <a:r>
                        <a:rPr sz="1350" b="1" i="0">
                          <a:solidFill>
                            <a:srgbClr val="ECF0F7"/>
                          </a:solidFill>
                          <a:latin typeface="Segoe UI"/>
                        </a:rPr>
                        <a:t>default (aucun mot-clé)</a:t>
                      </a:r>
                    </a:p>
                  </a:txBody>
                  <a:tcPr marT="50800" marB="50800" marL="127000" marR="127000">
                    <a:solidFill>
                      <a:srgbClr val="0B1220"/>
                    </a:solidFill>
                  </a:tcPr>
                </a:tc>
                <a:tc>
                  <a:txBody>
                    <a:bodyPr wrap="square"/>
                    <a:lstStyle/>
                    <a:p>
                      <a:r>
                        <a:rPr sz="1350" b="0" i="0">
                          <a:solidFill>
                            <a:srgbClr val="ECF0F7"/>
                          </a:solidFill>
                          <a:latin typeface="Segoe UI"/>
                        </a:rPr>
                        <a:t>✓</a:t>
                      </a:r>
                    </a:p>
                  </a:txBody>
                  <a:tcPr marT="50800" marB="50800" marL="127000" marR="127000">
                    <a:solidFill>
                      <a:srgbClr val="0B1220"/>
                    </a:solidFill>
                  </a:tcPr>
                </a:tc>
                <a:tc>
                  <a:txBody>
                    <a:bodyPr wrap="square"/>
                    <a:lstStyle/>
                    <a:p>
                      <a:r>
                        <a:rPr sz="1350" b="0" i="0">
                          <a:solidFill>
                            <a:srgbClr val="ECF0F7"/>
                          </a:solidFill>
                          <a:latin typeface="Segoe UI"/>
                        </a:rPr>
                        <a:t>✓</a:t>
                      </a:r>
                    </a:p>
                  </a:txBody>
                  <a:tcPr marT="50800" marB="50800" marL="127000" marR="127000">
                    <a:solidFill>
                      <a:srgbClr val="0B1220"/>
                    </a:solidFill>
                  </a:tcPr>
                </a:tc>
                <a:tc>
                  <a:txBody>
                    <a:bodyPr wrap="square"/>
                    <a:lstStyle/>
                    <a:p>
                      <a:r>
                        <a:rPr sz="1350" b="0" i="0">
                          <a:solidFill>
                            <a:srgbClr val="ECF0F7"/>
                          </a:solidFill>
                          <a:latin typeface="Segoe UI"/>
                        </a:rPr>
                        <a:t/>
                      </a:r>
                    </a:p>
                  </a:txBody>
                  <a:tcPr marT="50800" marB="50800" marL="127000" marR="127000">
                    <a:solidFill>
                      <a:srgbClr val="0B1220"/>
                    </a:solidFill>
                  </a:tcPr>
                </a:tc>
                <a:tc>
                  <a:txBody>
                    <a:bodyPr wrap="square"/>
                    <a:lstStyle/>
                    <a:p>
                      <a:r>
                        <a:rPr sz="1350" b="0" i="0">
                          <a:solidFill>
                            <a:srgbClr val="ECF0F7"/>
                          </a:solidFill>
                          <a:latin typeface="Segoe UI"/>
                        </a:rPr>
                        <a:t/>
                      </a:r>
                    </a:p>
                  </a:txBody>
                  <a:tcPr marT="50800" marB="50800" marL="127000" marR="127000">
                    <a:solidFill>
                      <a:srgbClr val="0B1220"/>
                    </a:solidFill>
                  </a:tcPr>
                </a:tc>
              </a:tr>
              <a:tr h="566928">
                <a:tc>
                  <a:txBody>
                    <a:bodyPr wrap="square"/>
                    <a:lstStyle/>
                    <a:p>
                      <a:r>
                        <a:rPr sz="1350" b="1" i="0">
                          <a:solidFill>
                            <a:srgbClr val="ECF0F7"/>
                          </a:solidFill>
                          <a:latin typeface="Segoe UI"/>
                        </a:rPr>
                        <a:t>protected</a:t>
                      </a:r>
                    </a:p>
                  </a:txBody>
                  <a:tcPr marT="50800" marB="50800" marL="127000" marR="127000">
                    <a:solidFill>
                      <a:srgbClr val="121C32"/>
                    </a:solidFill>
                  </a:tcPr>
                </a:tc>
                <a:tc>
                  <a:txBody>
                    <a:bodyPr wrap="square"/>
                    <a:lstStyle/>
                    <a:p>
                      <a:r>
                        <a:rPr sz="1350" b="0" i="0">
                          <a:solidFill>
                            <a:srgbClr val="ECF0F7"/>
                          </a:solidFill>
                          <a:latin typeface="Segoe UI"/>
                        </a:rPr>
                        <a:t>✓</a:t>
                      </a:r>
                    </a:p>
                  </a:txBody>
                  <a:tcPr marT="50800" marB="50800" marL="127000" marR="127000">
                    <a:solidFill>
                      <a:srgbClr val="121C32"/>
                    </a:solidFill>
                  </a:tcPr>
                </a:tc>
                <a:tc>
                  <a:txBody>
                    <a:bodyPr wrap="square"/>
                    <a:lstStyle/>
                    <a:p>
                      <a:r>
                        <a:rPr sz="1350" b="0" i="0">
                          <a:solidFill>
                            <a:srgbClr val="ECF0F7"/>
                          </a:solidFill>
                          <a:latin typeface="Segoe UI"/>
                        </a:rPr>
                        <a:t>✓</a:t>
                      </a:r>
                    </a:p>
                  </a:txBody>
                  <a:tcPr marT="50800" marB="50800" marL="127000" marR="127000">
                    <a:solidFill>
                      <a:srgbClr val="121C32"/>
                    </a:solidFill>
                  </a:tcPr>
                </a:tc>
                <a:tc>
                  <a:txBody>
                    <a:bodyPr wrap="square"/>
                    <a:lstStyle/>
                    <a:p>
                      <a:r>
                        <a:rPr sz="1350" b="0" i="0">
                          <a:solidFill>
                            <a:srgbClr val="ECF0F7"/>
                          </a:solidFill>
                          <a:latin typeface="Segoe UI"/>
                        </a:rPr>
                        <a:t>✓</a:t>
                      </a:r>
                    </a:p>
                  </a:txBody>
                  <a:tcPr marT="50800" marB="50800" marL="127000" marR="127000">
                    <a:solidFill>
                      <a:srgbClr val="121C32"/>
                    </a:solidFill>
                  </a:tcPr>
                </a:tc>
                <a:tc>
                  <a:txBody>
                    <a:bodyPr wrap="square"/>
                    <a:lstStyle/>
                    <a:p>
                      <a:r>
                        <a:rPr sz="1350" b="0" i="0">
                          <a:solidFill>
                            <a:srgbClr val="ECF0F7"/>
                          </a:solidFill>
                          <a:latin typeface="Segoe UI"/>
                        </a:rPr>
                        <a:t/>
                      </a:r>
                    </a:p>
                  </a:txBody>
                  <a:tcPr marT="50800" marB="50800" marL="127000" marR="127000">
                    <a:solidFill>
                      <a:srgbClr val="121C32"/>
                    </a:solidFill>
                  </a:tcPr>
                </a:tc>
              </a:tr>
              <a:tr h="566928">
                <a:tc>
                  <a:txBody>
                    <a:bodyPr wrap="square"/>
                    <a:lstStyle/>
                    <a:p>
                      <a:r>
                        <a:rPr sz="1350" b="1" i="0">
                          <a:solidFill>
                            <a:srgbClr val="ECF0F7"/>
                          </a:solidFill>
                          <a:latin typeface="Segoe UI"/>
                        </a:rPr>
                        <a:t>public</a:t>
                      </a:r>
                    </a:p>
                  </a:txBody>
                  <a:tcPr marT="50800" marB="50800" marL="127000" marR="127000">
                    <a:solidFill>
                      <a:srgbClr val="0B1220"/>
                    </a:solidFill>
                  </a:tcPr>
                </a:tc>
                <a:tc>
                  <a:txBody>
                    <a:bodyPr wrap="square"/>
                    <a:lstStyle/>
                    <a:p>
                      <a:r>
                        <a:rPr sz="1350" b="0" i="0">
                          <a:solidFill>
                            <a:srgbClr val="ECF0F7"/>
                          </a:solidFill>
                          <a:latin typeface="Segoe UI"/>
                        </a:rPr>
                        <a:t>✓</a:t>
                      </a:r>
                    </a:p>
                  </a:txBody>
                  <a:tcPr marT="50800" marB="50800" marL="127000" marR="127000">
                    <a:solidFill>
                      <a:srgbClr val="0B1220"/>
                    </a:solidFill>
                  </a:tcPr>
                </a:tc>
                <a:tc>
                  <a:txBody>
                    <a:bodyPr wrap="square"/>
                    <a:lstStyle/>
                    <a:p>
                      <a:r>
                        <a:rPr sz="1350" b="0" i="0">
                          <a:solidFill>
                            <a:srgbClr val="ECF0F7"/>
                          </a:solidFill>
                          <a:latin typeface="Segoe UI"/>
                        </a:rPr>
                        <a:t>✓</a:t>
                      </a:r>
                    </a:p>
                  </a:txBody>
                  <a:tcPr marT="50800" marB="50800" marL="127000" marR="127000">
                    <a:solidFill>
                      <a:srgbClr val="0B1220"/>
                    </a:solidFill>
                  </a:tcPr>
                </a:tc>
                <a:tc>
                  <a:txBody>
                    <a:bodyPr wrap="square"/>
                    <a:lstStyle/>
                    <a:p>
                      <a:r>
                        <a:rPr sz="1350" b="0" i="0">
                          <a:solidFill>
                            <a:srgbClr val="ECF0F7"/>
                          </a:solidFill>
                          <a:latin typeface="Segoe UI"/>
                        </a:rPr>
                        <a:t>✓</a:t>
                      </a:r>
                    </a:p>
                  </a:txBody>
                  <a:tcPr marT="50800" marB="50800" marL="127000" marR="127000">
                    <a:solidFill>
                      <a:srgbClr val="0B1220"/>
                    </a:solidFill>
                  </a:tcPr>
                </a:tc>
                <a:tc>
                  <a:txBody>
                    <a:bodyPr wrap="square"/>
                    <a:lstStyle/>
                    <a:p>
                      <a:r>
                        <a:rPr sz="1350" b="0" i="0">
                          <a:solidFill>
                            <a:srgbClr val="ECF0F7"/>
                          </a:solidFill>
                          <a:latin typeface="Segoe UI"/>
                        </a:rPr>
                        <a:t>✓</a:t>
                      </a:r>
                    </a:p>
                  </a:txBody>
                  <a:tcPr marT="50800" marB="50800" marL="127000" marR="127000">
                    <a:solidFill>
                      <a:srgbClr val="0B1220"/>
                    </a:solidFill>
                  </a:tcPr>
                </a:tc>
              </a:tr>
            </a:tbl>
          </a:graphicData>
        </a:graphic>
      </p:graphicFrame>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8 — Modificateurs d'accès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62</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8</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Choisir le bon modificateur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public</a:t>
            </a:r>
            <a:r>
              <a:rPr sz="1500" b="0" i="0">
                <a:solidFill>
                  <a:srgbClr val="E3E9F4"/>
                </a:solidFill>
                <a:latin typeface="Consolas"/>
              </a:rPr>
              <a:t> </a:t>
            </a:r>
            <a:r>
              <a:rPr sz="1500" b="0" i="0">
                <a:solidFill>
                  <a:srgbClr val="F28C28"/>
                </a:solidFill>
                <a:latin typeface="Consolas"/>
              </a:rPr>
              <a:t>class</a:t>
            </a:r>
            <a:r>
              <a:rPr sz="1500" b="0" i="0">
                <a:solidFill>
                  <a:srgbClr val="E3E9F4"/>
                </a:solidFill>
                <a:latin typeface="Consolas"/>
              </a:rPr>
              <a:t> </a:t>
            </a:r>
            <a:r>
              <a:rPr sz="1500" b="0" i="0">
                <a:solidFill>
                  <a:srgbClr val="E3E9F4"/>
                </a:solidFill>
                <a:latin typeface="Consolas"/>
              </a:rPr>
              <a:t>Employe</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private</a:t>
            </a:r>
            <a:r>
              <a:rPr sz="1500" b="0" i="0">
                <a:solidFill>
                  <a:srgbClr val="E3E9F4"/>
                </a:solidFill>
                <a:latin typeface="Consolas"/>
              </a:rPr>
              <a:t> </a:t>
            </a:r>
            <a:r>
              <a:rPr sz="1500" b="0" i="0">
                <a:solidFill>
                  <a:srgbClr val="F28C28"/>
                </a:solidFill>
                <a:latin typeface="Consolas"/>
              </a:rPr>
              <a:t>double</a:t>
            </a:r>
            <a:r>
              <a:rPr sz="1500" b="0" i="0">
                <a:solidFill>
                  <a:srgbClr val="E3E9F4"/>
                </a:solidFill>
                <a:latin typeface="Consolas"/>
              </a:rPr>
              <a:t> </a:t>
            </a:r>
            <a:r>
              <a:rPr sz="1500" b="0" i="0">
                <a:solidFill>
                  <a:srgbClr val="E3E9F4"/>
                </a:solidFill>
                <a:latin typeface="Consolas"/>
              </a:rPr>
              <a:t>salaire</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jamais depuis l'extérieur</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protected</a:t>
            </a:r>
            <a:r>
              <a:rPr sz="1500" b="0" i="0">
                <a:solidFill>
                  <a:srgbClr val="E3E9F4"/>
                </a:solidFill>
                <a:latin typeface="Consolas"/>
              </a:rPr>
              <a:t> </a:t>
            </a:r>
            <a:r>
              <a:rPr sz="1500" b="0" i="0">
                <a:solidFill>
                  <a:srgbClr val="F28C28"/>
                </a:solidFill>
                <a:latin typeface="Consolas"/>
              </a:rPr>
              <a:t>String</a:t>
            </a:r>
            <a:r>
              <a:rPr sz="1500" b="0" i="0">
                <a:solidFill>
                  <a:srgbClr val="E3E9F4"/>
                </a:solidFill>
                <a:latin typeface="Consolas"/>
              </a:rPr>
              <a:t> </a:t>
            </a:r>
            <a:r>
              <a:rPr sz="1500" b="0" i="0">
                <a:solidFill>
                  <a:srgbClr val="E3E9F4"/>
                </a:solidFill>
                <a:latin typeface="Consolas"/>
              </a:rPr>
              <a:t>matricule</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visible des sous-classes</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public</a:t>
            </a:r>
            <a:r>
              <a:rPr sz="1500" b="0" i="0">
                <a:solidFill>
                  <a:srgbClr val="E3E9F4"/>
                </a:solidFill>
                <a:latin typeface="Consolas"/>
              </a:rPr>
              <a:t> </a:t>
            </a:r>
            <a:r>
              <a:rPr sz="1500" b="0" i="0">
                <a:solidFill>
                  <a:srgbClr val="F28C28"/>
                </a:solidFill>
                <a:latin typeface="Consolas"/>
              </a:rPr>
              <a:t>String</a:t>
            </a:r>
            <a:r>
              <a:rPr sz="1500" b="0" i="0">
                <a:solidFill>
                  <a:srgbClr val="E3E9F4"/>
                </a:solidFill>
                <a:latin typeface="Consolas"/>
              </a:rPr>
              <a:t> </a:t>
            </a:r>
            <a:r>
              <a:rPr sz="1500" b="0" i="0">
                <a:solidFill>
                  <a:srgbClr val="E3E9F4"/>
                </a:solidFill>
                <a:latin typeface="Consolas"/>
              </a:rPr>
              <a:t>nom</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accessible partout (à éviter si possible)</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Règle générale : commencer le plus restrictif possible (private), n'élargir que si nécessaire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Un attribut public perd tout le bénéfice de l'encapsulation (Module 7)</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8 — Modificateurs d'accès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63</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8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Choisir la visibilité</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Pour une classe CompteBancaire : quel modificateur donneriez-vous à solde, à un futur attribut partagé par toute une hiérarchie de comptes, et à une méthode consulterSolde() destinée à tous les appelants ?</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8 — Modificateurs d'accès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64</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8</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private ⊂ default ⊂ protected ⊂ public, du plus au moins restrictif</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Toujours partir du plus restrictif, élargir seulement si un vrai besoin l'exige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8 — Modificateurs d'accès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65</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9</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Static</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Membre de classe vs membre d'instance — complément pédagogique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9 — Static</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66</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9 — COMPLÉMENT PÉDAGOGIQUE</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problème : une info partagée par TOUS les objets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Chaque objet Livre ne connaît que SON PROPRE état (disponible)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Aucun livre, à lui seul, ne peut compter le nombre total d'emprunts sur TOUTE la bibliothèque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Il faut une donnée qui n'appartient à AUCUN objet précis, mais à la classe elle-même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9 — Static</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Attribut static : exemple du prompt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Compteur</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static</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nombreObjets</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8C54A"/>
                </a:solidFill>
                <a:latin typeface="Consolas"/>
              </a:rPr>
              <a:t>0</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Compteur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nombreObjets</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nombreObjets est PARTAGÉ par tous les objets Compteur — un seul exemplaire, jamais dupliqué.</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9 — Static</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68</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Membre d'instance vs membre de classe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911534" cy="2267712"/>
        </p:xfrm>
        <a:graphic>
          <a:graphicData uri="http://schemas.openxmlformats.org/drawingml/2006/table">
            <a:tbl>
              <a:tblPr firstRow="1" bandRow="1">
                <a:tableStyleId>{5C22544A-7EE6-4342-B048-85BDC9FD1C3A}</a:tableStyleId>
              </a:tblPr>
              <a:tblGrid>
                <a:gridCol w="3637178"/>
                <a:gridCol w="3637178"/>
                <a:gridCol w="3637178"/>
              </a:tblGrid>
              <a:tr h="566928">
                <a:tc>
                  <a:txBody>
                    <a:bodyPr wrap="square"/>
                    <a:lstStyle/>
                    <a:p>
                      <a:pPr algn="l"/>
                      <a:r>
                        <a:rPr sz="1400" b="1" i="0">
                          <a:solidFill>
                            <a:srgbClr val="0B1220"/>
                          </a:solidFill>
                          <a:latin typeface="Segoe UI"/>
                        </a:rPr>
                        <a:t/>
                      </a:r>
                    </a:p>
                  </a:txBody>
                  <a:tcPr marT="50800" marB="50800" marL="127000" marR="127000">
                    <a:solidFill>
                      <a:srgbClr val="F28C28"/>
                    </a:solidFill>
                  </a:tcPr>
                </a:tc>
                <a:tc>
                  <a:txBody>
                    <a:bodyPr wrap="square"/>
                    <a:lstStyle/>
                    <a:p>
                      <a:pPr algn="l"/>
                      <a:r>
                        <a:rPr sz="1400" b="1" i="0">
                          <a:solidFill>
                            <a:srgbClr val="0B1220"/>
                          </a:solidFill>
                          <a:latin typeface="Segoe UI"/>
                        </a:rPr>
                        <a:t>Membre d'instance</a:t>
                      </a:r>
                    </a:p>
                  </a:txBody>
                  <a:tcPr marT="50800" marB="50800" marL="127000" marR="127000">
                    <a:solidFill>
                      <a:srgbClr val="F28C28"/>
                    </a:solidFill>
                  </a:tcPr>
                </a:tc>
                <a:tc>
                  <a:txBody>
                    <a:bodyPr wrap="square"/>
                    <a:lstStyle/>
                    <a:p>
                      <a:pPr algn="l"/>
                      <a:r>
                        <a:rPr sz="1400" b="1" i="0">
                          <a:solidFill>
                            <a:srgbClr val="0B1220"/>
                          </a:solidFill>
                          <a:latin typeface="Segoe UI"/>
                        </a:rPr>
                        <a:t>Membre static (de classe)</a:t>
                      </a:r>
                    </a:p>
                  </a:txBody>
                  <a:tcPr marT="50800" marB="50800" marL="127000" marR="127000">
                    <a:solidFill>
                      <a:srgbClr val="F28C28"/>
                    </a:solidFill>
                  </a:tcPr>
                </a:tc>
              </a:tr>
              <a:tr h="566928">
                <a:tc>
                  <a:txBody>
                    <a:bodyPr wrap="square"/>
                    <a:lstStyle/>
                    <a:p>
                      <a:r>
                        <a:rPr sz="1350" b="1" i="0">
                          <a:solidFill>
                            <a:srgbClr val="ECF0F7"/>
                          </a:solidFill>
                          <a:latin typeface="Segoe UI"/>
                        </a:rPr>
                        <a:t>Combien d'exemplaires ?</a:t>
                      </a:r>
                    </a:p>
                  </a:txBody>
                  <a:tcPr marT="50800" marB="50800" marL="127000" marR="127000">
                    <a:solidFill>
                      <a:srgbClr val="121C32"/>
                    </a:solidFill>
                  </a:tcPr>
                </a:tc>
                <a:tc>
                  <a:txBody>
                    <a:bodyPr wrap="square"/>
                    <a:lstStyle/>
                    <a:p>
                      <a:r>
                        <a:rPr sz="1350" b="0" i="0">
                          <a:solidFill>
                            <a:srgbClr val="ECF0F7"/>
                          </a:solidFill>
                          <a:latin typeface="Segoe UI"/>
                        </a:rPr>
                        <a:t>Un par objet créé</a:t>
                      </a:r>
                    </a:p>
                  </a:txBody>
                  <a:tcPr marT="50800" marB="50800" marL="127000" marR="127000">
                    <a:solidFill>
                      <a:srgbClr val="121C32"/>
                    </a:solidFill>
                  </a:tcPr>
                </a:tc>
                <a:tc>
                  <a:txBody>
                    <a:bodyPr wrap="square"/>
                    <a:lstStyle/>
                    <a:p>
                      <a:r>
                        <a:rPr sz="1350" b="0" i="0">
                          <a:solidFill>
                            <a:srgbClr val="ECF0F7"/>
                          </a:solidFill>
                          <a:latin typeface="Segoe UI"/>
                        </a:rPr>
                        <a:t>Un seul, partagé par tous</a:t>
                      </a:r>
                    </a:p>
                  </a:txBody>
                  <a:tcPr marT="50800" marB="50800" marL="127000" marR="127000">
                    <a:solidFill>
                      <a:srgbClr val="121C32"/>
                    </a:solidFill>
                  </a:tcPr>
                </a:tc>
              </a:tr>
              <a:tr h="566928">
                <a:tc>
                  <a:txBody>
                    <a:bodyPr wrap="square"/>
                    <a:lstStyle/>
                    <a:p>
                      <a:r>
                        <a:rPr sz="1350" b="1" i="0">
                          <a:solidFill>
                            <a:srgbClr val="ECF0F7"/>
                          </a:solidFill>
                          <a:latin typeface="Segoe UI"/>
                        </a:rPr>
                        <a:t>Accès</a:t>
                      </a:r>
                    </a:p>
                  </a:txBody>
                  <a:tcPr marT="50800" marB="50800" marL="127000" marR="127000">
                    <a:solidFill>
                      <a:srgbClr val="0B1220"/>
                    </a:solidFill>
                  </a:tcPr>
                </a:tc>
                <a:tc>
                  <a:txBody>
                    <a:bodyPr wrap="square"/>
                    <a:lstStyle/>
                    <a:p>
                      <a:r>
                        <a:rPr sz="1350" b="0" i="0">
                          <a:solidFill>
                            <a:srgbClr val="ECF0F7"/>
                          </a:solidFill>
                          <a:latin typeface="Segoe UI"/>
                        </a:rPr>
                        <a:t>objet.attribut</a:t>
                      </a:r>
                    </a:p>
                  </a:txBody>
                  <a:tcPr marT="50800" marB="50800" marL="127000" marR="127000">
                    <a:solidFill>
                      <a:srgbClr val="0B1220"/>
                    </a:solidFill>
                  </a:tcPr>
                </a:tc>
                <a:tc>
                  <a:txBody>
                    <a:bodyPr wrap="square"/>
                    <a:lstStyle/>
                    <a:p>
                      <a:r>
                        <a:rPr sz="1350" b="0" i="0">
                          <a:solidFill>
                            <a:srgbClr val="ECF0F7"/>
                          </a:solidFill>
                          <a:latin typeface="Segoe UI"/>
                        </a:rPr>
                        <a:t>NomClasse.attribut</a:t>
                      </a:r>
                    </a:p>
                  </a:txBody>
                  <a:tcPr marT="50800" marB="50800" marL="127000" marR="127000">
                    <a:solidFill>
                      <a:srgbClr val="0B1220"/>
                    </a:solidFill>
                  </a:tcPr>
                </a:tc>
              </a:tr>
              <a:tr h="566928">
                <a:tc>
                  <a:txBody>
                    <a:bodyPr wrap="square"/>
                    <a:lstStyle/>
                    <a:p>
                      <a:r>
                        <a:rPr sz="1350" b="1" i="0">
                          <a:solidFill>
                            <a:srgbClr val="ECF0F7"/>
                          </a:solidFill>
                          <a:latin typeface="Segoe UI"/>
                        </a:rPr>
                        <a:t>Exemple</a:t>
                      </a:r>
                    </a:p>
                  </a:txBody>
                  <a:tcPr marT="50800" marB="50800" marL="127000" marR="127000">
                    <a:solidFill>
                      <a:srgbClr val="121C32"/>
                    </a:solidFill>
                  </a:tcPr>
                </a:tc>
                <a:tc>
                  <a:txBody>
                    <a:bodyPr wrap="square"/>
                    <a:lstStyle/>
                    <a:p>
                      <a:r>
                        <a:rPr sz="1350" b="0" i="0">
                          <a:solidFill>
                            <a:srgbClr val="ECF0F7"/>
                          </a:solidFill>
                          <a:latin typeface="Segoe UI"/>
                        </a:rPr>
                        <a:t>solde d'UN compte précis</a:t>
                      </a:r>
                    </a:p>
                  </a:txBody>
                  <a:tcPr marT="50800" marB="50800" marL="127000" marR="127000">
                    <a:solidFill>
                      <a:srgbClr val="121C32"/>
                    </a:solidFill>
                  </a:tcPr>
                </a:tc>
                <a:tc>
                  <a:txBody>
                    <a:bodyPr wrap="square"/>
                    <a:lstStyle/>
                    <a:p>
                      <a:r>
                        <a:rPr sz="1350" b="0" i="0">
                          <a:solidFill>
                            <a:srgbClr val="ECF0F7"/>
                          </a:solidFill>
                          <a:latin typeface="Segoe UI"/>
                        </a:rPr>
                        <a:t>taux d'intérêt commun à tous les comptes</a:t>
                      </a:r>
                    </a:p>
                  </a:txBody>
                  <a:tcPr marT="50800" marB="50800" marL="127000" marR="127000">
                    <a:solidFill>
                      <a:srgbClr val="121C32"/>
                    </a:solidFill>
                  </a:tcPr>
                </a:tc>
              </a:tr>
            </a:tbl>
          </a:graphicData>
        </a:graphic>
      </p:graphicFrame>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9 — Static</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69</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9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Compter les objets créés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Ajoutez à une classe Etudiant un attribut static int totalEtudiants, incrémenté dans le constructeur, et une méthode static afficherTotal().</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9 — Static</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70</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static = appartient à la CLASSE elle-même, un seul exemplaire partagé</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Sans static = appartient à CHAQUE objet, une copie par instance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main() est static : c'est pourquoi il s'exécute sans créer d'objet au préalable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9 — Static</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71</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10</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Héritage</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Deuxième pilier de la POO — réutiliser et étendre le comportement d'une classe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10 — Héritage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72</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problème : dupliquer Chien et Chat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Chien et Chat ont tous les deux un nom, un âge, et savent manger, dormir</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Sans réutilisation, il faut recopier ces éléments dans CHAQUE classe animale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 bug dans manger() devrait alors être corrigé partout, séparément, au risque d'en oublier un</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10 — Héritage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10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Une hiérarchie d'animaux</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07128" y="1691640"/>
            <a:ext cx="2377440" cy="548640"/>
          </a:xfrm>
          <a:prstGeom prst="rect">
            <a:avLst/>
          </a:prstGeom>
          <a:solidFill>
            <a:srgbClr val="121C32"/>
          </a:solidFill>
          <a:ln w="19050">
            <a:solidFill>
              <a:srgbClr val="35C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07128" y="1691640"/>
            <a:ext cx="2377440" cy="548640"/>
          </a:xfrm>
          <a:prstGeom prst="rect">
            <a:avLst/>
          </a:prstGeom>
          <a:noFill/>
        </p:spPr>
        <p:txBody>
          <a:bodyPr wrap="square" anchor="ctr" lIns="0" rIns="0" tIns="0" bIns="0">
            <a:spAutoFit/>
          </a:bodyPr>
          <a:lstStyle/>
          <a:p>
            <a:pPr algn="ctr">
              <a:spcBef>
                <a:spcPts val="0"/>
              </a:spcBef>
              <a:spcAft>
                <a:spcPts val="0"/>
              </a:spcAft>
              <a:buNone/>
            </a:pPr>
            <a:r>
              <a:rPr sz="1800" b="1" i="0">
                <a:solidFill>
                  <a:srgbClr val="ECF0F7"/>
                </a:solidFill>
                <a:latin typeface="Segoe UI"/>
              </a:rPr>
              <a:t>Animal</a:t>
            </a:r>
          </a:p>
        </p:txBody>
      </p:sp>
      <p:cxnSp>
        <p:nvCxnSpPr>
          <p:cNvPr id="8" name="Connector 7"/>
          <p:cNvCxnSpPr/>
          <p:nvPr/>
        </p:nvCxnSpPr>
        <p:spPr>
          <a:xfrm>
            <a:off x="6095848" y="2240280"/>
            <a:ext cx="0" cy="320040"/>
          </a:xfrm>
          <a:prstGeom prst="line">
            <a:avLst/>
          </a:prstGeom>
          <a:ln w="25400">
            <a:solidFill>
              <a:srgbClr val="24314D"/>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769968" y="2560320"/>
            <a:ext cx="2651760" cy="254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4769968" y="2560320"/>
            <a:ext cx="0" cy="228600"/>
          </a:xfrm>
          <a:prstGeom prst="line">
            <a:avLst/>
          </a:prstGeom>
          <a:ln w="25400">
            <a:solidFill>
              <a:srgbClr val="24314D"/>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72688" y="2788920"/>
            <a:ext cx="2194560" cy="50292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72688" y="2788920"/>
            <a:ext cx="73152" cy="5029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72688" y="2788920"/>
            <a:ext cx="2194560" cy="502920"/>
          </a:xfrm>
          <a:prstGeom prst="rect">
            <a:avLst/>
          </a:prstGeom>
          <a:noFill/>
        </p:spPr>
        <p:txBody>
          <a:bodyPr wrap="square" anchor="ctr" lIns="0" rIns="0" tIns="0" bIns="0">
            <a:spAutoFit/>
          </a:bodyPr>
          <a:lstStyle/>
          <a:p>
            <a:pPr algn="ctr">
              <a:spcBef>
                <a:spcPts val="0"/>
              </a:spcBef>
              <a:spcAft>
                <a:spcPts val="0"/>
              </a:spcAft>
              <a:buNone/>
            </a:pPr>
            <a:r>
              <a:rPr sz="1500" b="1" i="0">
                <a:solidFill>
                  <a:srgbClr val="ECF0F7"/>
                </a:solidFill>
                <a:latin typeface="Segoe UI"/>
              </a:rPr>
              <a:t>Chien</a:t>
            </a:r>
          </a:p>
        </p:txBody>
      </p:sp>
      <p:cxnSp>
        <p:nvCxnSpPr>
          <p:cNvPr id="14" name="Connector 13"/>
          <p:cNvCxnSpPr/>
          <p:nvPr/>
        </p:nvCxnSpPr>
        <p:spPr>
          <a:xfrm>
            <a:off x="7421728" y="2560320"/>
            <a:ext cx="0" cy="228600"/>
          </a:xfrm>
          <a:prstGeom prst="line">
            <a:avLst/>
          </a:prstGeom>
          <a:ln w="25400">
            <a:solidFill>
              <a:srgbClr val="24314D"/>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324448" y="2788920"/>
            <a:ext cx="2194560" cy="50292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24448" y="2788920"/>
            <a:ext cx="73152" cy="5029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448" y="2788920"/>
            <a:ext cx="2194560" cy="502920"/>
          </a:xfrm>
          <a:prstGeom prst="rect">
            <a:avLst/>
          </a:prstGeom>
          <a:noFill/>
        </p:spPr>
        <p:txBody>
          <a:bodyPr wrap="square" anchor="ctr" lIns="0" rIns="0" tIns="0" bIns="0">
            <a:spAutoFit/>
          </a:bodyPr>
          <a:lstStyle/>
          <a:p>
            <a:pPr algn="ctr">
              <a:spcBef>
                <a:spcPts val="0"/>
              </a:spcBef>
              <a:spcAft>
                <a:spcPts val="0"/>
              </a:spcAft>
              <a:buNone/>
            </a:pPr>
            <a:r>
              <a:rPr sz="1500" b="1" i="0">
                <a:solidFill>
                  <a:srgbClr val="ECF0F7"/>
                </a:solidFill>
                <a:latin typeface="Segoe UI"/>
              </a:rPr>
              <a:t>Chat</a:t>
            </a:r>
          </a:p>
        </p:txBody>
      </p:sp>
      <p:sp>
        <p:nvSpPr>
          <p:cNvPr id="18" name="TextBox 1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9" name="TextBox 1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10 — Héritage</a:t>
            </a:r>
          </a:p>
        </p:txBody>
      </p:sp>
      <p:sp>
        <p:nvSpPr>
          <p:cNvPr id="20" name="TextBox 1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74</a:t>
            </a:r>
          </a:p>
        </p:txBody>
      </p:sp>
      <p:sp>
        <p:nvSpPr>
          <p:cNvPr id="21" name="Rectangle 2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10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extends : la syntaxe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Animal</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manger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"Je mange"</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Chien</a:t>
            </a:r>
            <a:r>
              <a:rPr sz="1700" b="0" i="0">
                <a:solidFill>
                  <a:srgbClr val="E3E9F4"/>
                </a:solidFill>
                <a:latin typeface="Consolas"/>
              </a:rPr>
              <a:t> </a:t>
            </a:r>
            <a:r>
              <a:rPr sz="1700" b="0" i="0">
                <a:solidFill>
                  <a:srgbClr val="F28C28"/>
                </a:solidFill>
                <a:latin typeface="Consolas"/>
              </a:rPr>
              <a:t>extends</a:t>
            </a:r>
            <a:r>
              <a:rPr sz="1700" b="0" i="0">
                <a:solidFill>
                  <a:srgbClr val="E3E9F4"/>
                </a:solidFill>
                <a:latin typeface="Consolas"/>
              </a:rPr>
              <a:t> </a:t>
            </a:r>
            <a:r>
              <a:rPr sz="1700" b="0" i="0">
                <a:solidFill>
                  <a:srgbClr val="E3E9F4"/>
                </a:solidFill>
                <a:latin typeface="Consolas"/>
              </a:rPr>
              <a:t>Animal</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aboyer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"Wouf !"</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Chien monChien = new Chien(); monChien.manger(); → hérité, jamais réécrit dans Chien.</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10 — Héritage</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super : constructeur et méthode de la classe mère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class</a:t>
            </a:r>
            <a:r>
              <a:rPr sz="1500" b="0" i="0">
                <a:solidFill>
                  <a:srgbClr val="E3E9F4"/>
                </a:solidFill>
                <a:latin typeface="Consolas"/>
              </a:rPr>
              <a:t> </a:t>
            </a:r>
            <a:r>
              <a:rPr sz="1500" b="0" i="0">
                <a:solidFill>
                  <a:srgbClr val="E3E9F4"/>
                </a:solidFill>
                <a:latin typeface="Consolas"/>
              </a:rPr>
              <a:t>Chien</a:t>
            </a:r>
            <a:r>
              <a:rPr sz="1500" b="0" i="0">
                <a:solidFill>
                  <a:srgbClr val="E3E9F4"/>
                </a:solidFill>
                <a:latin typeface="Consolas"/>
              </a:rPr>
              <a:t> </a:t>
            </a:r>
            <a:r>
              <a:rPr sz="1500" b="0" i="0">
                <a:solidFill>
                  <a:srgbClr val="F28C28"/>
                </a:solidFill>
                <a:latin typeface="Consolas"/>
              </a:rPr>
              <a:t>extends</a:t>
            </a:r>
            <a:r>
              <a:rPr sz="1500" b="0" i="0">
                <a:solidFill>
                  <a:srgbClr val="E3E9F4"/>
                </a:solidFill>
                <a:latin typeface="Consolas"/>
              </a:rPr>
              <a:t> </a:t>
            </a:r>
            <a:r>
              <a:rPr sz="1500" b="0" i="0">
                <a:solidFill>
                  <a:srgbClr val="E3E9F4"/>
                </a:solidFill>
                <a:latin typeface="Consolas"/>
              </a:rPr>
              <a:t>Animal</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Chien</a:t>
            </a:r>
            <a:r>
              <a:rPr sz="1500" b="0" i="0">
                <a:solidFill>
                  <a:srgbClr val="E3E9F4"/>
                </a:solidFill>
                <a:latin typeface="Consolas"/>
              </a:rPr>
              <a:t>(</a:t>
            </a:r>
            <a:r>
              <a:rPr sz="1500" b="0" i="0">
                <a:solidFill>
                  <a:srgbClr val="F28C28"/>
                </a:solidFill>
                <a:latin typeface="Consolas"/>
              </a:rPr>
              <a:t>String</a:t>
            </a:r>
            <a:r>
              <a:rPr sz="1500" b="0" i="0">
                <a:solidFill>
                  <a:srgbClr val="E3E9F4"/>
                </a:solidFill>
                <a:latin typeface="Consolas"/>
              </a:rPr>
              <a:t> </a:t>
            </a:r>
            <a:r>
              <a:rPr sz="1500" b="0" i="0">
                <a:solidFill>
                  <a:srgbClr val="E3E9F4"/>
                </a:solidFill>
                <a:latin typeface="Consolas"/>
              </a:rPr>
              <a:t>nom</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super</a:t>
            </a:r>
            <a:r>
              <a:rPr sz="1500" b="0" i="0">
                <a:solidFill>
                  <a:srgbClr val="E3E9F4"/>
                </a:solidFill>
                <a:latin typeface="Consolas"/>
              </a:rPr>
              <a:t>(</a:t>
            </a:r>
            <a:r>
              <a:rPr sz="1500" b="0" i="0">
                <a:solidFill>
                  <a:srgbClr val="E3E9F4"/>
                </a:solidFill>
                <a:latin typeface="Consolas"/>
              </a:rPr>
              <a:t>nom</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5C6A87"/>
                </a:solidFill>
                <a:latin typeface="Consolas"/>
              </a:rPr>
              <a:t>// 1re ligne obligatoire</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Override</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void</a:t>
            </a:r>
            <a:r>
              <a:rPr sz="1500" b="0" i="0">
                <a:solidFill>
                  <a:srgbClr val="E3E9F4"/>
                </a:solidFill>
                <a:latin typeface="Consolas"/>
              </a:rPr>
              <a:t> </a:t>
            </a:r>
            <a:r>
              <a:rPr sz="1500" b="0" i="0">
                <a:solidFill>
                  <a:srgbClr val="E3E9F4"/>
                </a:solidFill>
                <a:latin typeface="Consolas"/>
              </a:rPr>
              <a:t>manger</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super</a:t>
            </a:r>
            <a:r>
              <a:rPr sz="1500" b="0" i="0">
                <a:solidFill>
                  <a:srgbClr val="E3E9F4"/>
                </a:solidFill>
                <a:latin typeface="Consolas"/>
              </a:rPr>
              <a:t>.</a:t>
            </a:r>
            <a:r>
              <a:rPr sz="1500" b="0" i="0">
                <a:solidFill>
                  <a:srgbClr val="E3E9F4"/>
                </a:solidFill>
                <a:latin typeface="Consolas"/>
              </a:rPr>
              <a:t>manger</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5C6A87"/>
                </a:solidFill>
                <a:latin typeface="Consolas"/>
              </a:rPr>
              <a:t>// version de la classe mère</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35C7E0"/>
                </a:solidFill>
                <a:latin typeface="Consolas"/>
              </a:rPr>
              <a:t>System</a:t>
            </a:r>
            <a:r>
              <a:rPr sz="1500" b="0" i="0">
                <a:solidFill>
                  <a:srgbClr val="E3E9F4"/>
                </a:solidFill>
                <a:latin typeface="Consolas"/>
              </a:rPr>
              <a:t>.</a:t>
            </a:r>
            <a:r>
              <a:rPr sz="1500" b="0" i="0">
                <a:solidFill>
                  <a:srgbClr val="E3E9F4"/>
                </a:solidFill>
                <a:latin typeface="Consolas"/>
              </a:rPr>
              <a:t>out</a:t>
            </a:r>
            <a:r>
              <a:rPr sz="1500" b="0" i="0">
                <a:solidFill>
                  <a:srgbClr val="E3E9F4"/>
                </a:solidFill>
                <a:latin typeface="Consolas"/>
              </a:rPr>
              <a:t>.</a:t>
            </a:r>
            <a:r>
              <a:rPr sz="1500" b="0" i="0">
                <a:solidFill>
                  <a:srgbClr val="E3E9F4"/>
                </a:solidFill>
                <a:latin typeface="Consolas"/>
              </a:rPr>
              <a:t>println</a:t>
            </a:r>
            <a:r>
              <a:rPr sz="1500" b="0" i="0">
                <a:solidFill>
                  <a:srgbClr val="E3E9F4"/>
                </a:solidFill>
                <a:latin typeface="Consolas"/>
              </a:rPr>
              <a:t>(</a:t>
            </a:r>
            <a:r>
              <a:rPr sz="1500" b="0" i="0">
                <a:solidFill>
                  <a:srgbClr val="33C984"/>
                </a:solidFill>
                <a:latin typeface="Consolas"/>
              </a:rPr>
              <a:t>"+ des croquettes"</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super(...) appelle le constructeur de la classe mère — doit être la 1re ligne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super.methode() appelle la version originale de la classe mère avant d'ajouter du comportement</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10 — Héritage</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76</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10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@Override et faire une faute de frappe silencieuse (Java croit à une nouvelle méthode)</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Hériter alors que le test « EST UN » n'a pas de sens (Voiture extends Moteur)</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super(...) qui n'est pas la première ligne du constructeur</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10 — Héritage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10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Hériter et redéfinir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Créez une classe mère Employe (nom, salaireBase, calculerSalaire() renvoie salaireBase), puis une classe fille Commercial qui ajoute commission et redéfinit calculerSalaire() pour renvoyer salaireBase + commission, en réutilisant super.calculerSalaire().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10 — Héritage</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78</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extends fait hériter automatiquement attributs et méthodes de la classe mère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Le test « EST UN » valide qu'un héritage a un sens métier réel</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super(...) : constructeur de la classe mère ; super.methode() : sa version originale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10 — Héritage</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79</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11</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Redéfinition des méthodes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@Override — remplacer le comportement hérité</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11 — Redéfinition des méthodes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11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@Override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Chien</a:t>
            </a:r>
            <a:r>
              <a:rPr sz="1700" b="0" i="0">
                <a:solidFill>
                  <a:srgbClr val="E3E9F4"/>
                </a:solidFill>
                <a:latin typeface="Consolas"/>
              </a:rPr>
              <a:t> </a:t>
            </a:r>
            <a:r>
              <a:rPr sz="1700" b="0" i="0">
                <a:solidFill>
                  <a:srgbClr val="F28C28"/>
                </a:solidFill>
                <a:latin typeface="Consolas"/>
              </a:rPr>
              <a:t>extends</a:t>
            </a:r>
            <a:r>
              <a:rPr sz="1700" b="0" i="0">
                <a:solidFill>
                  <a:srgbClr val="E3E9F4"/>
                </a:solidFill>
                <a:latin typeface="Consolas"/>
              </a:rPr>
              <a:t> </a:t>
            </a:r>
            <a:r>
              <a:rPr sz="1700" b="0" i="0">
                <a:solidFill>
                  <a:srgbClr val="E3E9F4"/>
                </a:solidFill>
                <a:latin typeface="Consolas"/>
              </a:rPr>
              <a:t>Animal</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Override</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manger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"Le chien mange"</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11 — Redéfinition des méthodes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81</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Pourquoi la redéfinition est utile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Chaque classe fille peut adapter un comportement générique à sa propre réalité</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@Override protège contre une faute de frappe : sans elle, Java croirait qu'on ajoute une NOUVELLE méthode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Sans @Override, la faute de frappe passe totalement inaperçue — aucune erreur de compilation</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11 — Redéfinition des méthodes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82</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11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 fréquente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@Override → une faute de frappe crée silencieusement une méthode indépendante, sans lien avec la classe mère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11 — Redéfinition des méthodes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11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Redéfinir avec @Override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Pour une classe Forme avec dessiner() (« Forme générique »), créez une classe fille Cercle qui redéfinit dessiner() pour afficher « Cercle ». Toujours avec @Override.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11 — Redéfinition des méthodes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84</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@Override signale explicitement une redéfinition et protège contre les fautes de frappe silencieuses</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11 — Redéfinition des méthodes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85</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12</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Polymorphisme</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Un même appel, des comportements différents selon le type réel de l'objet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12 — Polymorphisme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86</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12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Type déclaré vs type réel</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E3E9F4"/>
                </a:solidFill>
                <a:latin typeface="Consolas"/>
              </a:rPr>
              <a:t>Animal</a:t>
            </a:r>
            <a:r>
              <a:rPr sz="1700" b="0" i="0">
                <a:solidFill>
                  <a:srgbClr val="E3E9F4"/>
                </a:solidFill>
                <a:latin typeface="Consolas"/>
              </a:rPr>
              <a:t> </a:t>
            </a:r>
            <a:r>
              <a:rPr sz="1700" b="0" i="0">
                <a:solidFill>
                  <a:srgbClr val="E3E9F4"/>
                </a:solidFill>
                <a:latin typeface="Consolas"/>
              </a:rPr>
              <a:t>animal</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new</a:t>
            </a:r>
            <a:r>
              <a:rPr sz="1700" b="0" i="0">
                <a:solidFill>
                  <a:srgbClr val="E3E9F4"/>
                </a:solidFill>
                <a:latin typeface="Consolas"/>
              </a:rPr>
              <a:t> </a:t>
            </a:r>
            <a:r>
              <a:rPr sz="1700" b="0" i="0">
                <a:solidFill>
                  <a:srgbClr val="E3E9F4"/>
                </a:solidFill>
                <a:latin typeface="Consolas"/>
              </a:rPr>
              <a:t>Chien</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animal</a:t>
            </a:r>
            <a:r>
              <a:rPr sz="1700" b="0" i="0">
                <a:solidFill>
                  <a:srgbClr val="E3E9F4"/>
                </a:solidFill>
                <a:latin typeface="Consolas"/>
              </a:rPr>
              <a:t>.</a:t>
            </a:r>
            <a:r>
              <a:rPr sz="1700" b="0" i="0">
                <a:solidFill>
                  <a:srgbClr val="E3E9F4"/>
                </a:solidFill>
                <a:latin typeface="Consolas"/>
              </a:rPr>
              <a:t>manger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5C6A87"/>
                </a:solidFill>
                <a:latin typeface="Consolas"/>
              </a:rPr>
              <a:t>// exécute la version de Chien, pas d'Animal !</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12 — Polymorphisme</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87</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Type de référence vs type réel de l'objet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Type déclaré (référence)</a:t>
            </a:r>
          </a:p>
        </p:txBody>
      </p:sp>
      <p:sp>
        <p:nvSpPr>
          <p:cNvPr id="9" name="TextBox 8"/>
          <p:cNvSpPr txBox="1"/>
          <p:nvPr/>
        </p:nvSpPr>
        <p:spPr>
          <a:xfrm>
            <a:off x="868680"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Animal — seulement une « étiquette » pour la variable, PAS le type réel de l'objet.</a:t>
            </a:r>
          </a:p>
        </p:txBody>
      </p:sp>
      <p:sp>
        <p:nvSpPr>
          <p:cNvPr id="10" name="Rectangle 9"/>
          <p:cNvSpPr/>
          <p:nvPr/>
        </p:nvSpPr>
        <p:spPr>
          <a:xfrm>
            <a:off x="4383938"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600200"/>
            <a:ext cx="3423818" cy="73152"/>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2538"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Type réel de l'objet</a:t>
            </a:r>
          </a:p>
        </p:txBody>
      </p:sp>
      <p:sp>
        <p:nvSpPr>
          <p:cNvPr id="13" name="TextBox 12"/>
          <p:cNvSpPr txBox="1"/>
          <p:nvPr/>
        </p:nvSpPr>
        <p:spPr>
          <a:xfrm>
            <a:off x="4612538"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Chien — décidé par new, c'est LUI qui détermine quelle méthode s'exécute.</a:t>
            </a:r>
          </a:p>
        </p:txBody>
      </p:sp>
      <p:sp>
        <p:nvSpPr>
          <p:cNvPr id="14" name="Rectangle 13"/>
          <p:cNvSpPr/>
          <p:nvPr/>
        </p:nvSpPr>
        <p:spPr>
          <a:xfrm>
            <a:off x="8127797" y="1600200"/>
            <a:ext cx="3423818" cy="32918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7797" y="1600200"/>
            <a:ext cx="3423818"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397" y="1874520"/>
            <a:ext cx="2966618" cy="822960"/>
          </a:xfrm>
          <a:prstGeom prst="rect">
            <a:avLst/>
          </a:prstGeom>
          <a:noFill/>
        </p:spPr>
        <p:txBody>
          <a:bodyPr wrap="square" anchor="t" lIns="0" rIns="0" tIns="0" bIns="0">
            <a:spAutoFit/>
          </a:bodyPr>
          <a:lstStyle/>
          <a:p>
            <a:pPr algn="l">
              <a:lnSpc>
                <a:spcPct val="100000"/>
              </a:lnSpc>
              <a:spcBef>
                <a:spcPts val="0"/>
              </a:spcBef>
              <a:spcAft>
                <a:spcPts val="0"/>
              </a:spcAft>
              <a:buNone/>
            </a:pPr>
            <a:r>
              <a:rPr sz="1900" b="1" i="0">
                <a:solidFill>
                  <a:srgbClr val="ECF0F7"/>
                </a:solidFill>
                <a:latin typeface="Segoe UI Semibold"/>
              </a:rPr>
              <a:t>Liaison dynamique</a:t>
            </a:r>
          </a:p>
        </p:txBody>
      </p:sp>
      <p:sp>
        <p:nvSpPr>
          <p:cNvPr id="17" name="TextBox 16"/>
          <p:cNvSpPr txBox="1"/>
          <p:nvPr/>
        </p:nvSpPr>
        <p:spPr>
          <a:xfrm>
            <a:off x="8356397" y="2651760"/>
            <a:ext cx="2966618" cy="2011680"/>
          </a:xfrm>
          <a:prstGeom prst="rect">
            <a:avLst/>
          </a:prstGeom>
          <a:noFill/>
        </p:spPr>
        <p:txBody>
          <a:bodyPr wrap="square" anchor="t" lIns="0" rIns="0" tIns="0" bIns="0">
            <a:spAutoFit/>
          </a:bodyPr>
          <a:lstStyle/>
          <a:p>
            <a:pPr algn="l">
              <a:lnSpc>
                <a:spcPct val="120000"/>
              </a:lnSpc>
              <a:spcBef>
                <a:spcPts val="0"/>
              </a:spcBef>
              <a:spcAft>
                <a:spcPts val="0"/>
              </a:spcAft>
              <a:buNone/>
            </a:pPr>
            <a:r>
              <a:rPr sz="1400" b="0" i="0">
                <a:solidFill>
                  <a:srgbClr val="93A1BE"/>
                </a:solidFill>
                <a:latin typeface="Segoe UI"/>
              </a:rPr>
              <a:t>Le mécanisme automatique par lequel Java choisit, à l'exécution, la bonne version d'une méthode redéfinie.</a:t>
            </a:r>
          </a:p>
        </p:txBody>
      </p:sp>
      <p:sp>
        <p:nvSpPr>
          <p:cNvPr id="18" name="TextBox 1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9" name="TextBox 1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12 — Polymorphisme</a:t>
            </a:r>
          </a:p>
        </p:txBody>
      </p:sp>
      <p:sp>
        <p:nvSpPr>
          <p:cNvPr id="20" name="TextBox 1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88</a:t>
            </a:r>
          </a:p>
        </p:txBody>
      </p:sp>
      <p:sp>
        <p:nvSpPr>
          <p:cNvPr id="21" name="Rectangle 2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La vraie puissance : un tableau polymorphe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E3E9F4"/>
                </a:solidFill>
                <a:latin typeface="Consolas"/>
              </a:rPr>
              <a:t>Animal</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animaux</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new</a:t>
            </a:r>
            <a:r>
              <a:rPr sz="1700" b="0" i="0">
                <a:solidFill>
                  <a:srgbClr val="E3E9F4"/>
                </a:solidFill>
                <a:latin typeface="Consolas"/>
              </a:rPr>
              <a:t> </a:t>
            </a:r>
            <a:r>
              <a:rPr sz="1700" b="0" i="0">
                <a:solidFill>
                  <a:srgbClr val="E3E9F4"/>
                </a:solidFill>
                <a:latin typeface="Consolas"/>
              </a:rPr>
              <a:t>Chien</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new</a:t>
            </a:r>
            <a:r>
              <a:rPr sz="1700" b="0" i="0">
                <a:solidFill>
                  <a:srgbClr val="E3E9F4"/>
                </a:solidFill>
                <a:latin typeface="Consolas"/>
              </a:rPr>
              <a:t> </a:t>
            </a:r>
            <a:r>
              <a:rPr sz="1700" b="0" i="0">
                <a:solidFill>
                  <a:srgbClr val="E3E9F4"/>
                </a:solidFill>
                <a:latin typeface="Consolas"/>
              </a:rPr>
              <a:t>Chat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new</a:t>
            </a:r>
            <a:r>
              <a:rPr sz="1700" b="0" i="0">
                <a:solidFill>
                  <a:srgbClr val="E3E9F4"/>
                </a:solidFill>
                <a:latin typeface="Consolas"/>
              </a:rPr>
              <a:t> </a:t>
            </a:r>
            <a:r>
              <a:rPr sz="1700" b="0" i="0">
                <a:solidFill>
                  <a:srgbClr val="E3E9F4"/>
                </a:solidFill>
                <a:latin typeface="Consolas"/>
              </a:rPr>
              <a:t>Chien</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F28C28"/>
                </a:solidFill>
                <a:latin typeface="Consolas"/>
              </a:rPr>
              <a:t>for</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Animal</a:t>
            </a:r>
            <a:r>
              <a:rPr sz="1700" b="0" i="0">
                <a:solidFill>
                  <a:srgbClr val="E3E9F4"/>
                </a:solidFill>
                <a:latin typeface="Consolas"/>
              </a:rPr>
              <a:t> </a:t>
            </a:r>
            <a:r>
              <a:rPr sz="1700" b="0" i="0">
                <a:solidFill>
                  <a:srgbClr val="E3E9F4"/>
                </a:solidFill>
                <a:latin typeface="Consolas"/>
              </a:rPr>
              <a:t>a</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animaux</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a:t>
            </a:r>
            <a:r>
              <a:rPr sz="1700" b="0" i="0">
                <a:solidFill>
                  <a:srgbClr val="E3E9F4"/>
                </a:solidFill>
                <a:latin typeface="Consolas"/>
              </a:rPr>
              <a:t>.</a:t>
            </a:r>
            <a:r>
              <a:rPr sz="1700" b="0" i="0">
                <a:solidFill>
                  <a:srgbClr val="E3E9F4"/>
                </a:solidFill>
                <a:latin typeface="Consolas"/>
              </a:rPr>
              <a:t>parler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5C6A87"/>
                </a:solidFill>
                <a:latin typeface="Consolas"/>
              </a:rPr>
              <a:t>// un SEUL appel, un comportement DIFFÉRENT à chaque tour</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Résultat : Ouaf ! / Miaou ! / Ouaf !</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12 — Polymorphisme</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89</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12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Croire que le TYPE DÉCLARÉ décide quelle méthode s'exécute (c'est toujours le type RÉEL)</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Vouloir appeler animal.aboyer() sur une variable déclarée Animal : erreur de compilation, même si l'objet réel est un Chien</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12 — Polymorphisme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12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Polymorphisme sur un tableau d'employés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Créez Employe.calculerPrime() (0.0 par défaut), puis Vendeur (prime = 10% du chiffre d'affaires) et Manager (prime fixe 500). Dans un tableau Employe[], affichez la prime de chacun avec UNE SEULE boucle.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12 — Polymorphisme</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91</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C'est toujours le type RÉEL de l'objet, jamais le type déclaré, qui décide quelle méthode s'exécute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Le polymorphisme permet du code qui n'a pas besoin de changer quand on ajoute un nouveau type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12 — Polymorphisme</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92</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MODULES 10-12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Quiz — Héritage, redéfinition, polymorphisme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20000"/>
              </a:lnSpc>
              <a:spcAft>
                <a:spcPts val="1200"/>
              </a:spcAft>
              <a:buNone/>
            </a:pPr>
            <a:r>
              <a:rPr sz="1650" b="1" i="0">
                <a:solidFill>
                  <a:srgbClr val="E8C54A"/>
                </a:solidFill>
                <a:latin typeface="Segoe UI"/>
              </a:rPr>
              <a:t>1.  </a:t>
            </a:r>
            <a:r>
              <a:rPr sz="1650" b="0" i="0">
                <a:solidFill>
                  <a:srgbClr val="ECF0F7"/>
                </a:solidFill>
                <a:latin typeface="Segoe UI"/>
              </a:rPr>
              <a:t>Que fait super.methode() à l'intérieur d'une méthode redéfinie ?</a:t>
            </a:r>
          </a:p>
          <a:p>
            <a:pPr>
              <a:lnSpc>
                <a:spcPct val="120000"/>
              </a:lnSpc>
              <a:spcAft>
                <a:spcPts val="1200"/>
              </a:spcAft>
              <a:buNone/>
            </a:pPr>
            <a:r>
              <a:rPr sz="1650" b="1" i="0">
                <a:solidFill>
                  <a:srgbClr val="E8C54A"/>
                </a:solidFill>
                <a:latin typeface="Segoe UI"/>
              </a:rPr>
              <a:t>2.  </a:t>
            </a:r>
            <a:r>
              <a:rPr sz="1650" b="0" i="0">
                <a:solidFill>
                  <a:srgbClr val="ECF0F7"/>
                </a:solidFill>
                <a:latin typeface="Segoe UI"/>
              </a:rPr>
              <a:t>Pourquoi @Override est-il recommandé même s'il n'est pas obligatoire ?</a:t>
            </a:r>
          </a:p>
          <a:p>
            <a:pPr>
              <a:lnSpc>
                <a:spcPct val="120000"/>
              </a:lnSpc>
              <a:spcAft>
                <a:spcPts val="1200"/>
              </a:spcAft>
              <a:buNone/>
            </a:pPr>
            <a:r>
              <a:rPr sz="1650" b="1" i="0">
                <a:solidFill>
                  <a:srgbClr val="E8C54A"/>
                </a:solidFill>
                <a:latin typeface="Segoe UI"/>
              </a:rPr>
              <a:t>3.  </a:t>
            </a:r>
            <a:r>
              <a:rPr sz="1650" b="0" i="0">
                <a:solidFill>
                  <a:srgbClr val="ECF0F7"/>
                </a:solidFill>
                <a:latin typeface="Segoe UI"/>
              </a:rPr>
              <a:t>Dans Animal a = new Chien();, quel type décide quelle version de parler() s'exécute ?</a:t>
            </a:r>
          </a:p>
          <a:p>
            <a:pPr>
              <a:lnSpc>
                <a:spcPct val="120000"/>
              </a:lnSpc>
              <a:spcAft>
                <a:spcPts val="1200"/>
              </a:spcAft>
              <a:buNone/>
            </a:pPr>
            <a:r>
              <a:rPr sz="1650" b="1" i="0">
                <a:solidFill>
                  <a:srgbClr val="E8C54A"/>
                </a:solidFill>
                <a:latin typeface="Segoe UI"/>
              </a:rPr>
              <a:t>4.  </a:t>
            </a:r>
            <a:r>
              <a:rPr sz="1650" b="0" i="0">
                <a:solidFill>
                  <a:srgbClr val="ECF0F7"/>
                </a:solidFill>
                <a:latin typeface="Segoe UI"/>
              </a:rPr>
              <a:t>Combien de classes mères directes une classe Java peut-elle avoir ?</a:t>
            </a:r>
          </a:p>
          <a:p>
            <a:pPr>
              <a:lnSpc>
                <a:spcPct val="120000"/>
              </a:lnSpc>
              <a:spcAft>
                <a:spcPts val="1200"/>
              </a:spcAft>
              <a:buNone/>
            </a:pPr>
            <a:r>
              <a:rPr sz="1650" b="1" i="0">
                <a:solidFill>
                  <a:srgbClr val="E8C54A"/>
                </a:solidFill>
                <a:latin typeface="Segoe UI"/>
              </a:rPr>
              <a:t>5.  </a:t>
            </a:r>
            <a:r>
              <a:rPr sz="1650" b="0" i="0">
                <a:solidFill>
                  <a:srgbClr val="ECF0F7"/>
                </a:solidFill>
                <a:latin typeface="Segoe UI"/>
              </a:rPr>
              <a:t>Pourquoi le polymorphisme réduit-il la maintenance par rapport à une chaîne de instanceof ?</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12 — Polymorphisme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13</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Classes abstraites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Définir ce qu'une classe doit faire, sans imposer comment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13 — Classes abstraites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94</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13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abstract class et méthode abstraite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abstract</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Animal</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abstract</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faireSon</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dormir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"Je dors"</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13 — Classes abstraites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95</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Ce qui change par rapport à l'héritage simple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abstract class Animal {} → new Animal(...) est TOUJOURS une erreur de compilation</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Une méthode abstraite n'a pas de corps : { ... } et abstract sont mutuellement exclusifs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Toute classe fille CONCRÈTE doit implémenter chaque méthode abstraite héritée, sans exception</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Une classe abstraite peut mélanger méthodes abstraites ET méthodes normales déjà implémentées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13 — Classes abstraites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96</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13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Essayer d'instancier une classe abstraite directement (new Animal(...))</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Donner un corps à une méthode abstraite</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d'implémenter une méthode abstraite dans une classe fille concrète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13 — Classes abstraites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13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Classe abstraite Forme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Créez une classe abstraite Forme avec calculerAire() (abstraite) et afficherType() (normale, message fixe). Créez deux classes filles concrètes Cercle et Carre qui implémentent calculerAire().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13 — Classes abstraites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98</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Une classe abstraite ne peut JAMAIS être instanciée directement</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Une méthode abstraite FORCE son implémentation par chaque classe fille concrète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13 — Classes abstraites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99</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14</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Interfaces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Un contrat que plusieurs classes, même sans lien de parenté, peuvent respecter</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Une interface, c'est un contrat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Une classe abstraite impose un contrat, mais seulement à SES propres classes filles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Une classe Java ne peut hériter que d'UNE SEULE classe mère (Module 10)</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 Oiseau et un Avion peuvent tous deux « voler », sans qu'aucun ne soit une sorte de l'autre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14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interface / implements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interface</a:t>
            </a:r>
            <a:r>
              <a:rPr sz="1700" b="0" i="0">
                <a:solidFill>
                  <a:srgbClr val="E3E9F4"/>
                </a:solidFill>
                <a:latin typeface="Consolas"/>
              </a:rPr>
              <a:t> </a:t>
            </a:r>
            <a:r>
              <a:rPr sz="1700" b="0" i="0">
                <a:solidFill>
                  <a:srgbClr val="E3E9F4"/>
                </a:solidFill>
                <a:latin typeface="Consolas"/>
              </a:rPr>
              <a:t>Volant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voler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Avion</a:t>
            </a:r>
            <a:r>
              <a:rPr sz="1700" b="0" i="0">
                <a:solidFill>
                  <a:srgbClr val="E3E9F4"/>
                </a:solidFill>
                <a:latin typeface="Consolas"/>
              </a:rPr>
              <a:t> </a:t>
            </a:r>
            <a:r>
              <a:rPr sz="1700" b="0" i="0">
                <a:solidFill>
                  <a:srgbClr val="F28C28"/>
                </a:solidFill>
                <a:latin typeface="Consolas"/>
              </a:rPr>
              <a:t>implements</a:t>
            </a:r>
            <a:r>
              <a:rPr sz="1700" b="0" i="0">
                <a:solidFill>
                  <a:srgbClr val="E3E9F4"/>
                </a:solidFill>
                <a:latin typeface="Consolas"/>
              </a:rPr>
              <a:t> </a:t>
            </a:r>
            <a:r>
              <a:rPr sz="1700" b="0" i="0">
                <a:solidFill>
                  <a:srgbClr val="E3E9F4"/>
                </a:solidFill>
                <a:latin typeface="Consolas"/>
              </a:rPr>
              <a:t>Volant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Override</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voler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"L'avion vole"</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102</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Classe abstraite vs Interface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5272888" cy="470916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5272888" cy="5029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08760"/>
            <a:ext cx="5272888" cy="502920"/>
          </a:xfrm>
          <a:prstGeom prst="rect">
            <a:avLst/>
          </a:prstGeom>
          <a:noFill/>
        </p:spPr>
        <p:txBody>
          <a:bodyPr wrap="square" anchor="ctr" lIns="0" rIns="0" tIns="0" bIns="0">
            <a:spAutoFit/>
          </a:bodyPr>
          <a:lstStyle/>
          <a:p>
            <a:pPr algn="ctr">
              <a:spcBef>
                <a:spcPts val="0"/>
              </a:spcBef>
              <a:spcAft>
                <a:spcPts val="0"/>
              </a:spcAft>
              <a:buNone/>
            </a:pPr>
            <a:r>
              <a:rPr sz="1700" b="1" i="0">
                <a:solidFill>
                  <a:srgbClr val="0B1220"/>
                </a:solidFill>
                <a:latin typeface="Segoe UI"/>
              </a:rPr>
              <a:t>Classe abstraite</a:t>
            </a:r>
          </a:p>
        </p:txBody>
      </p:sp>
      <p:sp>
        <p:nvSpPr>
          <p:cNvPr id="9" name="TextBox 8"/>
          <p:cNvSpPr txBox="1"/>
          <p:nvPr/>
        </p:nvSpPr>
        <p:spPr>
          <a:xfrm>
            <a:off x="914400" y="2286000"/>
            <a:ext cx="4724248" cy="3703320"/>
          </a:xfrm>
          <a:prstGeom prst="rect">
            <a:avLst/>
          </a:prstGeom>
          <a:noFill/>
        </p:spPr>
        <p:txBody>
          <a:bodyPr wrap="square" anchor="t" lIns="0" rIns="0" tIns="0" bIns="0">
            <a:spAutoFit/>
          </a:bodyPr>
          <a:lstStyle/>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Une seule par classe (extends)</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Peut avoir des attributs avec état</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Méthodes déjà implémentées possibles</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Classes PROCHES, base commune réelle</a:t>
            </a:r>
          </a:p>
        </p:txBody>
      </p:sp>
      <p:sp>
        <p:nvSpPr>
          <p:cNvPr id="10" name="Rectangle 9"/>
          <p:cNvSpPr/>
          <p:nvPr/>
        </p:nvSpPr>
        <p:spPr>
          <a:xfrm>
            <a:off x="6278728" y="1508760"/>
            <a:ext cx="5272888" cy="470916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8728" y="1508760"/>
            <a:ext cx="5272888" cy="502920"/>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8728" y="1508760"/>
            <a:ext cx="5272888" cy="502920"/>
          </a:xfrm>
          <a:prstGeom prst="rect">
            <a:avLst/>
          </a:prstGeom>
          <a:noFill/>
        </p:spPr>
        <p:txBody>
          <a:bodyPr wrap="square" anchor="ctr" lIns="0" rIns="0" tIns="0" bIns="0">
            <a:spAutoFit/>
          </a:bodyPr>
          <a:lstStyle/>
          <a:p>
            <a:pPr algn="ctr">
              <a:spcBef>
                <a:spcPts val="0"/>
              </a:spcBef>
              <a:spcAft>
                <a:spcPts val="0"/>
              </a:spcAft>
              <a:buNone/>
            </a:pPr>
            <a:r>
              <a:rPr sz="1700" b="1" i="0">
                <a:solidFill>
                  <a:srgbClr val="0B1220"/>
                </a:solidFill>
                <a:latin typeface="Segoe UI"/>
              </a:rPr>
              <a:t>Interface</a:t>
            </a:r>
          </a:p>
        </p:txBody>
      </p:sp>
      <p:sp>
        <p:nvSpPr>
          <p:cNvPr id="13" name="TextBox 12"/>
          <p:cNvSpPr txBox="1"/>
          <p:nvPr/>
        </p:nvSpPr>
        <p:spPr>
          <a:xfrm>
            <a:off x="6553048" y="2286000"/>
            <a:ext cx="4724248" cy="3703320"/>
          </a:xfrm>
          <a:prstGeom prst="rect">
            <a:avLst/>
          </a:prstGeom>
          <a:noFill/>
        </p:spPr>
        <p:txBody>
          <a:bodyPr wrap="square" anchor="t" lIns="0" rIns="0" tIns="0" bIns="0">
            <a:spAutoFit/>
          </a:bodyPr>
          <a:lstStyle/>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Plusieurs par classe (implements)</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Pas d'état, seulement des constantes</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Rarement des méthodes implémentées</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Capacité partagée, classes différentes</a:t>
            </a:r>
          </a:p>
        </p:txBody>
      </p:sp>
      <p:sp>
        <p:nvSpPr>
          <p:cNvPr id="14" name="TextBox 13"/>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5" name="TextBox 14"/>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16" name="TextBox 15"/>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103</a:t>
            </a:r>
          </a:p>
        </p:txBody>
      </p:sp>
      <p:sp>
        <p:nvSpPr>
          <p:cNvPr id="17" name="Rectangle 16"/>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14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public devant une méthode d'interface implémentée</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Instancier directement une interface (new Volant())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104</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14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Une classe, plusieurs interfaces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Créez les interfaces Volant (voler()) et Nageur (nager()). Créez une classe Canard qui implémente LES DEUX.</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Une interface est un contrat, sans lien d'héritage entre les classes qui le respectent</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Une classe peut implémenter PLUSIEURS interfaces, mais hériter d'une SEULE classe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Classe abstraite = base commune réelle ; Interface = capacité partagée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106</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121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77440"/>
            <a:ext cx="10058400" cy="548640"/>
          </a:xfrm>
          <a:prstGeom prst="rect">
            <a:avLst/>
          </a:prstGeom>
          <a:noFill/>
        </p:spPr>
        <p:txBody>
          <a:bodyPr wrap="square" anchor="t" lIns="0" rIns="0" tIns="0" bIns="0">
            <a:spAutoFit/>
          </a:bodyPr>
          <a:lstStyle/>
          <a:p>
            <a:pPr algn="ctr">
              <a:spcBef>
                <a:spcPts val="0"/>
              </a:spcBef>
              <a:spcAft>
                <a:spcPts val="0"/>
              </a:spcAft>
              <a:buNone/>
            </a:pPr>
            <a:r>
              <a:rPr sz="2200" b="1" i="0">
                <a:solidFill>
                  <a:srgbClr val="E8C54A"/>
                </a:solidFill>
                <a:latin typeface="Segoe UI"/>
              </a:rPr>
              <a:t>QUESTION</a:t>
            </a:r>
          </a:p>
        </p:txBody>
      </p:sp>
      <p:sp>
        <p:nvSpPr>
          <p:cNvPr id="5" name="TextBox 4"/>
          <p:cNvSpPr txBox="1"/>
          <p:nvPr/>
        </p:nvSpPr>
        <p:spPr>
          <a:xfrm>
            <a:off x="1097280" y="3017520"/>
            <a:ext cx="9966960" cy="1828800"/>
          </a:xfrm>
          <a:prstGeom prst="rect">
            <a:avLst/>
          </a:prstGeom>
          <a:noFill/>
        </p:spPr>
        <p:txBody>
          <a:bodyPr wrap="square" anchor="t" lIns="0" rIns="0" tIns="0" bIns="0">
            <a:spAutoFit/>
          </a:bodyPr>
          <a:lstStyle/>
          <a:p>
            <a:pPr algn="ctr">
              <a:lnSpc>
                <a:spcPct val="115000"/>
              </a:lnSpc>
              <a:spcBef>
                <a:spcPts val="0"/>
              </a:spcBef>
              <a:spcAft>
                <a:spcPts val="0"/>
              </a:spcAft>
              <a:buNone/>
            </a:pPr>
            <a:r>
              <a:rPr sz="3200" b="1" i="0">
                <a:solidFill>
                  <a:srgbClr val="ECF0F7"/>
                </a:solidFill>
                <a:latin typeface="Segoe UI Semibold"/>
              </a:rPr>
              <a:t>Quelle est la différence entre une classe et un objet ?</a:t>
            </a:r>
          </a:p>
        </p:txBody>
      </p:sp>
      <p:sp>
        <p:nvSpPr>
          <p:cNvPr id="6" name="TextBox 5"/>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7" name="TextBox 6"/>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8" name="TextBox 7"/>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107</a:t>
            </a:r>
          </a:p>
        </p:txBody>
      </p:sp>
      <p:sp>
        <p:nvSpPr>
          <p:cNvPr id="9" name="Rectangle 8"/>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000" b="1" i="0">
                <a:solidFill>
                  <a:srgbClr val="ECF0F7"/>
                </a:solidFill>
                <a:latin typeface="Segoe UI Semibold"/>
              </a:rPr>
              <a:t>RÉPONSE</a:t>
            </a:r>
          </a:p>
        </p:txBody>
      </p:sp>
      <p:sp>
        <p:nvSpPr>
          <p:cNvPr id="4" name="Rectangle 3"/>
          <p:cNvSpPr/>
          <p:nvPr/>
        </p:nvSpPr>
        <p:spPr>
          <a:xfrm>
            <a:off x="640080" y="521208"/>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11535" cy="3200400"/>
          </a:xfrm>
          <a:prstGeom prst="rect">
            <a:avLst/>
          </a:prstGeom>
          <a:noFill/>
        </p:spPr>
        <p:txBody>
          <a:bodyPr wrap="square" anchor="t" lIns="0" rIns="0" tIns="0" bIns="0">
            <a:spAutoFit/>
          </a:bodyPr>
          <a:lstStyle/>
          <a:p>
            <a:pPr algn="l">
              <a:lnSpc>
                <a:spcPct val="115000"/>
              </a:lnSpc>
              <a:spcAft>
                <a:spcPts val="1600"/>
              </a:spcAft>
              <a:buNone/>
            </a:pPr>
            <a:r>
              <a:rPr sz="1900" b="1" i="0">
                <a:solidFill>
                  <a:srgbClr val="F28C28"/>
                </a:solidFill>
                <a:latin typeface="Segoe UI"/>
              </a:rPr>
              <a:t>›  </a:t>
            </a:r>
            <a:r>
              <a:rPr sz="1900" b="0" i="0">
                <a:solidFill>
                  <a:srgbClr val="ECF0F7"/>
                </a:solidFill>
                <a:latin typeface="Segoe UI"/>
              </a:rPr>
              <a:t>Classe = le plan, le moule</a:t>
            </a:r>
          </a:p>
          <a:p>
            <a:pPr algn="l">
              <a:lnSpc>
                <a:spcPct val="115000"/>
              </a:lnSpc>
              <a:spcAft>
                <a:spcPts val="1600"/>
              </a:spcAft>
              <a:buNone/>
            </a:pPr>
            <a:r>
              <a:rPr sz="1900" b="1" i="0">
                <a:solidFill>
                  <a:srgbClr val="F28C28"/>
                </a:solidFill>
                <a:latin typeface="Segoe UI"/>
              </a:rPr>
              <a:t>›  </a:t>
            </a:r>
            <a:r>
              <a:rPr sz="1900" b="0" i="0">
                <a:solidFill>
                  <a:srgbClr val="ECF0F7"/>
                </a:solidFill>
                <a:latin typeface="Segoe UI"/>
              </a:rPr>
              <a:t>Objet = une instance concrète, construite avec new</a:t>
            </a:r>
          </a:p>
          <a:p>
            <a:pPr algn="l">
              <a:lnSpc>
                <a:spcPct val="115000"/>
              </a:lnSpc>
              <a:spcAft>
                <a:spcPts val="1600"/>
              </a:spcAft>
              <a:buNone/>
            </a:pPr>
            <a:r>
              <a:rPr sz="1900" b="1" i="0">
                <a:solidFill>
                  <a:srgbClr val="F28C28"/>
                </a:solidFill>
                <a:latin typeface="Segoe UI"/>
              </a:rPr>
              <a:t>›  </a:t>
            </a:r>
            <a:r>
              <a:rPr sz="1900" b="0" i="0">
                <a:solidFill>
                  <a:srgbClr val="ECF0F7"/>
                </a:solidFill>
                <a:latin typeface="Segoe UI"/>
              </a:rPr>
              <a:t>Une classe seule ne représente jamais un objet précis</a:t>
            </a:r>
          </a:p>
        </p:txBody>
      </p:sp>
      <p:sp>
        <p:nvSpPr>
          <p:cNvPr id="6" name="TextBox 5"/>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7" name="TextBox 6"/>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8" name="TextBox 7"/>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108</a:t>
            </a:r>
          </a:p>
        </p:txBody>
      </p:sp>
      <p:sp>
        <p:nvSpPr>
          <p:cNvPr id="9" name="Rectangle 8"/>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MODULES 13-14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Quiz — Abstraction et interfaces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20000"/>
              </a:lnSpc>
              <a:spcAft>
                <a:spcPts val="1200"/>
              </a:spcAft>
              <a:buNone/>
            </a:pPr>
            <a:r>
              <a:rPr sz="1650" b="1" i="0">
                <a:solidFill>
                  <a:srgbClr val="E8C54A"/>
                </a:solidFill>
                <a:latin typeface="Segoe UI"/>
              </a:rPr>
              <a:t>1.  </a:t>
            </a:r>
            <a:r>
              <a:rPr sz="1650" b="0" i="0">
                <a:solidFill>
                  <a:srgbClr val="ECF0F7"/>
                </a:solidFill>
                <a:latin typeface="Segoe UI"/>
              </a:rPr>
              <a:t>Une classe abstraite avec 2 méthodes abstraites est héritée par une fille qui n'en implémente qu'une. Résultat ?</a:t>
            </a:r>
          </a:p>
          <a:p>
            <a:pPr>
              <a:lnSpc>
                <a:spcPct val="120000"/>
              </a:lnSpc>
              <a:spcAft>
                <a:spcPts val="1200"/>
              </a:spcAft>
              <a:buNone/>
            </a:pPr>
            <a:r>
              <a:rPr sz="1650" b="1" i="0">
                <a:solidFill>
                  <a:srgbClr val="E8C54A"/>
                </a:solidFill>
                <a:latin typeface="Segoe UI"/>
              </a:rPr>
              <a:t>2.  </a:t>
            </a:r>
            <a:r>
              <a:rPr sz="1650" b="0" i="0">
                <a:solidFill>
                  <a:srgbClr val="ECF0F7"/>
                </a:solidFill>
                <a:latin typeface="Segoe UI"/>
              </a:rPr>
              <a:t>Combien d'interfaces une classe Java peut-elle implémenter à la fois ?</a:t>
            </a:r>
          </a:p>
          <a:p>
            <a:pPr>
              <a:lnSpc>
                <a:spcPct val="120000"/>
              </a:lnSpc>
              <a:spcAft>
                <a:spcPts val="1200"/>
              </a:spcAft>
              <a:buNone/>
            </a:pPr>
            <a:r>
              <a:rPr sz="1650" b="1" i="0">
                <a:solidFill>
                  <a:srgbClr val="E8C54A"/>
                </a:solidFill>
                <a:latin typeface="Segoe UI"/>
              </a:rPr>
              <a:t>3.  </a:t>
            </a:r>
            <a:r>
              <a:rPr sz="1650" b="0" i="0">
                <a:solidFill>
                  <a:srgbClr val="ECF0F7"/>
                </a:solidFill>
                <a:latin typeface="Segoe UI"/>
              </a:rPr>
              <a:t>Quelle visibilité une méthode d'interface implémentée doit-elle toujours avoir ?</a:t>
            </a:r>
          </a:p>
          <a:p>
            <a:pPr>
              <a:lnSpc>
                <a:spcPct val="120000"/>
              </a:lnSpc>
              <a:spcAft>
                <a:spcPts val="1200"/>
              </a:spcAft>
              <a:buNone/>
            </a:pPr>
            <a:r>
              <a:rPr sz="1650" b="1" i="0">
                <a:solidFill>
                  <a:srgbClr val="E8C54A"/>
                </a:solidFill>
                <a:latin typeface="Segoe UI"/>
              </a:rPr>
              <a:t>4.  </a:t>
            </a:r>
            <a:r>
              <a:rPr sz="1650" b="0" i="0">
                <a:solidFill>
                  <a:srgbClr val="ECF0F7"/>
                </a:solidFill>
                <a:latin typeface="Segoe UI"/>
              </a:rPr>
              <a:t>Dans quel cas préférer une interface à une classe abstraite ?</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14 — Interfaces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109</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15</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Composition et agrégation</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Association, agrégation, composition — faire collaborer des objets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15 — Composition et agrégation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Trois nuances d'un même principe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Une relation existe dès qu'une classe utilise une AUTRE classe comme type d'attribut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ASSOCIATION : deux objets se connaissent, mais existent chacun indépendamment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AGRÉGATION : un objet contient logiquement d'autres objets, qui pourraient lui survivre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COMPOSITION : un objet crée et contient d'autres objets qui n'ont AUCUN sens sans lui</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15 — Composition et agrégation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15 — EXEMPLES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Université — Étudiants (agrégation)</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Université</a:t>
            </a:r>
          </a:p>
        </p:txBody>
      </p:sp>
      <p:sp>
        <p:nvSpPr>
          <p:cNvPr id="9" name="Down Arrow 8"/>
          <p:cNvSpPr/>
          <p:nvPr/>
        </p:nvSpPr>
        <p:spPr>
          <a:xfrm>
            <a:off x="5967832" y="236829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60604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60604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60604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Étudiants (existent indépendamment)</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4" name="TextBox 13"/>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15 — Composition et agrégation</a:t>
            </a:r>
          </a:p>
        </p:txBody>
      </p:sp>
      <p:sp>
        <p:nvSpPr>
          <p:cNvPr id="15" name="TextBox 14"/>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112</a:t>
            </a:r>
          </a:p>
        </p:txBody>
      </p:sp>
      <p:sp>
        <p:nvSpPr>
          <p:cNvPr id="16" name="Rectangle 15"/>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15 — EXEMPLES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Maison — Pièces (composition)</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Maison</a:t>
            </a:r>
          </a:p>
        </p:txBody>
      </p:sp>
      <p:sp>
        <p:nvSpPr>
          <p:cNvPr id="9" name="Down Arrow 8"/>
          <p:cNvSpPr/>
          <p:nvPr/>
        </p:nvSpPr>
        <p:spPr>
          <a:xfrm>
            <a:off x="5967832" y="236829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60604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60604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60604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Pièces (n'existent que pour elle)</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4" name="TextBox 13"/>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15 — Composition et agrégation</a:t>
            </a:r>
          </a:p>
        </p:txBody>
      </p:sp>
      <p:sp>
        <p:nvSpPr>
          <p:cNvPr id="15" name="TextBox 14"/>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113</a:t>
            </a:r>
          </a:p>
        </p:txBody>
      </p:sp>
      <p:sp>
        <p:nvSpPr>
          <p:cNvPr id="16" name="Rectangle 15"/>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Composition en code : Commande / LigneCommande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Commande</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private</a:t>
            </a:r>
            <a:r>
              <a:rPr sz="1700" b="0" i="0">
                <a:solidFill>
                  <a:srgbClr val="E3E9F4"/>
                </a:solidFill>
                <a:latin typeface="Consolas"/>
              </a:rPr>
              <a:t> </a:t>
            </a:r>
            <a:r>
              <a:rPr sz="1700" b="0" i="0">
                <a:solidFill>
                  <a:srgbClr val="E3E9F4"/>
                </a:solidFill>
                <a:latin typeface="Consolas"/>
              </a:rPr>
              <a:t>LigneCommande</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lignes</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Commande</a:t>
            </a:r>
            <a:r>
              <a:rPr sz="1700" b="0" i="0">
                <a:solidFill>
                  <a:srgbClr val="E3E9F4"/>
                </a:solidFill>
                <a:latin typeface="Consolas"/>
              </a:rPr>
              <a:t>(</a:t>
            </a:r>
            <a:r>
              <a:rPr sz="1700" b="0" i="0">
                <a:solidFill>
                  <a:srgbClr val="F28C28"/>
                </a:solidFill>
                <a:latin typeface="Consolas"/>
              </a:rPr>
              <a:t>String</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produits</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quantites</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lignes</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new</a:t>
            </a:r>
            <a:r>
              <a:rPr sz="1700" b="0" i="0">
                <a:solidFill>
                  <a:srgbClr val="E3E9F4"/>
                </a:solidFill>
                <a:latin typeface="Consolas"/>
              </a:rPr>
              <a:t> </a:t>
            </a:r>
            <a:r>
              <a:rPr sz="1700" b="0" i="0">
                <a:solidFill>
                  <a:srgbClr val="E3E9F4"/>
                </a:solidFill>
                <a:latin typeface="Consolas"/>
              </a:rPr>
              <a:t>LigneCommande</a:t>
            </a:r>
            <a:r>
              <a:rPr sz="1700" b="0" i="0">
                <a:solidFill>
                  <a:srgbClr val="E3E9F4"/>
                </a:solidFill>
                <a:latin typeface="Consolas"/>
              </a:rPr>
              <a:t>[</a:t>
            </a:r>
            <a:r>
              <a:rPr sz="1700" b="0" i="0">
                <a:solidFill>
                  <a:srgbClr val="E3E9F4"/>
                </a:solidFill>
                <a:latin typeface="Consolas"/>
              </a:rPr>
              <a:t>produits</a:t>
            </a:r>
            <a:r>
              <a:rPr sz="1700" b="0" i="0">
                <a:solidFill>
                  <a:srgbClr val="E3E9F4"/>
                </a:solidFill>
                <a:latin typeface="Consolas"/>
              </a:rPr>
              <a:t>.</a:t>
            </a:r>
            <a:r>
              <a:rPr sz="1700" b="0" i="0">
                <a:solidFill>
                  <a:srgbClr val="E3E9F4"/>
                </a:solidFill>
                <a:latin typeface="Consolas"/>
              </a:rPr>
              <a:t>length</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for</a:t>
            </a:r>
            <a:r>
              <a:rPr sz="1700" b="0" i="0">
                <a:solidFill>
                  <a:srgbClr val="E3E9F4"/>
                </a:solidFill>
                <a:latin typeface="Consolas"/>
              </a:rPr>
              <a:t> </a:t>
            </a:r>
            <a:r>
              <a:rPr sz="1700" b="0" i="0">
                <a:solidFill>
                  <a:srgbClr val="E3E9F4"/>
                </a:solidFill>
                <a:latin typeface="Consolas"/>
              </a:rPr>
              <a:t>(</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i</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8C54A"/>
                </a:solidFill>
                <a:latin typeface="Consolas"/>
              </a:rPr>
              <a:t>0</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i</a:t>
            </a:r>
            <a:r>
              <a:rPr sz="1700" b="0" i="0">
                <a:solidFill>
                  <a:srgbClr val="E3E9F4"/>
                </a:solidFill>
                <a:latin typeface="Consolas"/>
              </a:rPr>
              <a:t> </a:t>
            </a:r>
            <a:r>
              <a:rPr sz="1700" b="0" i="0">
                <a:solidFill>
                  <a:srgbClr val="E3E9F4"/>
                </a:solidFill>
                <a:latin typeface="Consolas"/>
              </a:rPr>
              <a:t>&lt;</a:t>
            </a:r>
            <a:r>
              <a:rPr sz="1700" b="0" i="0">
                <a:solidFill>
                  <a:srgbClr val="E3E9F4"/>
                </a:solidFill>
                <a:latin typeface="Consolas"/>
              </a:rPr>
              <a:t> </a:t>
            </a:r>
            <a:r>
              <a:rPr sz="1700" b="0" i="0">
                <a:solidFill>
                  <a:srgbClr val="E3E9F4"/>
                </a:solidFill>
                <a:latin typeface="Consolas"/>
              </a:rPr>
              <a:t>produits</a:t>
            </a:r>
            <a:r>
              <a:rPr sz="1700" b="0" i="0">
                <a:solidFill>
                  <a:srgbClr val="E3E9F4"/>
                </a:solidFill>
                <a:latin typeface="Consolas"/>
              </a:rPr>
              <a:t>.</a:t>
            </a:r>
            <a:r>
              <a:rPr sz="1700" b="0" i="0">
                <a:solidFill>
                  <a:srgbClr val="E3E9F4"/>
                </a:solidFill>
                <a:latin typeface="Consolas"/>
              </a:rPr>
              <a:t>length</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i</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5C6A87"/>
                </a:solidFill>
                <a:latin typeface="Consolas"/>
              </a:rPr>
              <a:t>// La Commande CRÉE elle-même ses lignes</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lignes</a:t>
            </a:r>
            <a:r>
              <a:rPr sz="1700" b="0" i="0">
                <a:solidFill>
                  <a:srgbClr val="E3E9F4"/>
                </a:solidFill>
                <a:latin typeface="Consolas"/>
              </a:rPr>
              <a:t>[</a:t>
            </a:r>
            <a:r>
              <a:rPr sz="1700" b="0" i="0">
                <a:solidFill>
                  <a:srgbClr val="E3E9F4"/>
                </a:solidFill>
                <a:latin typeface="Consolas"/>
              </a:rPr>
              <a:t>i</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new</a:t>
            </a:r>
            <a:r>
              <a:rPr sz="1700" b="0" i="0">
                <a:solidFill>
                  <a:srgbClr val="E3E9F4"/>
                </a:solidFill>
                <a:latin typeface="Consolas"/>
              </a:rPr>
              <a:t> </a:t>
            </a:r>
            <a:r>
              <a:rPr sz="1700" b="0" i="0">
                <a:solidFill>
                  <a:srgbClr val="E3E9F4"/>
                </a:solidFill>
                <a:latin typeface="Consolas"/>
              </a:rPr>
              <a:t>LigneCommande</a:t>
            </a:r>
            <a:r>
              <a:rPr sz="1700" b="0" i="0">
                <a:solidFill>
                  <a:srgbClr val="E3E9F4"/>
                </a:solidFill>
                <a:latin typeface="Consolas"/>
              </a:rPr>
              <a:t>(</a:t>
            </a:r>
            <a:r>
              <a:rPr sz="1700" b="0" i="0">
                <a:solidFill>
                  <a:srgbClr val="E3E9F4"/>
                </a:solidFill>
                <a:latin typeface="Consolas"/>
              </a:rPr>
              <a:t>produits</a:t>
            </a:r>
            <a:r>
              <a:rPr sz="1700" b="0" i="0">
                <a:solidFill>
                  <a:srgbClr val="E3E9F4"/>
                </a:solidFill>
                <a:latin typeface="Consolas"/>
              </a:rPr>
              <a:t>[</a:t>
            </a:r>
            <a:r>
              <a:rPr sz="1700" b="0" i="0">
                <a:solidFill>
                  <a:srgbClr val="E3E9F4"/>
                </a:solidFill>
                <a:latin typeface="Consolas"/>
              </a:rPr>
              <a:t>i</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quantites</a:t>
            </a:r>
            <a:r>
              <a:rPr sz="1700" b="0" i="0">
                <a:solidFill>
                  <a:srgbClr val="E3E9F4"/>
                </a:solidFill>
                <a:latin typeface="Consolas"/>
              </a:rPr>
              <a:t>[</a:t>
            </a:r>
            <a:r>
              <a:rPr sz="1700" b="0" i="0">
                <a:solidFill>
                  <a:srgbClr val="E3E9F4"/>
                </a:solidFill>
                <a:latin typeface="Consolas"/>
              </a:rPr>
              <a:t>i</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15 — Composition et agrégation</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114</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15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 fréquente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Confondre agrégation et composition — un impact réel sur l'évolution du code (peut-on faire changer un étudiant d'école sans le détruire ?)</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15 — Composition et agrégation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115</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15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Association, agrégation ou composition ?</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Classez ces relations : (a) Voiture et Roue (créées par la voiture) ; (b) Médecin et Patient (indépendants) ; (c) Équipe et Joueur (les joueurs peuvent changer d'équipe).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15 — Composition et agrégation</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116</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Association = indépendants ; Agrégation = contient, mais survit ; Composition = contient, ne survit pas</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L'indice fiable : qui crée l'objet contenu, et où (new dans le constructeur du conteneur = composition)</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15 — Composition et agrégation</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117</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16</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Relations entre classes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Association, héritage, dépendance, agrégation, composition — vue UML</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16 — Relations entre classes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Panorama des relations UML</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911534" cy="3968496"/>
        </p:xfrm>
        <a:graphic>
          <a:graphicData uri="http://schemas.openxmlformats.org/drawingml/2006/table">
            <a:tbl>
              <a:tblPr firstRow="1" bandRow="1">
                <a:tableStyleId>{5C22544A-7EE6-4342-B048-85BDC9FD1C3A}</a:tableStyleId>
              </a:tblPr>
              <a:tblGrid>
                <a:gridCol w="3637178"/>
                <a:gridCol w="3637178"/>
                <a:gridCol w="3637178"/>
              </a:tblGrid>
              <a:tr h="566928">
                <a:tc>
                  <a:txBody>
                    <a:bodyPr wrap="square"/>
                    <a:lstStyle/>
                    <a:p>
                      <a:pPr algn="l"/>
                      <a:r>
                        <a:rPr sz="1400" b="1" i="0">
                          <a:solidFill>
                            <a:srgbClr val="0B1220"/>
                          </a:solidFill>
                          <a:latin typeface="Segoe UI"/>
                        </a:rPr>
                        <a:t>Relation</a:t>
                      </a:r>
                    </a:p>
                  </a:txBody>
                  <a:tcPr marT="50800" marB="50800" marL="127000" marR="127000">
                    <a:solidFill>
                      <a:srgbClr val="F28C28"/>
                    </a:solidFill>
                  </a:tcPr>
                </a:tc>
                <a:tc>
                  <a:txBody>
                    <a:bodyPr wrap="square"/>
                    <a:lstStyle/>
                    <a:p>
                      <a:pPr algn="l"/>
                      <a:r>
                        <a:rPr sz="1400" b="1" i="0">
                          <a:solidFill>
                            <a:srgbClr val="0B1220"/>
                          </a:solidFill>
                          <a:latin typeface="Segoe UI"/>
                        </a:rPr>
                        <a:t>Symbole UML</a:t>
                      </a:r>
                    </a:p>
                  </a:txBody>
                  <a:tcPr marT="50800" marB="50800" marL="127000" marR="127000">
                    <a:solidFill>
                      <a:srgbClr val="F28C28"/>
                    </a:solidFill>
                  </a:tcPr>
                </a:tc>
                <a:tc>
                  <a:txBody>
                    <a:bodyPr wrap="square"/>
                    <a:lstStyle/>
                    <a:p>
                      <a:pPr algn="l"/>
                      <a:r>
                        <a:rPr sz="1400" b="1" i="0">
                          <a:solidFill>
                            <a:srgbClr val="0B1220"/>
                          </a:solidFill>
                          <a:latin typeface="Segoe UI"/>
                        </a:rPr>
                        <a:t>Sens</a:t>
                      </a:r>
                    </a:p>
                  </a:txBody>
                  <a:tcPr marT="50800" marB="50800" marL="127000" marR="127000">
                    <a:solidFill>
                      <a:srgbClr val="F28C28"/>
                    </a:solidFill>
                  </a:tcPr>
                </a:tc>
              </a:tr>
              <a:tr h="566928">
                <a:tc>
                  <a:txBody>
                    <a:bodyPr wrap="square"/>
                    <a:lstStyle/>
                    <a:p>
                      <a:r>
                        <a:rPr sz="1350" b="1" i="0">
                          <a:solidFill>
                            <a:srgbClr val="ECF0F7"/>
                          </a:solidFill>
                          <a:latin typeface="Segoe UI"/>
                        </a:rPr>
                        <a:t>Association</a:t>
                      </a:r>
                    </a:p>
                  </a:txBody>
                  <a:tcPr marT="50800" marB="50800" marL="127000" marR="127000">
                    <a:solidFill>
                      <a:srgbClr val="121C32"/>
                    </a:solidFill>
                  </a:tcPr>
                </a:tc>
                <a:tc>
                  <a:txBody>
                    <a:bodyPr wrap="square"/>
                    <a:lstStyle/>
                    <a:p>
                      <a:r>
                        <a:rPr sz="1350" b="0" i="0">
                          <a:solidFill>
                            <a:srgbClr val="ECF0F7"/>
                          </a:solidFill>
                          <a:latin typeface="Segoe UI"/>
                        </a:rPr>
                        <a:t>Ligne simple</a:t>
                      </a:r>
                    </a:p>
                  </a:txBody>
                  <a:tcPr marT="50800" marB="50800" marL="127000" marR="127000">
                    <a:solidFill>
                      <a:srgbClr val="121C32"/>
                    </a:solidFill>
                  </a:tcPr>
                </a:tc>
                <a:tc>
                  <a:txBody>
                    <a:bodyPr wrap="square"/>
                    <a:lstStyle/>
                    <a:p>
                      <a:r>
                        <a:rPr sz="1350" b="0" i="0">
                          <a:solidFill>
                            <a:srgbClr val="ECF0F7"/>
                          </a:solidFill>
                          <a:latin typeface="Segoe UI"/>
                        </a:rPr>
                        <a:t>Deux objets se connaissent, indépendants</a:t>
                      </a:r>
                    </a:p>
                  </a:txBody>
                  <a:tcPr marT="50800" marB="50800" marL="127000" marR="127000">
                    <a:solidFill>
                      <a:srgbClr val="121C32"/>
                    </a:solidFill>
                  </a:tcPr>
                </a:tc>
              </a:tr>
              <a:tr h="566928">
                <a:tc>
                  <a:txBody>
                    <a:bodyPr wrap="square"/>
                    <a:lstStyle/>
                    <a:p>
                      <a:r>
                        <a:rPr sz="1350" b="1" i="0">
                          <a:solidFill>
                            <a:srgbClr val="ECF0F7"/>
                          </a:solidFill>
                          <a:latin typeface="Segoe UI"/>
                        </a:rPr>
                        <a:t>Héritage</a:t>
                      </a:r>
                    </a:p>
                  </a:txBody>
                  <a:tcPr marT="50800" marB="50800" marL="127000" marR="127000">
                    <a:solidFill>
                      <a:srgbClr val="0B1220"/>
                    </a:solidFill>
                  </a:tcPr>
                </a:tc>
                <a:tc>
                  <a:txBody>
                    <a:bodyPr wrap="square"/>
                    <a:lstStyle/>
                    <a:p>
                      <a:r>
                        <a:rPr sz="1350" b="0" i="0">
                          <a:solidFill>
                            <a:srgbClr val="ECF0F7"/>
                          </a:solidFill>
                          <a:latin typeface="Segoe UI"/>
                        </a:rPr>
                        <a:t>Flèche triangle plein</a:t>
                      </a:r>
                    </a:p>
                  </a:txBody>
                  <a:tcPr marT="50800" marB="50800" marL="127000" marR="127000">
                    <a:solidFill>
                      <a:srgbClr val="0B1220"/>
                    </a:solidFill>
                  </a:tcPr>
                </a:tc>
                <a:tc>
                  <a:txBody>
                    <a:bodyPr wrap="square"/>
                    <a:lstStyle/>
                    <a:p>
                      <a:r>
                        <a:rPr sz="1350" b="0" i="0">
                          <a:solidFill>
                            <a:srgbClr val="ECF0F7"/>
                          </a:solidFill>
                          <a:latin typeface="Segoe UI"/>
                        </a:rPr>
                        <a:t>extends — « EST UN »</a:t>
                      </a:r>
                    </a:p>
                  </a:txBody>
                  <a:tcPr marT="50800" marB="50800" marL="127000" marR="127000">
                    <a:solidFill>
                      <a:srgbClr val="0B1220"/>
                    </a:solidFill>
                  </a:tcPr>
                </a:tc>
              </a:tr>
              <a:tr h="566928">
                <a:tc>
                  <a:txBody>
                    <a:bodyPr wrap="square"/>
                    <a:lstStyle/>
                    <a:p>
                      <a:r>
                        <a:rPr sz="1350" b="1" i="0">
                          <a:solidFill>
                            <a:srgbClr val="ECF0F7"/>
                          </a:solidFill>
                          <a:latin typeface="Segoe UI"/>
                        </a:rPr>
                        <a:t>Réalisation</a:t>
                      </a:r>
                    </a:p>
                  </a:txBody>
                  <a:tcPr marT="50800" marB="50800" marL="127000" marR="127000">
                    <a:solidFill>
                      <a:srgbClr val="121C32"/>
                    </a:solidFill>
                  </a:tcPr>
                </a:tc>
                <a:tc>
                  <a:txBody>
                    <a:bodyPr wrap="square"/>
                    <a:lstStyle/>
                    <a:p>
                      <a:r>
                        <a:rPr sz="1350" b="0" i="0">
                          <a:solidFill>
                            <a:srgbClr val="ECF0F7"/>
                          </a:solidFill>
                          <a:latin typeface="Segoe UI"/>
                        </a:rPr>
                        <a:t>Flèche triangle pointillé</a:t>
                      </a:r>
                    </a:p>
                  </a:txBody>
                  <a:tcPr marT="50800" marB="50800" marL="127000" marR="127000">
                    <a:solidFill>
                      <a:srgbClr val="121C32"/>
                    </a:solidFill>
                  </a:tcPr>
                </a:tc>
                <a:tc>
                  <a:txBody>
                    <a:bodyPr wrap="square"/>
                    <a:lstStyle/>
                    <a:p>
                      <a:r>
                        <a:rPr sz="1350" b="0" i="0">
                          <a:solidFill>
                            <a:srgbClr val="ECF0F7"/>
                          </a:solidFill>
                          <a:latin typeface="Segoe UI"/>
                        </a:rPr>
                        <a:t>implements — respecte un contrat</a:t>
                      </a:r>
                    </a:p>
                  </a:txBody>
                  <a:tcPr marT="50800" marB="50800" marL="127000" marR="127000">
                    <a:solidFill>
                      <a:srgbClr val="121C32"/>
                    </a:solidFill>
                  </a:tcPr>
                </a:tc>
              </a:tr>
              <a:tr h="566928">
                <a:tc>
                  <a:txBody>
                    <a:bodyPr wrap="square"/>
                    <a:lstStyle/>
                    <a:p>
                      <a:r>
                        <a:rPr sz="1350" b="1" i="0">
                          <a:solidFill>
                            <a:srgbClr val="ECF0F7"/>
                          </a:solidFill>
                          <a:latin typeface="Segoe UI"/>
                        </a:rPr>
                        <a:t>Agrégation</a:t>
                      </a:r>
                    </a:p>
                  </a:txBody>
                  <a:tcPr marT="50800" marB="50800" marL="127000" marR="127000">
                    <a:solidFill>
                      <a:srgbClr val="0B1220"/>
                    </a:solidFill>
                  </a:tcPr>
                </a:tc>
                <a:tc>
                  <a:txBody>
                    <a:bodyPr wrap="square"/>
                    <a:lstStyle/>
                    <a:p>
                      <a:r>
                        <a:rPr sz="1350" b="0" i="0">
                          <a:solidFill>
                            <a:srgbClr val="ECF0F7"/>
                          </a:solidFill>
                          <a:latin typeface="Segoe UI"/>
                        </a:rPr>
                        <a:t>Losange VIDE ◇</a:t>
                      </a:r>
                    </a:p>
                  </a:txBody>
                  <a:tcPr marT="50800" marB="50800" marL="127000" marR="127000">
                    <a:solidFill>
                      <a:srgbClr val="0B1220"/>
                    </a:solidFill>
                  </a:tcPr>
                </a:tc>
                <a:tc>
                  <a:txBody>
                    <a:bodyPr wrap="square"/>
                    <a:lstStyle/>
                    <a:p>
                      <a:r>
                        <a:rPr sz="1350" b="0" i="0">
                          <a:solidFill>
                            <a:srgbClr val="ECF0F7"/>
                          </a:solidFill>
                          <a:latin typeface="Segoe UI"/>
                        </a:rPr>
                        <a:t>Contient, mais l'objet contenu survit</a:t>
                      </a:r>
                    </a:p>
                  </a:txBody>
                  <a:tcPr marT="50800" marB="50800" marL="127000" marR="127000">
                    <a:solidFill>
                      <a:srgbClr val="0B1220"/>
                    </a:solidFill>
                  </a:tcPr>
                </a:tc>
              </a:tr>
              <a:tr h="566928">
                <a:tc>
                  <a:txBody>
                    <a:bodyPr wrap="square"/>
                    <a:lstStyle/>
                    <a:p>
                      <a:r>
                        <a:rPr sz="1350" b="1" i="0">
                          <a:solidFill>
                            <a:srgbClr val="ECF0F7"/>
                          </a:solidFill>
                          <a:latin typeface="Segoe UI"/>
                        </a:rPr>
                        <a:t>Composition</a:t>
                      </a:r>
                    </a:p>
                  </a:txBody>
                  <a:tcPr marT="50800" marB="50800" marL="127000" marR="127000">
                    <a:solidFill>
                      <a:srgbClr val="121C32"/>
                    </a:solidFill>
                  </a:tcPr>
                </a:tc>
                <a:tc>
                  <a:txBody>
                    <a:bodyPr wrap="square"/>
                    <a:lstStyle/>
                    <a:p>
                      <a:r>
                        <a:rPr sz="1350" b="0" i="0">
                          <a:solidFill>
                            <a:srgbClr val="ECF0F7"/>
                          </a:solidFill>
                          <a:latin typeface="Segoe UI"/>
                        </a:rPr>
                        <a:t>Losange PLEIN ◆</a:t>
                      </a:r>
                    </a:p>
                  </a:txBody>
                  <a:tcPr marT="50800" marB="50800" marL="127000" marR="127000">
                    <a:solidFill>
                      <a:srgbClr val="121C32"/>
                    </a:solidFill>
                  </a:tcPr>
                </a:tc>
                <a:tc>
                  <a:txBody>
                    <a:bodyPr wrap="square"/>
                    <a:lstStyle/>
                    <a:p>
                      <a:r>
                        <a:rPr sz="1350" b="0" i="0">
                          <a:solidFill>
                            <a:srgbClr val="ECF0F7"/>
                          </a:solidFill>
                          <a:latin typeface="Segoe UI"/>
                        </a:rPr>
                        <a:t>Contient, l'objet contenu ne survit pas</a:t>
                      </a:r>
                    </a:p>
                  </a:txBody>
                  <a:tcPr marT="50800" marB="50800" marL="127000" marR="127000">
                    <a:solidFill>
                      <a:srgbClr val="121C32"/>
                    </a:solidFill>
                  </a:tcPr>
                </a:tc>
              </a:tr>
              <a:tr h="566928">
                <a:tc>
                  <a:txBody>
                    <a:bodyPr wrap="square"/>
                    <a:lstStyle/>
                    <a:p>
                      <a:r>
                        <a:rPr sz="1350" b="1" i="0">
                          <a:solidFill>
                            <a:srgbClr val="ECF0F7"/>
                          </a:solidFill>
                          <a:latin typeface="Segoe UI"/>
                        </a:rPr>
                        <a:t>Dépendance</a:t>
                      </a:r>
                    </a:p>
                  </a:txBody>
                  <a:tcPr marT="50800" marB="50800" marL="127000" marR="127000">
                    <a:solidFill>
                      <a:srgbClr val="0B1220"/>
                    </a:solidFill>
                  </a:tcPr>
                </a:tc>
                <a:tc>
                  <a:txBody>
                    <a:bodyPr wrap="square"/>
                    <a:lstStyle/>
                    <a:p>
                      <a:r>
                        <a:rPr sz="1350" b="0" i="0">
                          <a:solidFill>
                            <a:srgbClr val="ECF0F7"/>
                          </a:solidFill>
                          <a:latin typeface="Segoe UI"/>
                        </a:rPr>
                        <a:t>Flèche pointillée</a:t>
                      </a:r>
                    </a:p>
                  </a:txBody>
                  <a:tcPr marT="50800" marB="50800" marL="127000" marR="127000">
                    <a:solidFill>
                      <a:srgbClr val="0B1220"/>
                    </a:solidFill>
                  </a:tcPr>
                </a:tc>
                <a:tc>
                  <a:txBody>
                    <a:bodyPr wrap="square"/>
                    <a:lstStyle/>
                    <a:p>
                      <a:r>
                        <a:rPr sz="1350" b="0" i="0">
                          <a:solidFill>
                            <a:srgbClr val="ECF0F7"/>
                          </a:solidFill>
                          <a:latin typeface="Segoe UI"/>
                        </a:rPr>
                        <a:t>Utilise temporairement, sans attribut permanent</a:t>
                      </a:r>
                    </a:p>
                  </a:txBody>
                  <a:tcPr marT="50800" marB="50800" marL="127000" marR="127000">
                    <a:solidFill>
                      <a:srgbClr val="0B1220"/>
                    </a:solidFill>
                  </a:tcPr>
                </a:tc>
              </a:tr>
            </a:tbl>
          </a:graphicData>
        </a:graphic>
      </p:graphicFrame>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16 — Relations entre classes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119</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Un système complet : Client / Commande / Produit / Paiement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class</a:t>
            </a:r>
            <a:r>
              <a:rPr sz="1500" b="0" i="0">
                <a:solidFill>
                  <a:srgbClr val="E3E9F4"/>
                </a:solidFill>
                <a:latin typeface="Consolas"/>
              </a:rPr>
              <a:t> </a:t>
            </a:r>
            <a:r>
              <a:rPr sz="1500" b="0" i="0">
                <a:solidFill>
                  <a:srgbClr val="E3E9F4"/>
                </a:solidFill>
                <a:latin typeface="Consolas"/>
              </a:rPr>
              <a:t>Commande</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private</a:t>
            </a:r>
            <a:r>
              <a:rPr sz="1500" b="0" i="0">
                <a:solidFill>
                  <a:srgbClr val="E3E9F4"/>
                </a:solidFill>
                <a:latin typeface="Consolas"/>
              </a:rPr>
              <a:t> </a:t>
            </a:r>
            <a:r>
              <a:rPr sz="1500" b="0" i="0">
                <a:solidFill>
                  <a:srgbClr val="E3E9F4"/>
                </a:solidFill>
                <a:latin typeface="Consolas"/>
              </a:rPr>
              <a:t>Client</a:t>
            </a:r>
            <a:r>
              <a:rPr sz="1500" b="0" i="0">
                <a:solidFill>
                  <a:srgbClr val="E3E9F4"/>
                </a:solidFill>
                <a:latin typeface="Consolas"/>
              </a:rPr>
              <a:t> </a:t>
            </a:r>
            <a:r>
              <a:rPr sz="1500" b="0" i="0">
                <a:solidFill>
                  <a:srgbClr val="E3E9F4"/>
                </a:solidFill>
                <a:latin typeface="Consolas"/>
              </a:rPr>
              <a:t>client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ASSOCIATION</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private</a:t>
            </a:r>
            <a:r>
              <a:rPr sz="1500" b="0" i="0">
                <a:solidFill>
                  <a:srgbClr val="E3E9F4"/>
                </a:solidFill>
                <a:latin typeface="Consolas"/>
              </a:rPr>
              <a:t> </a:t>
            </a:r>
            <a:r>
              <a:rPr sz="1500" b="0" i="0">
                <a:solidFill>
                  <a:srgbClr val="E3E9F4"/>
                </a:solidFill>
                <a:latin typeface="Consolas"/>
              </a:rPr>
              <a:t>LigneCommande</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lignes</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COMPOSITION</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private</a:t>
            </a:r>
            <a:r>
              <a:rPr sz="1500" b="0" i="0">
                <a:solidFill>
                  <a:srgbClr val="E3E9F4"/>
                </a:solidFill>
                <a:latin typeface="Consolas"/>
              </a:rPr>
              <a:t> </a:t>
            </a:r>
            <a:r>
              <a:rPr sz="1500" b="0" i="0">
                <a:solidFill>
                  <a:srgbClr val="F28C28"/>
                </a:solidFill>
                <a:latin typeface="Consolas"/>
              </a:rPr>
              <a:t>boolean</a:t>
            </a:r>
            <a:r>
              <a:rPr sz="1500" b="0" i="0">
                <a:solidFill>
                  <a:srgbClr val="E3E9F4"/>
                </a:solidFill>
                <a:latin typeface="Consolas"/>
              </a:rPr>
              <a:t> </a:t>
            </a:r>
            <a:r>
              <a:rPr sz="1500" b="0" i="0">
                <a:solidFill>
                  <a:srgbClr val="E3E9F4"/>
                </a:solidFill>
                <a:latin typeface="Consolas"/>
              </a:rPr>
              <a:t>payee</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Chaque classe ne connaît que ses VOISINES DIRECTES, jamais tout le système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Les classes collaborent via leurs méthodes PUBLIQUES, jamais en fouillant un attribut interne lointain</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Une action métier (« payer ») peut nécessiter de mettre à jour PLUSIEURS objets à la fois</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16 — Relations entre classes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120</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16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 fréquente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Une classe qui modifie DIRECTEMENT un attribut interne d'une autre classe, en traversant plusieurs objets (viole l'encapsulation, casse le code au moindre changement interne)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16 — Relations entre classes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Chaque relation UML a un sens précis et une notation propre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Les classes collaborent par leurs méthodes publiques, jamais en accédant directement aux attributs internes d'une autre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16 — Relations entre classes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122</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17</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Surcharge</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Overloading — plusieurs méthodes, même nom, paramètres différents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17 — Surcharge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17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Surcharge : même nom, signatures différentes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afficher</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afficher</a:t>
            </a:r>
            <a:r>
              <a:rPr sz="1700" b="0" i="0">
                <a:solidFill>
                  <a:srgbClr val="E3E9F4"/>
                </a:solidFill>
                <a:latin typeface="Consolas"/>
              </a:rPr>
              <a:t>(</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afficher</a:t>
            </a:r>
            <a:r>
              <a:rPr sz="1700" b="0" i="0">
                <a:solidFill>
                  <a:srgbClr val="E3E9F4"/>
                </a:solidFill>
                <a:latin typeface="Consolas"/>
              </a:rPr>
              <a:t>(</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17 — Surcharge</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124</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Surcharge vs Redéfinition</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5272888" cy="470916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5272888" cy="5029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08760"/>
            <a:ext cx="5272888" cy="502920"/>
          </a:xfrm>
          <a:prstGeom prst="rect">
            <a:avLst/>
          </a:prstGeom>
          <a:noFill/>
        </p:spPr>
        <p:txBody>
          <a:bodyPr wrap="square" anchor="ctr" lIns="0" rIns="0" tIns="0" bIns="0">
            <a:spAutoFit/>
          </a:bodyPr>
          <a:lstStyle/>
          <a:p>
            <a:pPr algn="ctr">
              <a:spcBef>
                <a:spcPts val="0"/>
              </a:spcBef>
              <a:spcAft>
                <a:spcPts val="0"/>
              </a:spcAft>
              <a:buNone/>
            </a:pPr>
            <a:r>
              <a:rPr sz="1700" b="1" i="0">
                <a:solidFill>
                  <a:srgbClr val="0B1220"/>
                </a:solidFill>
                <a:latin typeface="Segoe UI"/>
              </a:rPr>
              <a:t>Surcharge (overloading)</a:t>
            </a:r>
          </a:p>
        </p:txBody>
      </p:sp>
      <p:sp>
        <p:nvSpPr>
          <p:cNvPr id="9" name="TextBox 8"/>
          <p:cNvSpPr txBox="1"/>
          <p:nvPr/>
        </p:nvSpPr>
        <p:spPr>
          <a:xfrm>
            <a:off x="914400" y="2286000"/>
            <a:ext cx="4724248" cy="3703320"/>
          </a:xfrm>
          <a:prstGeom prst="rect">
            <a:avLst/>
          </a:prstGeom>
          <a:noFill/>
        </p:spPr>
        <p:txBody>
          <a:bodyPr wrap="square" anchor="t" lIns="0" rIns="0" tIns="0" bIns="0">
            <a:spAutoFit/>
          </a:bodyPr>
          <a:lstStyle/>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Même classe</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Paramètres DIFFÉRENTS</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Choisie à la COMPILATION</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Ex : plusieurs constructeurs (Module 6)</a:t>
            </a:r>
          </a:p>
        </p:txBody>
      </p:sp>
      <p:sp>
        <p:nvSpPr>
          <p:cNvPr id="10" name="Rectangle 9"/>
          <p:cNvSpPr/>
          <p:nvPr/>
        </p:nvSpPr>
        <p:spPr>
          <a:xfrm>
            <a:off x="6278728" y="1508760"/>
            <a:ext cx="5272888" cy="470916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8728" y="1508760"/>
            <a:ext cx="5272888" cy="502920"/>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8728" y="1508760"/>
            <a:ext cx="5272888" cy="502920"/>
          </a:xfrm>
          <a:prstGeom prst="rect">
            <a:avLst/>
          </a:prstGeom>
          <a:noFill/>
        </p:spPr>
        <p:txBody>
          <a:bodyPr wrap="square" anchor="ctr" lIns="0" rIns="0" tIns="0" bIns="0">
            <a:spAutoFit/>
          </a:bodyPr>
          <a:lstStyle/>
          <a:p>
            <a:pPr algn="ctr">
              <a:spcBef>
                <a:spcPts val="0"/>
              </a:spcBef>
              <a:spcAft>
                <a:spcPts val="0"/>
              </a:spcAft>
              <a:buNone/>
            </a:pPr>
            <a:r>
              <a:rPr sz="1700" b="1" i="0">
                <a:solidFill>
                  <a:srgbClr val="0B1220"/>
                </a:solidFill>
                <a:latin typeface="Segoe UI"/>
              </a:rPr>
              <a:t>Redéfinition (overriding)</a:t>
            </a:r>
          </a:p>
        </p:txBody>
      </p:sp>
      <p:sp>
        <p:nvSpPr>
          <p:cNvPr id="13" name="TextBox 12"/>
          <p:cNvSpPr txBox="1"/>
          <p:nvPr/>
        </p:nvSpPr>
        <p:spPr>
          <a:xfrm>
            <a:off x="6553048" y="2286000"/>
            <a:ext cx="4724248" cy="3703320"/>
          </a:xfrm>
          <a:prstGeom prst="rect">
            <a:avLst/>
          </a:prstGeom>
          <a:noFill/>
        </p:spPr>
        <p:txBody>
          <a:bodyPr wrap="square" anchor="t" lIns="0" rIns="0" tIns="0" bIns="0">
            <a:spAutoFit/>
          </a:bodyPr>
          <a:lstStyle/>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Classe fille vs classe mère</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MÊME signature exactement</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Choisie à l'EXÉCUTION (Module 12)</a:t>
            </a:r>
          </a:p>
          <a:p>
            <a:pPr algn="l">
              <a:lnSpc>
                <a:spcPct val="115000"/>
              </a:lnSpc>
              <a:spcAft>
                <a:spcPts val="800"/>
              </a:spcAft>
              <a:buNone/>
            </a:pPr>
            <a:r>
              <a:rPr sz="1450" b="1" i="0">
                <a:solidFill>
                  <a:srgbClr val="F28C28"/>
                </a:solidFill>
                <a:latin typeface="Segoe UI"/>
              </a:rPr>
              <a:t>›  </a:t>
            </a:r>
            <a:r>
              <a:rPr sz="1450" b="0" i="0">
                <a:solidFill>
                  <a:srgbClr val="ECF0F7"/>
                </a:solidFill>
                <a:latin typeface="Segoe UI"/>
              </a:rPr>
              <a:t>Ex : @Override (Module 11)</a:t>
            </a:r>
          </a:p>
        </p:txBody>
      </p:sp>
      <p:sp>
        <p:nvSpPr>
          <p:cNvPr id="14" name="TextBox 13"/>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5" name="TextBox 14"/>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17 — Surcharge</a:t>
            </a:r>
          </a:p>
        </p:txBody>
      </p:sp>
      <p:sp>
        <p:nvSpPr>
          <p:cNvPr id="16" name="TextBox 15"/>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125</a:t>
            </a:r>
          </a:p>
        </p:txBody>
      </p:sp>
      <p:sp>
        <p:nvSpPr>
          <p:cNvPr id="17" name="Rectangle 16"/>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17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Écrire des méthodes surchargées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Écrivez trois versions surchargées d'une méthode calculerPrix() : sans paramètre (renvoie 0), avec un double prix, avec un double prix et un double remise.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17 — Surcharge</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126</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Surcharge = même nom, paramètres différents, même classe, choisie à la compilation</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Redéfinition = même signature, classe fille, choisie à l'exécution</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17 — Surcharge</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127</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18</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Packages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Organiser un projet en dossiers clairs selon le rôle de chaque classe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18 — Packages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18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Structure de projet standard</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src/model/  → les classes « données »</a:t>
            </a:r>
          </a:p>
        </p:txBody>
      </p:sp>
      <p:sp>
        <p:nvSpPr>
          <p:cNvPr id="9" name="Down Arrow 8"/>
          <p:cNvSpPr/>
          <p:nvPr/>
        </p:nvSpPr>
        <p:spPr>
          <a:xfrm>
            <a:off x="5967832" y="236829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60604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60604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60604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src/service/ → la logique métier</a:t>
            </a:r>
          </a:p>
        </p:txBody>
      </p:sp>
      <p:sp>
        <p:nvSpPr>
          <p:cNvPr id="13" name="Down Arrow 12"/>
          <p:cNvSpPr/>
          <p:nvPr/>
        </p:nvSpPr>
        <p:spPr>
          <a:xfrm>
            <a:off x="5967832" y="341985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3928" y="365760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3928" y="365760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8248" y="365760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src/repository/ → l'accès aux données</a:t>
            </a:r>
          </a:p>
        </p:txBody>
      </p:sp>
      <p:sp>
        <p:nvSpPr>
          <p:cNvPr id="17" name="Down Arrow 16"/>
          <p:cNvSpPr/>
          <p:nvPr/>
        </p:nvSpPr>
        <p:spPr>
          <a:xfrm>
            <a:off x="5967832" y="447141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63928" y="470916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63928" y="470916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8248" y="470916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src/main/ → le point d'entrée</a:t>
            </a:r>
          </a:p>
        </p:txBody>
      </p:sp>
      <p:sp>
        <p:nvSpPr>
          <p:cNvPr id="21" name="TextBox 20"/>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22" name="TextBox 21"/>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18 — Packages</a:t>
            </a:r>
          </a:p>
        </p:txBody>
      </p:sp>
      <p:sp>
        <p:nvSpPr>
          <p:cNvPr id="23" name="TextBox 22"/>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129</a:t>
            </a:r>
          </a:p>
        </p:txBody>
      </p:sp>
      <p:sp>
        <p:nvSpPr>
          <p:cNvPr id="24" name="Rectangle 23"/>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18</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package et import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5C6A87"/>
                </a:solidFill>
                <a:latin typeface="Consolas"/>
              </a:rPr>
              <a:t>// Fichier : src/model/Etudiant.java</a:t>
            </a:r>
          </a:p>
          <a:p>
            <a:pPr algn="l">
              <a:lnSpc>
                <a:spcPct val="115000"/>
              </a:lnSpc>
              <a:spcAft>
                <a:spcPts val="200"/>
              </a:spcAft>
              <a:buNone/>
            </a:pPr>
            <a:r>
              <a:rPr sz="1700" b="0" i="0">
                <a:solidFill>
                  <a:srgbClr val="F28C28"/>
                </a:solidFill>
                <a:latin typeface="Consolas"/>
              </a:rPr>
              <a:t>package</a:t>
            </a:r>
            <a:r>
              <a:rPr sz="1700" b="0" i="0">
                <a:solidFill>
                  <a:srgbClr val="E3E9F4"/>
                </a:solidFill>
                <a:latin typeface="Consolas"/>
              </a:rPr>
              <a:t> </a:t>
            </a:r>
            <a:r>
              <a:rPr sz="1700" b="0" i="0">
                <a:solidFill>
                  <a:srgbClr val="E3E9F4"/>
                </a:solidFill>
                <a:latin typeface="Consolas"/>
              </a:rPr>
              <a:t>model</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Etudiant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5C6A87"/>
                </a:solidFill>
                <a:latin typeface="Consolas"/>
              </a:rPr>
              <a:t>// Fichier : src/dao/EtudiantDAO.java</a:t>
            </a:r>
          </a:p>
          <a:p>
            <a:pPr algn="l">
              <a:lnSpc>
                <a:spcPct val="115000"/>
              </a:lnSpc>
              <a:spcAft>
                <a:spcPts val="200"/>
              </a:spcAft>
              <a:buNone/>
            </a:pPr>
            <a:r>
              <a:rPr sz="1700" b="0" i="0">
                <a:solidFill>
                  <a:srgbClr val="F28C28"/>
                </a:solidFill>
                <a:latin typeface="Consolas"/>
              </a:rPr>
              <a:t>package</a:t>
            </a:r>
            <a:r>
              <a:rPr sz="1700" b="0" i="0">
                <a:solidFill>
                  <a:srgbClr val="E3E9F4"/>
                </a:solidFill>
                <a:latin typeface="Consolas"/>
              </a:rPr>
              <a:t> </a:t>
            </a:r>
            <a:r>
              <a:rPr sz="1700" b="0" i="0">
                <a:solidFill>
                  <a:srgbClr val="E3E9F4"/>
                </a:solidFill>
                <a:latin typeface="Consolas"/>
              </a:rPr>
              <a:t>dao</a:t>
            </a:r>
            <a:r>
              <a:rPr sz="1700" b="0" i="0">
                <a:solidFill>
                  <a:srgbClr val="E3E9F4"/>
                </a:solidFill>
                <a:latin typeface="Consolas"/>
              </a:rPr>
              <a:t>;</a:t>
            </a:r>
          </a:p>
          <a:p>
            <a:pPr algn="l">
              <a:lnSpc>
                <a:spcPct val="115000"/>
              </a:lnSpc>
              <a:spcAft>
                <a:spcPts val="200"/>
              </a:spcAft>
              <a:buNone/>
            </a:pPr>
            <a:r>
              <a:rPr sz="1700" b="0" i="0">
                <a:solidFill>
                  <a:srgbClr val="F28C28"/>
                </a:solidFill>
                <a:latin typeface="Consolas"/>
              </a:rPr>
              <a:t>import</a:t>
            </a:r>
            <a:r>
              <a:rPr sz="1700" b="0" i="0">
                <a:solidFill>
                  <a:srgbClr val="E3E9F4"/>
                </a:solidFill>
                <a:latin typeface="Consolas"/>
              </a:rPr>
              <a:t> </a:t>
            </a:r>
            <a:r>
              <a:rPr sz="1700" b="0" i="0">
                <a:solidFill>
                  <a:srgbClr val="E3E9F4"/>
                </a:solidFill>
                <a:latin typeface="Consolas"/>
              </a:rPr>
              <a:t>model</a:t>
            </a:r>
            <a:r>
              <a:rPr sz="1700" b="0" i="0">
                <a:solidFill>
                  <a:srgbClr val="E3E9F4"/>
                </a:solidFill>
                <a:latin typeface="Consolas"/>
              </a:rPr>
              <a:t>.</a:t>
            </a:r>
            <a:r>
              <a:rPr sz="1700" b="0" i="0">
                <a:solidFill>
                  <a:srgbClr val="E3E9F4"/>
                </a:solidFill>
                <a:latin typeface="Consolas"/>
              </a:rPr>
              <a:t>Etudiant</a:t>
            </a:r>
            <a:r>
              <a:rPr sz="1700" b="0" i="0">
                <a:solidFill>
                  <a:srgbClr val="E3E9F4"/>
                </a:solidFill>
                <a:latin typeface="Consolas"/>
              </a:rPr>
              <a:t>;</a:t>
            </a:r>
            <a:r>
              <a:rPr sz="1700" b="0" i="0">
                <a:solidFill>
                  <a:srgbClr val="E3E9F4"/>
                </a:solidFill>
                <a:latin typeface="Consolas"/>
              </a:rPr>
              <a:t> </a:t>
            </a:r>
            <a:r>
              <a:rPr sz="1700" b="0" i="0">
                <a:solidFill>
                  <a:srgbClr val="5C6A87"/>
                </a:solidFill>
                <a:latin typeface="Consolas"/>
              </a:rPr>
              <a:t>// importer une classe d'un AUTRE package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18 — Packages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130</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18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Organiser un mini-projet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Pour une application de gestion de bibliothèque, proposez une arborescence de packages (au moins 4), et indiquez dans lequel irait chacune de ces classes : Livre, LivreDAO, ServicePret, ExceptionLivreIndisponible.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18 — Packages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131</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18</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 package Java = un dossier, organisé selon le RÔLE des classes qu'il contient</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package en 1re ligne du fichier ; import pour utiliser une classe d'un autre package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18 — Packages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132</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19</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Exceptions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try, catch, finally, throw, throws — gérer les erreurs proprement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19 — Exceptions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19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try / catch</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try</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resultat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8C54A"/>
                </a:solidFill>
                <a:latin typeface="Consolas"/>
              </a:rPr>
              <a:t>10</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8C54A"/>
                </a:solidFill>
                <a:latin typeface="Consolas"/>
              </a:rPr>
              <a:t>0</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catch</a:t>
            </a:r>
            <a:r>
              <a:rPr sz="1700" b="0" i="0">
                <a:solidFill>
                  <a:srgbClr val="E3E9F4"/>
                </a:solidFill>
                <a:latin typeface="Consolas"/>
              </a:rPr>
              <a:t> </a:t>
            </a:r>
            <a:r>
              <a:rPr sz="1700" b="0" i="0">
                <a:solidFill>
                  <a:srgbClr val="E3E9F4"/>
                </a:solidFill>
                <a:latin typeface="Consolas"/>
              </a:rPr>
              <a:t>(</a:t>
            </a:r>
            <a:r>
              <a:rPr sz="1700" b="0" i="0">
                <a:solidFill>
                  <a:srgbClr val="35C7E0"/>
                </a:solidFill>
                <a:latin typeface="Consolas"/>
              </a:rPr>
              <a:t>ArithmeticException</a:t>
            </a:r>
            <a:r>
              <a:rPr sz="1700" b="0" i="0">
                <a:solidFill>
                  <a:srgbClr val="E3E9F4"/>
                </a:solidFill>
                <a:latin typeface="Consolas"/>
              </a:rPr>
              <a:t> </a:t>
            </a:r>
            <a:r>
              <a:rPr sz="1700" b="0" i="0">
                <a:solidFill>
                  <a:srgbClr val="E3E9F4"/>
                </a:solidFill>
                <a:latin typeface="Consolas"/>
              </a:rPr>
              <a:t>e</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"Erreur"</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19 — Exceptions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134</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Plusieurs catch, et finally</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try</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catch</a:t>
            </a:r>
            <a:r>
              <a:rPr sz="1500" b="0" i="0">
                <a:solidFill>
                  <a:srgbClr val="E3E9F4"/>
                </a:solidFill>
                <a:latin typeface="Consolas"/>
              </a:rPr>
              <a:t> </a:t>
            </a:r>
            <a:r>
              <a:rPr sz="1500" b="0" i="0">
                <a:solidFill>
                  <a:srgbClr val="E3E9F4"/>
                </a:solidFill>
                <a:latin typeface="Consolas"/>
              </a:rPr>
              <a:t>(</a:t>
            </a:r>
            <a:r>
              <a:rPr sz="1500" b="0" i="0">
                <a:solidFill>
                  <a:srgbClr val="35C7E0"/>
                </a:solidFill>
                <a:latin typeface="Consolas"/>
              </a:rPr>
              <a:t>ArithmeticException</a:t>
            </a:r>
            <a:r>
              <a:rPr sz="1500" b="0" i="0">
                <a:solidFill>
                  <a:srgbClr val="E3E9F4"/>
                </a:solidFill>
                <a:latin typeface="Consolas"/>
              </a:rPr>
              <a:t> </a:t>
            </a:r>
            <a:r>
              <a:rPr sz="1500" b="0" i="0">
                <a:solidFill>
                  <a:srgbClr val="E3E9F4"/>
                </a:solidFill>
                <a:latin typeface="Consolas"/>
              </a:rPr>
              <a:t>e</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catch</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ArrayIndexOutOfBoundsException</a:t>
            </a:r>
            <a:r>
              <a:rPr sz="1500" b="0" i="0">
                <a:solidFill>
                  <a:srgbClr val="E3E9F4"/>
                </a:solidFill>
                <a:latin typeface="Consolas"/>
              </a:rPr>
              <a:t> </a:t>
            </a:r>
            <a:r>
              <a:rPr sz="1500" b="0" i="0">
                <a:solidFill>
                  <a:srgbClr val="E3E9F4"/>
                </a:solidFill>
                <a:latin typeface="Consolas"/>
              </a:rPr>
              <a:t>e</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finally</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35C7E0"/>
                </a:solidFill>
                <a:latin typeface="Consolas"/>
              </a:rPr>
              <a:t>System</a:t>
            </a:r>
            <a:r>
              <a:rPr sz="1500" b="0" i="0">
                <a:solidFill>
                  <a:srgbClr val="E3E9F4"/>
                </a:solidFill>
                <a:latin typeface="Consolas"/>
              </a:rPr>
              <a:t>.</a:t>
            </a:r>
            <a:r>
              <a:rPr sz="1500" b="0" i="0">
                <a:solidFill>
                  <a:srgbClr val="E3E9F4"/>
                </a:solidFill>
                <a:latin typeface="Consolas"/>
              </a:rPr>
              <a:t>out</a:t>
            </a:r>
            <a:r>
              <a:rPr sz="1500" b="0" i="0">
                <a:solidFill>
                  <a:srgbClr val="E3E9F4"/>
                </a:solidFill>
                <a:latin typeface="Consolas"/>
              </a:rPr>
              <a:t>.</a:t>
            </a:r>
            <a:r>
              <a:rPr sz="1500" b="0" i="0">
                <a:solidFill>
                  <a:srgbClr val="E3E9F4"/>
                </a:solidFill>
                <a:latin typeface="Consolas"/>
              </a:rPr>
              <a:t>println</a:t>
            </a:r>
            <a:r>
              <a:rPr sz="1500" b="0" i="0">
                <a:solidFill>
                  <a:srgbClr val="E3E9F4"/>
                </a:solidFill>
                <a:latin typeface="Consolas"/>
              </a:rPr>
              <a:t>(</a:t>
            </a:r>
            <a:r>
              <a:rPr sz="1500" b="0" i="0">
                <a:solidFill>
                  <a:srgbClr val="33C984"/>
                </a:solidFill>
                <a:latin typeface="Consolas"/>
              </a:rPr>
              <a:t>"Toujours exécuté"</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finally s'exécute TOUJOURS, erreur ou pas — idéal pour libérer une ressource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throw lève volontairement une exception ; throws l'annonce dans la signature de la méthode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19 — Exceptions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19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Créer une exception personnalisée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SoldeInsuffisantException</a:t>
            </a:r>
            <a:r>
              <a:rPr sz="1700" b="0" i="0">
                <a:solidFill>
                  <a:srgbClr val="E3E9F4"/>
                </a:solidFill>
                <a:latin typeface="Consolas"/>
              </a:rPr>
              <a:t> </a:t>
            </a:r>
            <a:r>
              <a:rPr sz="1700" b="0" i="0">
                <a:solidFill>
                  <a:srgbClr val="F28C28"/>
                </a:solidFill>
                <a:latin typeface="Consolas"/>
              </a:rPr>
              <a:t>extends</a:t>
            </a:r>
            <a:r>
              <a:rPr sz="1700" b="0" i="0">
                <a:solidFill>
                  <a:srgbClr val="E3E9F4"/>
                </a:solidFill>
                <a:latin typeface="Consolas"/>
              </a:rPr>
              <a:t> </a:t>
            </a:r>
            <a:r>
              <a:rPr sz="1700" b="0" i="0">
                <a:solidFill>
                  <a:srgbClr val="35C7E0"/>
                </a:solidFill>
                <a:latin typeface="Consolas"/>
              </a:rPr>
              <a:t>Exception</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public</a:t>
            </a:r>
            <a:r>
              <a:rPr sz="1700" b="0" i="0">
                <a:solidFill>
                  <a:srgbClr val="E3E9F4"/>
                </a:solidFill>
                <a:latin typeface="Consolas"/>
              </a:rPr>
              <a:t> </a:t>
            </a:r>
            <a:r>
              <a:rPr sz="1700" b="0" i="0">
                <a:solidFill>
                  <a:srgbClr val="E3E9F4"/>
                </a:solidFill>
                <a:latin typeface="Consolas"/>
              </a:rPr>
              <a:t>SoldeInsuffisantException</a:t>
            </a:r>
            <a:r>
              <a:rPr sz="1700" b="0" i="0">
                <a:solidFill>
                  <a:srgbClr val="E3E9F4"/>
                </a:solidFill>
                <a:latin typeface="Consolas"/>
              </a:rPr>
              <a:t>(</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message</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super</a:t>
            </a:r>
            <a:r>
              <a:rPr sz="1700" b="0" i="0">
                <a:solidFill>
                  <a:srgbClr val="E3E9F4"/>
                </a:solidFill>
                <a:latin typeface="Consolas"/>
              </a:rPr>
              <a:t>(</a:t>
            </a:r>
            <a:r>
              <a:rPr sz="1700" b="0" i="0">
                <a:solidFill>
                  <a:srgbClr val="E3E9F4"/>
                </a:solidFill>
                <a:latin typeface="Consolas"/>
              </a:rPr>
              <a:t>message</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19 — Exceptions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136</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19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Attraper Exception de façon trop large, masquant des bugs imprévus</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Un catch vide qui « avale » silencieusement l'erreur</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throws sur une méthode qui lève une exception vérifiée</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super(message) dans une exception personnalisée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19 — Exceptions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19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Exception personnalisée bancaire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Créez SoldeInsuffisantException. Une méthode CompteBancaire.retirer(double montant) la lève si le montant dépasse le solde. Testez avec un try/catch.</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19 — Exceptions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138</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19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try entoure le code risqué ; catch réagit à un type précis d'erreur ; finally s'exécute toujours</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throw déclenche ; throws annonce dans la signature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Une exception personnalisée donne un sens métier clair à une erreur</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19 — Exceptions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139</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20</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Collections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ArrayList, HashSet, HashMap — au-delà des tableaux à taille fixe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20 — Collections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20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ArrayList : une liste qui grandit librement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35C7E0"/>
                </a:solidFill>
                <a:latin typeface="Consolas"/>
              </a:rPr>
              <a:t>List</a:t>
            </a:r>
            <a:r>
              <a:rPr sz="1700" b="0" i="0">
                <a:solidFill>
                  <a:srgbClr val="E3E9F4"/>
                </a:solidFill>
                <a:latin typeface="Consolas"/>
              </a:rPr>
              <a:t>&lt;</a:t>
            </a:r>
            <a:r>
              <a:rPr sz="1700" b="0" i="0">
                <a:solidFill>
                  <a:srgbClr val="F28C28"/>
                </a:solidFill>
                <a:latin typeface="Consolas"/>
              </a:rPr>
              <a:t>String</a:t>
            </a:r>
            <a:r>
              <a:rPr sz="1700" b="0" i="0">
                <a:solidFill>
                  <a:srgbClr val="E3E9F4"/>
                </a:solidFill>
                <a:latin typeface="Consolas"/>
              </a:rPr>
              <a:t>&gt;</a:t>
            </a:r>
            <a:r>
              <a:rPr sz="1700" b="0" i="0">
                <a:solidFill>
                  <a:srgbClr val="E3E9F4"/>
                </a:solidFill>
                <a:latin typeface="Consolas"/>
              </a:rPr>
              <a:t> </a:t>
            </a:r>
            <a:r>
              <a:rPr sz="1700" b="0" i="0">
                <a:solidFill>
                  <a:srgbClr val="E3E9F4"/>
                </a:solidFill>
                <a:latin typeface="Consolas"/>
              </a:rPr>
              <a:t>noms</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new</a:t>
            </a:r>
            <a:r>
              <a:rPr sz="1700" b="0" i="0">
                <a:solidFill>
                  <a:srgbClr val="E3E9F4"/>
                </a:solidFill>
                <a:latin typeface="Consolas"/>
              </a:rPr>
              <a:t> </a:t>
            </a:r>
            <a:r>
              <a:rPr sz="1700" b="0" i="0">
                <a:solidFill>
                  <a:srgbClr val="35C7E0"/>
                </a:solidFill>
                <a:latin typeface="Consolas"/>
              </a:rPr>
              <a:t>ArrayList</a:t>
            </a:r>
            <a:r>
              <a:rPr sz="1700" b="0" i="0">
                <a:solidFill>
                  <a:srgbClr val="E3E9F4"/>
                </a:solidFill>
                <a:latin typeface="Consolas"/>
              </a:rPr>
              <a:t>&lt;</a:t>
            </a:r>
            <a:r>
              <a:rPr sz="1700" b="0" i="0">
                <a:solidFill>
                  <a:srgbClr val="E3E9F4"/>
                </a:solidFill>
                <a:latin typeface="Consolas"/>
              </a:rPr>
              <a:t>&gt;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noms</a:t>
            </a:r>
            <a:r>
              <a:rPr sz="1700" b="0" i="0">
                <a:solidFill>
                  <a:srgbClr val="E3E9F4"/>
                </a:solidFill>
                <a:latin typeface="Consolas"/>
              </a:rPr>
              <a:t>.</a:t>
            </a:r>
            <a:r>
              <a:rPr sz="1700" b="0" i="0">
                <a:solidFill>
                  <a:srgbClr val="E3E9F4"/>
                </a:solidFill>
                <a:latin typeface="Consolas"/>
              </a:rPr>
              <a:t>add</a:t>
            </a:r>
            <a:r>
              <a:rPr sz="1700" b="0" i="0">
                <a:solidFill>
                  <a:srgbClr val="E3E9F4"/>
                </a:solidFill>
                <a:latin typeface="Consolas"/>
              </a:rPr>
              <a:t>(</a:t>
            </a:r>
            <a:r>
              <a:rPr sz="1700" b="0" i="0">
                <a:solidFill>
                  <a:srgbClr val="33C984"/>
                </a:solidFill>
                <a:latin typeface="Consolas"/>
              </a:rPr>
              <a:t>"Jean"</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noms</a:t>
            </a:r>
            <a:r>
              <a:rPr sz="1700" b="0" i="0">
                <a:solidFill>
                  <a:srgbClr val="E3E9F4"/>
                </a:solidFill>
                <a:latin typeface="Consolas"/>
              </a:rPr>
              <a:t>.</a:t>
            </a:r>
            <a:r>
              <a:rPr sz="1700" b="0" i="0">
                <a:solidFill>
                  <a:srgbClr val="E3E9F4"/>
                </a:solidFill>
                <a:latin typeface="Consolas"/>
              </a:rPr>
              <a:t>add</a:t>
            </a:r>
            <a:r>
              <a:rPr sz="1700" b="0" i="0">
                <a:solidFill>
                  <a:srgbClr val="E3E9F4"/>
                </a:solidFill>
                <a:latin typeface="Consolas"/>
              </a:rPr>
              <a:t>(</a:t>
            </a:r>
            <a:r>
              <a:rPr sz="1700" b="0" i="0">
                <a:solidFill>
                  <a:srgbClr val="33C984"/>
                </a:solidFill>
                <a:latin typeface="Consolas"/>
              </a:rPr>
              <a:t>"Marie"</a:t>
            </a:r>
            <a:r>
              <a:rPr sz="1700" b="0" i="0">
                <a:solidFill>
                  <a:srgbClr val="E3E9F4"/>
                </a:solidFill>
                <a:latin typeface="Consolas"/>
              </a:rPr>
              <a:t>)</a:t>
            </a: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Un tableau classique a une taille FIXE ; ArrayList grandit et rétrécit librement.</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20 — Collections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141</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ArrayList, HashSet, HashMap — comparatif</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911532" cy="2267712"/>
        </p:xfrm>
        <a:graphic>
          <a:graphicData uri="http://schemas.openxmlformats.org/drawingml/2006/table">
            <a:tbl>
              <a:tblPr firstRow="1" bandRow="1">
                <a:tableStyleId>{5C22544A-7EE6-4342-B048-85BDC9FD1C3A}</a:tableStyleId>
              </a:tblPr>
              <a:tblGrid>
                <a:gridCol w="2727883"/>
                <a:gridCol w="2727883"/>
                <a:gridCol w="2727883"/>
                <a:gridCol w="2727883"/>
              </a:tblGrid>
              <a:tr h="566928">
                <a:tc>
                  <a:txBody>
                    <a:bodyPr wrap="square"/>
                    <a:lstStyle/>
                    <a:p>
                      <a:pPr algn="l"/>
                      <a:r>
                        <a:rPr sz="1400" b="1" i="0">
                          <a:solidFill>
                            <a:srgbClr val="0B1220"/>
                          </a:solidFill>
                          <a:latin typeface="Segoe UI"/>
                        </a:rPr>
                        <a:t>Structure</a:t>
                      </a:r>
                    </a:p>
                  </a:txBody>
                  <a:tcPr marT="50800" marB="50800" marL="127000" marR="127000">
                    <a:solidFill>
                      <a:srgbClr val="F28C28"/>
                    </a:solidFill>
                  </a:tcPr>
                </a:tc>
                <a:tc>
                  <a:txBody>
                    <a:bodyPr wrap="square"/>
                    <a:lstStyle/>
                    <a:p>
                      <a:pPr algn="l"/>
                      <a:r>
                        <a:rPr sz="1400" b="1" i="0">
                          <a:solidFill>
                            <a:srgbClr val="0B1220"/>
                          </a:solidFill>
                          <a:latin typeface="Segoe UI"/>
                        </a:rPr>
                        <a:t>Doublons ?</a:t>
                      </a:r>
                    </a:p>
                  </a:txBody>
                  <a:tcPr marT="50800" marB="50800" marL="127000" marR="127000">
                    <a:solidFill>
                      <a:srgbClr val="F28C28"/>
                    </a:solidFill>
                  </a:tcPr>
                </a:tc>
                <a:tc>
                  <a:txBody>
                    <a:bodyPr wrap="square"/>
                    <a:lstStyle/>
                    <a:p>
                      <a:pPr algn="l"/>
                      <a:r>
                        <a:rPr sz="1400" b="1" i="0">
                          <a:solidFill>
                            <a:srgbClr val="0B1220"/>
                          </a:solidFill>
                          <a:latin typeface="Segoe UI"/>
                        </a:rPr>
                        <a:t>Ordre gardé ?</a:t>
                      </a:r>
                    </a:p>
                  </a:txBody>
                  <a:tcPr marT="50800" marB="50800" marL="127000" marR="127000">
                    <a:solidFill>
                      <a:srgbClr val="F28C28"/>
                    </a:solidFill>
                  </a:tcPr>
                </a:tc>
                <a:tc>
                  <a:txBody>
                    <a:bodyPr wrap="square"/>
                    <a:lstStyle/>
                    <a:p>
                      <a:pPr algn="l"/>
                      <a:r>
                        <a:rPr sz="1400" b="1" i="0">
                          <a:solidFill>
                            <a:srgbClr val="0B1220"/>
                          </a:solidFill>
                          <a:latin typeface="Segoe UI"/>
                        </a:rPr>
                        <a:t>Accès</a:t>
                      </a:r>
                    </a:p>
                  </a:txBody>
                  <a:tcPr marT="50800" marB="50800" marL="127000" marR="127000">
                    <a:solidFill>
                      <a:srgbClr val="F28C28"/>
                    </a:solidFill>
                  </a:tcPr>
                </a:tc>
              </a:tr>
              <a:tr h="566928">
                <a:tc>
                  <a:txBody>
                    <a:bodyPr wrap="square"/>
                    <a:lstStyle/>
                    <a:p>
                      <a:r>
                        <a:rPr sz="1350" b="1" i="0">
                          <a:solidFill>
                            <a:srgbClr val="ECF0F7"/>
                          </a:solidFill>
                          <a:latin typeface="Segoe UI"/>
                        </a:rPr>
                        <a:t>ArrayList</a:t>
                      </a:r>
                    </a:p>
                  </a:txBody>
                  <a:tcPr marT="50800" marB="50800" marL="127000" marR="127000">
                    <a:solidFill>
                      <a:srgbClr val="121C32"/>
                    </a:solidFill>
                  </a:tcPr>
                </a:tc>
                <a:tc>
                  <a:txBody>
                    <a:bodyPr wrap="square"/>
                    <a:lstStyle/>
                    <a:p>
                      <a:r>
                        <a:rPr sz="1350" b="0" i="0">
                          <a:solidFill>
                            <a:srgbClr val="ECF0F7"/>
                          </a:solidFill>
                          <a:latin typeface="Segoe UI"/>
                        </a:rPr>
                        <a:t>Oui</a:t>
                      </a:r>
                    </a:p>
                  </a:txBody>
                  <a:tcPr marT="50800" marB="50800" marL="127000" marR="127000">
                    <a:solidFill>
                      <a:srgbClr val="121C32"/>
                    </a:solidFill>
                  </a:tcPr>
                </a:tc>
                <a:tc>
                  <a:txBody>
                    <a:bodyPr wrap="square"/>
                    <a:lstStyle/>
                    <a:p>
                      <a:r>
                        <a:rPr sz="1350" b="0" i="0">
                          <a:solidFill>
                            <a:srgbClr val="ECF0F7"/>
                          </a:solidFill>
                          <a:latin typeface="Segoe UI"/>
                        </a:rPr>
                        <a:t>Oui (ajout)</a:t>
                      </a:r>
                    </a:p>
                  </a:txBody>
                  <a:tcPr marT="50800" marB="50800" marL="127000" marR="127000">
                    <a:solidFill>
                      <a:srgbClr val="121C32"/>
                    </a:solidFill>
                  </a:tcPr>
                </a:tc>
                <a:tc>
                  <a:txBody>
                    <a:bodyPr wrap="square"/>
                    <a:lstStyle/>
                    <a:p>
                      <a:r>
                        <a:rPr sz="1350" b="0" i="0">
                          <a:solidFill>
                            <a:srgbClr val="ECF0F7"/>
                          </a:solidFill>
                          <a:latin typeface="Segoe UI"/>
                        </a:rPr>
                        <a:t>Par indice : get(i)</a:t>
                      </a:r>
                    </a:p>
                  </a:txBody>
                  <a:tcPr marT="50800" marB="50800" marL="127000" marR="127000">
                    <a:solidFill>
                      <a:srgbClr val="121C32"/>
                    </a:solidFill>
                  </a:tcPr>
                </a:tc>
              </a:tr>
              <a:tr h="566928">
                <a:tc>
                  <a:txBody>
                    <a:bodyPr wrap="square"/>
                    <a:lstStyle/>
                    <a:p>
                      <a:r>
                        <a:rPr sz="1350" b="1" i="0">
                          <a:solidFill>
                            <a:srgbClr val="ECF0F7"/>
                          </a:solidFill>
                          <a:latin typeface="Segoe UI"/>
                        </a:rPr>
                        <a:t>HashSet</a:t>
                      </a:r>
                    </a:p>
                  </a:txBody>
                  <a:tcPr marT="50800" marB="50800" marL="127000" marR="127000">
                    <a:solidFill>
                      <a:srgbClr val="0B1220"/>
                    </a:solidFill>
                  </a:tcPr>
                </a:tc>
                <a:tc>
                  <a:txBody>
                    <a:bodyPr wrap="square"/>
                    <a:lstStyle/>
                    <a:p>
                      <a:r>
                        <a:rPr sz="1350" b="0" i="0">
                          <a:solidFill>
                            <a:srgbClr val="ECF0F7"/>
                          </a:solidFill>
                          <a:latin typeface="Segoe UI"/>
                        </a:rPr>
                        <a:t>Non (ignorés)</a:t>
                      </a:r>
                    </a:p>
                  </a:txBody>
                  <a:tcPr marT="50800" marB="50800" marL="127000" marR="127000">
                    <a:solidFill>
                      <a:srgbClr val="0B1220"/>
                    </a:solidFill>
                  </a:tcPr>
                </a:tc>
                <a:tc>
                  <a:txBody>
                    <a:bodyPr wrap="square"/>
                    <a:lstStyle/>
                    <a:p>
                      <a:r>
                        <a:rPr sz="1350" b="0" i="0">
                          <a:solidFill>
                            <a:srgbClr val="ECF0F7"/>
                          </a:solidFill>
                          <a:latin typeface="Segoe UI"/>
                        </a:rPr>
                        <a:t>Non garanti</a:t>
                      </a:r>
                    </a:p>
                  </a:txBody>
                  <a:tcPr marT="50800" marB="50800" marL="127000" marR="127000">
                    <a:solidFill>
                      <a:srgbClr val="0B1220"/>
                    </a:solidFill>
                  </a:tcPr>
                </a:tc>
                <a:tc>
                  <a:txBody>
                    <a:bodyPr wrap="square"/>
                    <a:lstStyle/>
                    <a:p>
                      <a:r>
                        <a:rPr sz="1350" b="0" i="0">
                          <a:solidFill>
                            <a:srgbClr val="ECF0F7"/>
                          </a:solidFill>
                          <a:latin typeface="Segoe UI"/>
                        </a:rPr>
                        <a:t>contains() seulement</a:t>
                      </a:r>
                    </a:p>
                  </a:txBody>
                  <a:tcPr marT="50800" marB="50800" marL="127000" marR="127000">
                    <a:solidFill>
                      <a:srgbClr val="0B1220"/>
                    </a:solidFill>
                  </a:tcPr>
                </a:tc>
              </a:tr>
              <a:tr h="566928">
                <a:tc>
                  <a:txBody>
                    <a:bodyPr wrap="square"/>
                    <a:lstStyle/>
                    <a:p>
                      <a:r>
                        <a:rPr sz="1350" b="1" i="0">
                          <a:solidFill>
                            <a:srgbClr val="ECF0F7"/>
                          </a:solidFill>
                          <a:latin typeface="Segoe UI"/>
                        </a:rPr>
                        <a:t>HashMap</a:t>
                      </a:r>
                    </a:p>
                  </a:txBody>
                  <a:tcPr marT="50800" marB="50800" marL="127000" marR="127000">
                    <a:solidFill>
                      <a:srgbClr val="121C32"/>
                    </a:solidFill>
                  </a:tcPr>
                </a:tc>
                <a:tc>
                  <a:txBody>
                    <a:bodyPr wrap="square"/>
                    <a:lstStyle/>
                    <a:p>
                      <a:r>
                        <a:rPr sz="1350" b="0" i="0">
                          <a:solidFill>
                            <a:srgbClr val="ECF0F7"/>
                          </a:solidFill>
                          <a:latin typeface="Segoe UI"/>
                        </a:rPr>
                        <a:t>Clés uniques</a:t>
                      </a:r>
                    </a:p>
                  </a:txBody>
                  <a:tcPr marT="50800" marB="50800" marL="127000" marR="127000">
                    <a:solidFill>
                      <a:srgbClr val="121C32"/>
                    </a:solidFill>
                  </a:tcPr>
                </a:tc>
                <a:tc>
                  <a:txBody>
                    <a:bodyPr wrap="square"/>
                    <a:lstStyle/>
                    <a:p>
                      <a:r>
                        <a:rPr sz="1350" b="0" i="0">
                          <a:solidFill>
                            <a:srgbClr val="ECF0F7"/>
                          </a:solidFill>
                          <a:latin typeface="Segoe UI"/>
                        </a:rPr>
                        <a:t>Non garanti</a:t>
                      </a:r>
                    </a:p>
                  </a:txBody>
                  <a:tcPr marT="50800" marB="50800" marL="127000" marR="127000">
                    <a:solidFill>
                      <a:srgbClr val="121C32"/>
                    </a:solidFill>
                  </a:tcPr>
                </a:tc>
                <a:tc>
                  <a:txBody>
                    <a:bodyPr wrap="square"/>
                    <a:lstStyle/>
                    <a:p>
                      <a:r>
                        <a:rPr sz="1350" b="0" i="0">
                          <a:solidFill>
                            <a:srgbClr val="ECF0F7"/>
                          </a:solidFill>
                          <a:latin typeface="Segoe UI"/>
                        </a:rPr>
                        <a:t>Par clé : get(cle)</a:t>
                      </a:r>
                    </a:p>
                  </a:txBody>
                  <a:tcPr marT="50800" marB="50800" marL="127000" marR="127000">
                    <a:solidFill>
                      <a:srgbClr val="121C32"/>
                    </a:solidFill>
                  </a:tcPr>
                </a:tc>
              </a:tr>
            </a:tbl>
          </a:graphicData>
        </a:graphic>
      </p:graphicFrame>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20 — Collections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142</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Opérations essentielles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Ajout : add() (ArrayList/HashSet) ou put(clé, valeur) (HashMap)</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Suppression : remove(élément) ou remove(indice)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Recherche : contains() (ArrayList/HashSet) ou containsKey()/getOrDefault() (HashMap)</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Parcours : for-each sur ArrayList/HashSet ; for (clé : map.keySet()) sur HashMap</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20 — Collections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20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Type primitif entre chevrons : ArrayList&lt;int&gt; au lieu de ArrayList&lt;Integer&gt;</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Modifier une liste PENDANT un parcours for-each (ConcurrentModificationException)</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Confondre put() (HashMap) et add() (ArrayList/HashSet)</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de vérifier une clé absente avant get() sur une HashMap</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20 — Collections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144</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20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Compter les occurrences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Écrivez une méthode compterOccurrences(String[] mots) qui renvoie une HashMap&lt;String, Integer&gt; associant chaque mot à son nombre d'apparitions, en utilisant getOrDefault().</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20 — Collections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20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ArrayList : taille variable, ordre gardé, doublons permis</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HashSet : unicité garantie, aucun ordre garanti</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HashMap : accès direct par clé, remplace silencieusement une clé déjà existante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20 — Collections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146</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MODULES 15-20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Quiz — Relations, surcharge, exceptions, collections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20000"/>
              </a:lnSpc>
              <a:spcAft>
                <a:spcPts val="1200"/>
              </a:spcAft>
              <a:buNone/>
            </a:pPr>
            <a:r>
              <a:rPr sz="1650" b="1" i="0">
                <a:solidFill>
                  <a:srgbClr val="E8C54A"/>
                </a:solidFill>
                <a:latin typeface="Segoe UI"/>
              </a:rPr>
              <a:t>1.  </a:t>
            </a:r>
            <a:r>
              <a:rPr sz="1650" b="0" i="0">
                <a:solidFill>
                  <a:srgbClr val="ECF0F7"/>
                </a:solidFill>
                <a:latin typeface="Segoe UI"/>
              </a:rPr>
              <a:t>Quelle est la différence essentielle entre agrégation et composition ?</a:t>
            </a:r>
          </a:p>
          <a:p>
            <a:pPr>
              <a:lnSpc>
                <a:spcPct val="120000"/>
              </a:lnSpc>
              <a:spcAft>
                <a:spcPts val="1200"/>
              </a:spcAft>
              <a:buNone/>
            </a:pPr>
            <a:r>
              <a:rPr sz="1650" b="1" i="0">
                <a:solidFill>
                  <a:srgbClr val="E8C54A"/>
                </a:solidFill>
                <a:latin typeface="Segoe UI"/>
              </a:rPr>
              <a:t>2.  </a:t>
            </a:r>
            <a:r>
              <a:rPr sz="1650" b="0" i="0">
                <a:solidFill>
                  <a:srgbClr val="ECF0F7"/>
                </a:solidFill>
                <a:latin typeface="Segoe UI"/>
              </a:rPr>
              <a:t>Que se passe-t-il avec le reste du bloc try dès qu'une exception survient ?</a:t>
            </a:r>
          </a:p>
          <a:p>
            <a:pPr>
              <a:lnSpc>
                <a:spcPct val="120000"/>
              </a:lnSpc>
              <a:spcAft>
                <a:spcPts val="1200"/>
              </a:spcAft>
              <a:buNone/>
            </a:pPr>
            <a:r>
              <a:rPr sz="1650" b="1" i="0">
                <a:solidFill>
                  <a:srgbClr val="E8C54A"/>
                </a:solidFill>
                <a:latin typeface="Segoe UI"/>
              </a:rPr>
              <a:t>3.  </a:t>
            </a:r>
            <a:r>
              <a:rPr sz="1650" b="0" i="0">
                <a:solidFill>
                  <a:srgbClr val="ECF0F7"/>
                </a:solidFill>
                <a:latin typeface="Segoe UI"/>
              </a:rPr>
              <a:t>Pourquoi PreparedStatement n'est pas encore concerné ici, mais throw l'est : que fait throw ?</a:t>
            </a:r>
          </a:p>
          <a:p>
            <a:pPr>
              <a:lnSpc>
                <a:spcPct val="120000"/>
              </a:lnSpc>
              <a:spcAft>
                <a:spcPts val="1200"/>
              </a:spcAft>
              <a:buNone/>
            </a:pPr>
            <a:r>
              <a:rPr sz="1650" b="1" i="0">
                <a:solidFill>
                  <a:srgbClr val="E8C54A"/>
                </a:solidFill>
                <a:latin typeface="Segoe UI"/>
              </a:rPr>
              <a:t>4.  </a:t>
            </a:r>
            <a:r>
              <a:rPr sz="1650" b="0" i="0">
                <a:solidFill>
                  <a:srgbClr val="ECF0F7"/>
                </a:solidFill>
                <a:latin typeface="Segoe UI"/>
              </a:rPr>
              <a:t>Quelle méthode utilise-t-on pour lire une valeur dans une HashMap ?</a:t>
            </a:r>
          </a:p>
          <a:p>
            <a:pPr>
              <a:lnSpc>
                <a:spcPct val="120000"/>
              </a:lnSpc>
              <a:spcAft>
                <a:spcPts val="1200"/>
              </a:spcAft>
              <a:buNone/>
            </a:pPr>
            <a:r>
              <a:rPr sz="1650" b="1" i="0">
                <a:solidFill>
                  <a:srgbClr val="E8C54A"/>
                </a:solidFill>
                <a:latin typeface="Segoe UI"/>
              </a:rPr>
              <a:t>5.  </a:t>
            </a:r>
            <a:r>
              <a:rPr sz="1650" b="0" i="0">
                <a:solidFill>
                  <a:srgbClr val="ECF0F7"/>
                </a:solidFill>
                <a:latin typeface="Segoe UI"/>
              </a:rPr>
              <a:t>Pourquoi un HashSet ne peut-il jamais contenir de doublon ?</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20 — Collections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21</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Génériques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Ce que représentent vraiment les chevrons &lt; &gt;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21 — Génériques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21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List&lt;String&gt; vs List&lt;Integer&gt;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35C7E0"/>
                </a:solidFill>
                <a:latin typeface="Consolas"/>
              </a:rPr>
              <a:t>List</a:t>
            </a:r>
            <a:r>
              <a:rPr sz="1500" b="0" i="0">
                <a:solidFill>
                  <a:srgbClr val="E3E9F4"/>
                </a:solidFill>
                <a:latin typeface="Consolas"/>
              </a:rPr>
              <a:t>&lt;</a:t>
            </a:r>
            <a:r>
              <a:rPr sz="1500" b="0" i="0">
                <a:solidFill>
                  <a:srgbClr val="F28C28"/>
                </a:solidFill>
                <a:latin typeface="Consolas"/>
              </a:rPr>
              <a:t>String</a:t>
            </a:r>
            <a:r>
              <a:rPr sz="1500" b="0" i="0">
                <a:solidFill>
                  <a:srgbClr val="E3E9F4"/>
                </a:solidFill>
                <a:latin typeface="Consolas"/>
              </a:rPr>
              <a:t>&gt;</a:t>
            </a:r>
            <a:r>
              <a:rPr sz="1500" b="0" i="0">
                <a:solidFill>
                  <a:srgbClr val="E3E9F4"/>
                </a:solidFill>
                <a:latin typeface="Consolas"/>
              </a:rPr>
              <a:t> </a:t>
            </a:r>
            <a:r>
              <a:rPr sz="1500" b="0" i="0">
                <a:solidFill>
                  <a:srgbClr val="E3E9F4"/>
                </a:solidFill>
                <a:latin typeface="Consolas"/>
              </a:rPr>
              <a:t>noms</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new</a:t>
            </a:r>
            <a:r>
              <a:rPr sz="1500" b="0" i="0">
                <a:solidFill>
                  <a:srgbClr val="E3E9F4"/>
                </a:solidFill>
                <a:latin typeface="Consolas"/>
              </a:rPr>
              <a:t> </a:t>
            </a:r>
            <a:r>
              <a:rPr sz="1500" b="0" i="0">
                <a:solidFill>
                  <a:srgbClr val="35C7E0"/>
                </a:solidFill>
                <a:latin typeface="Consolas"/>
              </a:rPr>
              <a:t>ArrayList</a:t>
            </a:r>
            <a:r>
              <a:rPr sz="1500" b="0" i="0">
                <a:solidFill>
                  <a:srgbClr val="E3E9F4"/>
                </a:solidFill>
                <a:latin typeface="Consolas"/>
              </a:rPr>
              <a:t>&lt;</a:t>
            </a:r>
            <a:r>
              <a:rPr sz="1500" b="0" i="0">
                <a:solidFill>
                  <a:srgbClr val="E3E9F4"/>
                </a:solidFill>
                <a:latin typeface="Consolas"/>
              </a:rPr>
              <a:t>&gt;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T = String</a:t>
            </a:r>
          </a:p>
          <a:p>
            <a:pPr algn="l">
              <a:lnSpc>
                <a:spcPct val="115000"/>
              </a:lnSpc>
              <a:spcAft>
                <a:spcPts val="200"/>
              </a:spcAft>
              <a:buNone/>
            </a:pPr>
            <a:r>
              <a:rPr sz="1500" b="0" i="0">
                <a:solidFill>
                  <a:srgbClr val="35C7E0"/>
                </a:solidFill>
                <a:latin typeface="Consolas"/>
              </a:rPr>
              <a:t>List</a:t>
            </a:r>
            <a:r>
              <a:rPr sz="1500" b="0" i="0">
                <a:solidFill>
                  <a:srgbClr val="E3E9F4"/>
                </a:solidFill>
                <a:latin typeface="Consolas"/>
              </a:rPr>
              <a:t>&lt;</a:t>
            </a:r>
            <a:r>
              <a:rPr sz="1500" b="0" i="0">
                <a:solidFill>
                  <a:srgbClr val="35C7E0"/>
                </a:solidFill>
                <a:latin typeface="Consolas"/>
              </a:rPr>
              <a:t>Integer</a:t>
            </a:r>
            <a:r>
              <a:rPr sz="1500" b="0" i="0">
                <a:solidFill>
                  <a:srgbClr val="E3E9F4"/>
                </a:solidFill>
                <a:latin typeface="Consolas"/>
              </a:rPr>
              <a:t>&gt;</a:t>
            </a:r>
            <a:r>
              <a:rPr sz="1500" b="0" i="0">
                <a:solidFill>
                  <a:srgbClr val="E3E9F4"/>
                </a:solidFill>
                <a:latin typeface="Consolas"/>
              </a:rPr>
              <a:t> </a:t>
            </a:r>
            <a:r>
              <a:rPr sz="1500" b="0" i="0">
                <a:solidFill>
                  <a:srgbClr val="E3E9F4"/>
                </a:solidFill>
                <a:latin typeface="Consolas"/>
              </a:rPr>
              <a:t>notes</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new</a:t>
            </a:r>
            <a:r>
              <a:rPr sz="1500" b="0" i="0">
                <a:solidFill>
                  <a:srgbClr val="E3E9F4"/>
                </a:solidFill>
                <a:latin typeface="Consolas"/>
              </a:rPr>
              <a:t> </a:t>
            </a:r>
            <a:r>
              <a:rPr sz="1500" b="0" i="0">
                <a:solidFill>
                  <a:srgbClr val="35C7E0"/>
                </a:solidFill>
                <a:latin typeface="Consolas"/>
              </a:rPr>
              <a:t>ArrayList</a:t>
            </a:r>
            <a:r>
              <a:rPr sz="1500" b="0" i="0">
                <a:solidFill>
                  <a:srgbClr val="E3E9F4"/>
                </a:solidFill>
                <a:latin typeface="Consolas"/>
              </a:rPr>
              <a:t>&lt;</a:t>
            </a:r>
            <a:r>
              <a:rPr sz="1500" b="0" i="0">
                <a:solidFill>
                  <a:srgbClr val="E3E9F4"/>
                </a:solidFill>
                <a:latin typeface="Consolas"/>
              </a:rPr>
              <a:t>&gt;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T = Integer</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Chaque utilisation d'ArrayList/HashMap depuis le Module 20 utilisait déjà les génériques</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T (paramètre de type) est un symbole, remplacé par un vrai type à la création de l'objet</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List&lt;String&gt; et List&lt;Integer&gt; sont deux types INCOMPATIBLES entre eux pour le compilateur</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21 — Génériques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149</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Pourquoi les génériques sont utiles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Sécurité : impossible d'ajouter accidentellement un type incompatible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Pas de transtypage manuel nécessaire à la lecture (contrairement à Object)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Toujours un type OBJET entre chevrons, jamais un primitif (Integer, pas int)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21 — Génériques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21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Les generics vérifient la cohérence des types dès la compilation, sans transtypage manuel risqué</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21 — Génériques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151</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22</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Enum</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Représenter un ensemble fixe et connu de valeurs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22 — Enum</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152</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22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enum Statut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enum</a:t>
            </a:r>
            <a:r>
              <a:rPr sz="1700" b="0" i="0">
                <a:solidFill>
                  <a:srgbClr val="E3E9F4"/>
                </a:solidFill>
                <a:latin typeface="Consolas"/>
              </a:rPr>
              <a:t> </a:t>
            </a:r>
            <a:r>
              <a:rPr sz="1700" b="0" i="0">
                <a:solidFill>
                  <a:srgbClr val="E3E9F4"/>
                </a:solidFill>
                <a:latin typeface="Consolas"/>
              </a:rPr>
              <a:t>Statut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ACTIF</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INACTIF</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BLOQUE</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22 — Enum</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153</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Utilisation</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E3E9F4"/>
                </a:solidFill>
                <a:latin typeface="Consolas"/>
              </a:rPr>
              <a:t>Statut</a:t>
            </a:r>
            <a:r>
              <a:rPr sz="1500" b="0" i="0">
                <a:solidFill>
                  <a:srgbClr val="E3E9F4"/>
                </a:solidFill>
                <a:latin typeface="Consolas"/>
              </a:rPr>
              <a:t> </a:t>
            </a:r>
            <a:r>
              <a:rPr sz="1500" b="0" i="0">
                <a:solidFill>
                  <a:srgbClr val="E3E9F4"/>
                </a:solidFill>
                <a:latin typeface="Consolas"/>
              </a:rPr>
              <a:t>s</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Statut</a:t>
            </a:r>
            <a:r>
              <a:rPr sz="1500" b="0" i="0">
                <a:solidFill>
                  <a:srgbClr val="E3E9F4"/>
                </a:solidFill>
                <a:latin typeface="Consolas"/>
              </a:rPr>
              <a:t>.</a:t>
            </a:r>
            <a:r>
              <a:rPr sz="1500" b="0" i="0">
                <a:solidFill>
                  <a:srgbClr val="E3E9F4"/>
                </a:solidFill>
                <a:latin typeface="Consolas"/>
              </a:rPr>
              <a:t>ACTIF</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p>
          <a:p>
            <a:pPr algn="l">
              <a:lnSpc>
                <a:spcPct val="115000"/>
              </a:lnSpc>
              <a:spcAft>
                <a:spcPts val="200"/>
              </a:spcAft>
              <a:buNone/>
            </a:pPr>
            <a:r>
              <a:rPr sz="1500" b="0" i="0">
                <a:solidFill>
                  <a:srgbClr val="F28C28"/>
                </a:solidFill>
                <a:latin typeface="Consolas"/>
              </a:rPr>
              <a:t>if</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s</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Statut</a:t>
            </a:r>
            <a:r>
              <a:rPr sz="1500" b="0" i="0">
                <a:solidFill>
                  <a:srgbClr val="E3E9F4"/>
                </a:solidFill>
                <a:latin typeface="Consolas"/>
              </a:rPr>
              <a:t>.</a:t>
            </a:r>
            <a:r>
              <a:rPr sz="1500" b="0" i="0">
                <a:solidFill>
                  <a:srgbClr val="E3E9F4"/>
                </a:solidFill>
                <a:latin typeface="Consolas"/>
              </a:rPr>
              <a:t>ACTIF</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35C7E0"/>
                </a:solidFill>
                <a:latin typeface="Consolas"/>
              </a:rPr>
              <a:t>System</a:t>
            </a:r>
            <a:r>
              <a:rPr sz="1500" b="0" i="0">
                <a:solidFill>
                  <a:srgbClr val="E3E9F4"/>
                </a:solidFill>
                <a:latin typeface="Consolas"/>
              </a:rPr>
              <a:t>.</a:t>
            </a:r>
            <a:r>
              <a:rPr sz="1500" b="0" i="0">
                <a:solidFill>
                  <a:srgbClr val="E3E9F4"/>
                </a:solidFill>
                <a:latin typeface="Consolas"/>
              </a:rPr>
              <a:t>out</a:t>
            </a:r>
            <a:r>
              <a:rPr sz="1500" b="0" i="0">
                <a:solidFill>
                  <a:srgbClr val="E3E9F4"/>
                </a:solidFill>
                <a:latin typeface="Consolas"/>
              </a:rPr>
              <a:t>.</a:t>
            </a:r>
            <a:r>
              <a:rPr sz="1500" b="0" i="0">
                <a:solidFill>
                  <a:srgbClr val="E3E9F4"/>
                </a:solidFill>
                <a:latin typeface="Consolas"/>
              </a:rPr>
              <a:t>println</a:t>
            </a:r>
            <a:r>
              <a:rPr sz="1500" b="0" i="0">
                <a:solidFill>
                  <a:srgbClr val="E3E9F4"/>
                </a:solidFill>
                <a:latin typeface="Consolas"/>
              </a:rPr>
              <a:t>(</a:t>
            </a:r>
            <a:r>
              <a:rPr sz="1500" b="0" i="0">
                <a:solidFill>
                  <a:srgbClr val="33C984"/>
                </a:solidFill>
                <a:latin typeface="Consolas"/>
              </a:rPr>
              <a:t>"Compte actif"</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 est sûr et même préféré à .equals() sur un enum : chaque valeur n'existe qu'en UN seul exemplaire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values() renvoie toutes les valeurs, parcourables avec un for-each</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Un enum peut avoir des attributs, un constructeur et des méthodes, comme une classe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22 — Enum</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154</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22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Enum enrichi</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Créez un enum NiveauUrgence (BASSE, MOYENNE, HAUTE, CRITIQUE) avec un attribut delaiMaximumHeures fixé par un constructeur, et une méthode estUrgent() (true pour HAUTE et CRITIQUE).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22 — Enum</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22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enum limite les valeurs possibles à un ensemble fixe, vérifié par le compilateur</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 est sûr sur un enum, contrairement aux String</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22 — Enum</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156</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23</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Fichiers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Faire persister des données au-delà de l'exécution du programme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23 — Fichiers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Écrire puis lire un fichier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try</a:t>
            </a:r>
            <a:r>
              <a:rPr sz="1500" b="0" i="0">
                <a:solidFill>
                  <a:srgbClr val="E3E9F4"/>
                </a:solidFill>
                <a:latin typeface="Consolas"/>
              </a:rPr>
              <a:t> </a:t>
            </a:r>
            <a:r>
              <a:rPr sz="1500" b="0" i="0">
                <a:solidFill>
                  <a:srgbClr val="E3E9F4"/>
                </a:solidFill>
                <a:latin typeface="Consolas"/>
              </a:rPr>
              <a:t>(</a:t>
            </a:r>
            <a:r>
              <a:rPr sz="1500" b="0" i="0">
                <a:solidFill>
                  <a:srgbClr val="35C7E0"/>
                </a:solidFill>
                <a:latin typeface="Consolas"/>
              </a:rPr>
              <a:t>FileWriter</a:t>
            </a:r>
            <a:r>
              <a:rPr sz="1500" b="0" i="0">
                <a:solidFill>
                  <a:srgbClr val="E3E9F4"/>
                </a:solidFill>
                <a:latin typeface="Consolas"/>
              </a:rPr>
              <a:t> </a:t>
            </a:r>
            <a:r>
              <a:rPr sz="1500" b="0" i="0">
                <a:solidFill>
                  <a:srgbClr val="E3E9F4"/>
                </a:solidFill>
                <a:latin typeface="Consolas"/>
              </a:rPr>
              <a:t>writer</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new</a:t>
            </a:r>
            <a:r>
              <a:rPr sz="1500" b="0" i="0">
                <a:solidFill>
                  <a:srgbClr val="E3E9F4"/>
                </a:solidFill>
                <a:latin typeface="Consolas"/>
              </a:rPr>
              <a:t> </a:t>
            </a:r>
            <a:r>
              <a:rPr sz="1500" b="0" i="0">
                <a:solidFill>
                  <a:srgbClr val="35C7E0"/>
                </a:solidFill>
                <a:latin typeface="Consolas"/>
              </a:rPr>
              <a:t>FileWriter</a:t>
            </a:r>
            <a:r>
              <a:rPr sz="1500" b="0" i="0">
                <a:solidFill>
                  <a:srgbClr val="E3E9F4"/>
                </a:solidFill>
                <a:latin typeface="Consolas"/>
              </a:rPr>
              <a:t>(</a:t>
            </a:r>
            <a:r>
              <a:rPr sz="1500" b="0" i="0">
                <a:solidFill>
                  <a:srgbClr val="33C984"/>
                </a:solidFill>
                <a:latin typeface="Consolas"/>
              </a:rPr>
              <a:t>"notes.txt"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writer</a:t>
            </a:r>
            <a:r>
              <a:rPr sz="1500" b="0" i="0">
                <a:solidFill>
                  <a:srgbClr val="E3E9F4"/>
                </a:solidFill>
                <a:latin typeface="Consolas"/>
              </a:rPr>
              <a:t>.</a:t>
            </a:r>
            <a:r>
              <a:rPr sz="1500" b="0" i="0">
                <a:solidFill>
                  <a:srgbClr val="E3E9F4"/>
                </a:solidFill>
                <a:latin typeface="Consolas"/>
              </a:rPr>
              <a:t>write</a:t>
            </a:r>
            <a:r>
              <a:rPr sz="1500" b="0" i="0">
                <a:solidFill>
                  <a:srgbClr val="E3E9F4"/>
                </a:solidFill>
                <a:latin typeface="Consolas"/>
              </a:rPr>
              <a:t>(</a:t>
            </a:r>
            <a:r>
              <a:rPr sz="1500" b="0" i="0">
                <a:solidFill>
                  <a:srgbClr val="33C984"/>
                </a:solidFill>
                <a:latin typeface="Consolas"/>
              </a:rPr>
              <a:t>"Jaslin;16.5\n"</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p>
          <a:p>
            <a:pPr algn="l">
              <a:lnSpc>
                <a:spcPct val="115000"/>
              </a:lnSpc>
              <a:spcAft>
                <a:spcPts val="200"/>
              </a:spcAft>
              <a:buNone/>
            </a:pPr>
            <a:r>
              <a:rPr sz="1500" b="0" i="0">
                <a:solidFill>
                  <a:srgbClr val="F28C28"/>
                </a:solidFill>
                <a:latin typeface="Consolas"/>
              </a:rPr>
              <a:t>try</a:t>
            </a:r>
            <a:r>
              <a:rPr sz="1500" b="0" i="0">
                <a:solidFill>
                  <a:srgbClr val="E3E9F4"/>
                </a:solidFill>
                <a:latin typeface="Consolas"/>
              </a:rPr>
              <a:t> </a:t>
            </a:r>
            <a:r>
              <a:rPr sz="1500" b="0" i="0">
                <a:solidFill>
                  <a:srgbClr val="E3E9F4"/>
                </a:solidFill>
                <a:latin typeface="Consolas"/>
              </a:rPr>
              <a:t>(</a:t>
            </a:r>
            <a:r>
              <a:rPr sz="1500" b="0" i="0">
                <a:solidFill>
                  <a:srgbClr val="35C7E0"/>
                </a:solidFill>
                <a:latin typeface="Consolas"/>
              </a:rPr>
              <a:t>BufferedReader</a:t>
            </a:r>
            <a:r>
              <a:rPr sz="1500" b="0" i="0">
                <a:solidFill>
                  <a:srgbClr val="E3E9F4"/>
                </a:solidFill>
                <a:latin typeface="Consolas"/>
              </a:rPr>
              <a:t> </a:t>
            </a:r>
            <a:r>
              <a:rPr sz="1500" b="0" i="0">
                <a:solidFill>
                  <a:srgbClr val="E3E9F4"/>
                </a:solidFill>
                <a:latin typeface="Consolas"/>
              </a:rPr>
              <a:t>reader</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new</a:t>
            </a:r>
            <a:r>
              <a:rPr sz="1500" b="0" i="0">
                <a:solidFill>
                  <a:srgbClr val="E3E9F4"/>
                </a:solidFill>
                <a:latin typeface="Consolas"/>
              </a:rPr>
              <a:t> </a:t>
            </a:r>
            <a:r>
              <a:rPr sz="1500" b="0" i="0">
                <a:solidFill>
                  <a:srgbClr val="35C7E0"/>
                </a:solidFill>
                <a:latin typeface="Consolas"/>
              </a:rPr>
              <a:t>BufferedReader</a:t>
            </a:r>
            <a:r>
              <a:rPr sz="1500" b="0" i="0">
                <a:solidFill>
                  <a:srgbClr val="E3E9F4"/>
                </a:solidFill>
                <a:latin typeface="Consolas"/>
              </a:rPr>
              <a:t>(</a:t>
            </a:r>
            <a:r>
              <a:rPr sz="1500" b="0" i="0">
                <a:solidFill>
                  <a:srgbClr val="F28C28"/>
                </a:solidFill>
                <a:latin typeface="Consolas"/>
              </a:rPr>
              <a:t>new</a:t>
            </a:r>
            <a:r>
              <a:rPr sz="1500" b="0" i="0">
                <a:solidFill>
                  <a:srgbClr val="E3E9F4"/>
                </a:solidFill>
                <a:latin typeface="Consolas"/>
              </a:rPr>
              <a:t> </a:t>
            </a:r>
            <a:r>
              <a:rPr sz="1500" b="0" i="0">
                <a:solidFill>
                  <a:srgbClr val="35C7E0"/>
                </a:solidFill>
                <a:latin typeface="Consolas"/>
              </a:rPr>
              <a:t>FileReader</a:t>
            </a:r>
            <a:r>
              <a:rPr sz="1500" b="0" i="0">
                <a:solidFill>
                  <a:srgbClr val="E3E9F4"/>
                </a:solidFill>
                <a:latin typeface="Consolas"/>
              </a:rPr>
              <a:t>(</a:t>
            </a:r>
            <a:r>
              <a:rPr sz="1500" b="0" i="0">
                <a:solidFill>
                  <a:srgbClr val="33C984"/>
                </a:solidFill>
                <a:latin typeface="Consolas"/>
              </a:rPr>
              <a:t>"notes.txt"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String</a:t>
            </a:r>
            <a:r>
              <a:rPr sz="1500" b="0" i="0">
                <a:solidFill>
                  <a:srgbClr val="E3E9F4"/>
                </a:solidFill>
                <a:latin typeface="Consolas"/>
              </a:rPr>
              <a:t> </a:t>
            </a:r>
            <a:r>
              <a:rPr sz="1500" b="0" i="0">
                <a:solidFill>
                  <a:srgbClr val="E3E9F4"/>
                </a:solidFill>
                <a:latin typeface="Consolas"/>
              </a:rPr>
              <a:t>ligne</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while</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ligne</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reader</a:t>
            </a:r>
            <a:r>
              <a:rPr sz="1500" b="0" i="0">
                <a:solidFill>
                  <a:srgbClr val="E3E9F4"/>
                </a:solidFill>
                <a:latin typeface="Consolas"/>
              </a:rPr>
              <a:t>.</a:t>
            </a:r>
            <a:r>
              <a:rPr sz="1500" b="0" i="0">
                <a:solidFill>
                  <a:srgbClr val="E3E9F4"/>
                </a:solidFill>
                <a:latin typeface="Consolas"/>
              </a:rPr>
              <a:t>readLine</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null</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35C7E0"/>
                </a:solidFill>
                <a:latin typeface="Consolas"/>
              </a:rPr>
              <a:t>System</a:t>
            </a:r>
            <a:r>
              <a:rPr sz="1500" b="0" i="0">
                <a:solidFill>
                  <a:srgbClr val="E3E9F4"/>
                </a:solidFill>
                <a:latin typeface="Consolas"/>
              </a:rPr>
              <a:t>.</a:t>
            </a:r>
            <a:r>
              <a:rPr sz="1500" b="0" i="0">
                <a:solidFill>
                  <a:srgbClr val="E3E9F4"/>
                </a:solidFill>
                <a:latin typeface="Consolas"/>
              </a:rPr>
              <a:t>out</a:t>
            </a:r>
            <a:r>
              <a:rPr sz="1500" b="0" i="0">
                <a:solidFill>
                  <a:srgbClr val="E3E9F4"/>
                </a:solidFill>
                <a:latin typeface="Consolas"/>
              </a:rPr>
              <a:t>.</a:t>
            </a:r>
            <a:r>
              <a:rPr sz="1500" b="0" i="0">
                <a:solidFill>
                  <a:srgbClr val="E3E9F4"/>
                </a:solidFill>
                <a:latin typeface="Consolas"/>
              </a:rPr>
              <a:t>println</a:t>
            </a:r>
            <a:r>
              <a:rPr sz="1500" b="0" i="0">
                <a:solidFill>
                  <a:srgbClr val="E3E9F4"/>
                </a:solidFill>
                <a:latin typeface="Consolas"/>
              </a:rPr>
              <a:t>(</a:t>
            </a:r>
            <a:r>
              <a:rPr sz="1500" b="0" i="0">
                <a:solidFill>
                  <a:srgbClr val="E3E9F4"/>
                </a:solidFill>
                <a:latin typeface="Consolas"/>
              </a:rPr>
              <a:t>ligne</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try-with-resources ferme automatiquement le fichier, même en cas d'erreur</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readLine() renvoie null quand il n'y a plus de ligne : le signal naturel de fin de boucle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split(";") découpe une ligne ; Double.parseDouble()/Integer.parseInt() convertit le texte en nombre</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23 — Fichiers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158</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23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try-with-resources et ne jamais fermer le fichier</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Lire un fichier qui n'existe pas sans gérer IOException</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23 — Fichiers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159</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23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Carnet de contacts persistant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Écrivez enregistrerContact(nom, telephone) qui AJOUTE une ligne à contacts.txt (indice : new FileWriter("contacts.txt", true)), et afficherTousLesContacts() qui relit le fichier.</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23 — Fichiers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160</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23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 fichier conserve des données au-delà de l'exécution, contrairement à un ArrayList (RAM)</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try-with-resources garantit la fermeture automatique, même en cas d'erreur</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23 — Fichiers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161</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24</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Lambda et Streams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Traiter une collection de façon déclarative — non prioritaire avant la POO fondamentale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24 — Lambda et Streams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162</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Expression lambda</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35C7E0"/>
                </a:solidFill>
                <a:latin typeface="Consolas"/>
              </a:rPr>
              <a:t>Predicate</a:t>
            </a:r>
            <a:r>
              <a:rPr sz="1700" b="0" i="0">
                <a:solidFill>
                  <a:srgbClr val="E3E9F4"/>
                </a:solidFill>
                <a:latin typeface="Consolas"/>
              </a:rPr>
              <a:t>&lt;</a:t>
            </a:r>
            <a:r>
              <a:rPr sz="1700" b="0" i="0">
                <a:solidFill>
                  <a:srgbClr val="35C7E0"/>
                </a:solidFill>
                <a:latin typeface="Consolas"/>
              </a:rPr>
              <a:t>Integer</a:t>
            </a:r>
            <a:r>
              <a:rPr sz="1700" b="0" i="0">
                <a:solidFill>
                  <a:srgbClr val="E3E9F4"/>
                </a:solidFill>
                <a:latin typeface="Consolas"/>
              </a:rPr>
              <a:t>&gt;</a:t>
            </a:r>
            <a:r>
              <a:rPr sz="1700" b="0" i="0">
                <a:solidFill>
                  <a:srgbClr val="E3E9F4"/>
                </a:solidFill>
                <a:latin typeface="Consolas"/>
              </a:rPr>
              <a:t> </a:t>
            </a:r>
            <a:r>
              <a:rPr sz="1700" b="0" i="0">
                <a:solidFill>
                  <a:srgbClr val="E3E9F4"/>
                </a:solidFill>
                <a:latin typeface="Consolas"/>
              </a:rPr>
              <a:t>estPair</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n</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&gt;</a:t>
            </a:r>
            <a:r>
              <a:rPr sz="1700" b="0" i="0">
                <a:solidFill>
                  <a:srgbClr val="E3E9F4"/>
                </a:solidFill>
                <a:latin typeface="Consolas"/>
              </a:rPr>
              <a:t> </a:t>
            </a:r>
            <a:r>
              <a:rPr sz="1700" b="0" i="0">
                <a:solidFill>
                  <a:srgbClr val="E3E9F4"/>
                </a:solidFill>
                <a:latin typeface="Consolas"/>
              </a:rPr>
              <a:t>n</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8C54A"/>
                </a:solidFill>
                <a:latin typeface="Consolas"/>
              </a:rPr>
              <a:t>2</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8C54A"/>
                </a:solidFill>
                <a:latin typeface="Consolas"/>
              </a:rPr>
              <a:t>0</a:t>
            </a:r>
            <a:r>
              <a:rPr sz="1700" b="0" i="0">
                <a:solidFill>
                  <a:srgbClr val="E3E9F4"/>
                </a:solidFill>
                <a:latin typeface="Consolas"/>
              </a:rPr>
              <a:t>;</a:t>
            </a:r>
          </a:p>
          <a:p>
            <a:pPr algn="l">
              <a:lnSpc>
                <a:spcPct val="115000"/>
              </a:lnSpc>
              <a:spcAft>
                <a:spcPts val="200"/>
              </a:spcAft>
              <a:buNone/>
            </a:pP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E3E9F4"/>
                </a:solidFill>
                <a:latin typeface="Consolas"/>
              </a:rPr>
              <a:t>estPair</a:t>
            </a:r>
            <a:r>
              <a:rPr sz="1700" b="0" i="0">
                <a:solidFill>
                  <a:srgbClr val="E3E9F4"/>
                </a:solidFill>
                <a:latin typeface="Consolas"/>
              </a:rPr>
              <a:t>.</a:t>
            </a:r>
            <a:r>
              <a:rPr sz="1700" b="0" i="0">
                <a:solidFill>
                  <a:srgbClr val="E3E9F4"/>
                </a:solidFill>
                <a:latin typeface="Consolas"/>
              </a:rPr>
              <a:t>test</a:t>
            </a:r>
            <a:r>
              <a:rPr sz="1700" b="0" i="0">
                <a:solidFill>
                  <a:srgbClr val="E3E9F4"/>
                </a:solidFill>
                <a:latin typeface="Consolas"/>
              </a:rPr>
              <a:t>(</a:t>
            </a:r>
            <a:r>
              <a:rPr sz="1700" b="0" i="0">
                <a:solidFill>
                  <a:srgbClr val="E8C54A"/>
                </a:solidFill>
                <a:latin typeface="Consolas"/>
              </a:rPr>
              <a:t>6</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5C6A87"/>
                </a:solidFill>
                <a:latin typeface="Consolas"/>
              </a:rPr>
              <a:t>// true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24 — Lambda et Streams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163</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Stream : filter, map, collect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35C7E0"/>
                </a:solidFill>
                <a:latin typeface="Consolas"/>
              </a:rPr>
              <a:t>List</a:t>
            </a:r>
            <a:r>
              <a:rPr sz="1500" b="0" i="0">
                <a:solidFill>
                  <a:srgbClr val="E3E9F4"/>
                </a:solidFill>
                <a:latin typeface="Consolas"/>
              </a:rPr>
              <a:t>&lt;</a:t>
            </a:r>
            <a:r>
              <a:rPr sz="1500" b="0" i="0">
                <a:solidFill>
                  <a:srgbClr val="F28C28"/>
                </a:solidFill>
                <a:latin typeface="Consolas"/>
              </a:rPr>
              <a:t>String</a:t>
            </a:r>
            <a:r>
              <a:rPr sz="1500" b="0" i="0">
                <a:solidFill>
                  <a:srgbClr val="E3E9F4"/>
                </a:solidFill>
                <a:latin typeface="Consolas"/>
              </a:rPr>
              <a:t>&gt;</a:t>
            </a:r>
            <a:r>
              <a:rPr sz="1500" b="0" i="0">
                <a:solidFill>
                  <a:srgbClr val="E3E9F4"/>
                </a:solidFill>
                <a:latin typeface="Consolas"/>
              </a:rPr>
              <a:t> </a:t>
            </a:r>
            <a:r>
              <a:rPr sz="1500" b="0" i="0">
                <a:solidFill>
                  <a:srgbClr val="E3E9F4"/>
                </a:solidFill>
                <a:latin typeface="Consolas"/>
              </a:rPr>
              <a:t>nomsAdmis</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etudiants</a:t>
            </a:r>
            <a:r>
              <a:rPr sz="1500" b="0" i="0">
                <a:solidFill>
                  <a:srgbClr val="E3E9F4"/>
                </a:solidFill>
                <a:latin typeface="Consolas"/>
              </a:rPr>
              <a:t>.</a:t>
            </a:r>
            <a:r>
              <a:rPr sz="1500" b="0" i="0">
                <a:solidFill>
                  <a:srgbClr val="E3E9F4"/>
                </a:solidFill>
                <a:latin typeface="Consolas"/>
              </a:rPr>
              <a:t>stream</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filter</a:t>
            </a:r>
            <a:r>
              <a:rPr sz="1500" b="0" i="0">
                <a:solidFill>
                  <a:srgbClr val="E3E9F4"/>
                </a:solidFill>
                <a:latin typeface="Consolas"/>
              </a:rPr>
              <a:t>(</a:t>
            </a:r>
            <a:r>
              <a:rPr sz="1500" b="0" i="0">
                <a:solidFill>
                  <a:srgbClr val="E3E9F4"/>
                </a:solidFill>
                <a:latin typeface="Consolas"/>
              </a:rPr>
              <a:t>e</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&gt;</a:t>
            </a:r>
            <a:r>
              <a:rPr sz="1500" b="0" i="0">
                <a:solidFill>
                  <a:srgbClr val="E3E9F4"/>
                </a:solidFill>
                <a:latin typeface="Consolas"/>
              </a:rPr>
              <a:t> </a:t>
            </a:r>
            <a:r>
              <a:rPr sz="1500" b="0" i="0">
                <a:solidFill>
                  <a:srgbClr val="E3E9F4"/>
                </a:solidFill>
                <a:latin typeface="Consolas"/>
              </a:rPr>
              <a:t>e</a:t>
            </a:r>
            <a:r>
              <a:rPr sz="1500" b="0" i="0">
                <a:solidFill>
                  <a:srgbClr val="E3E9F4"/>
                </a:solidFill>
                <a:latin typeface="Consolas"/>
              </a:rPr>
              <a:t>.</a:t>
            </a:r>
            <a:r>
              <a:rPr sz="1500" b="0" i="0">
                <a:solidFill>
                  <a:srgbClr val="E3E9F4"/>
                </a:solidFill>
                <a:latin typeface="Consolas"/>
              </a:rPr>
              <a:t>getMoyenne</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&gt;</a:t>
            </a:r>
            <a:r>
              <a:rPr sz="1500" b="0" i="0">
                <a:solidFill>
                  <a:srgbClr val="E3E9F4"/>
                </a:solidFill>
                <a:latin typeface="Consolas"/>
              </a:rPr>
              <a:t>=</a:t>
            </a:r>
            <a:r>
              <a:rPr sz="1500" b="0" i="0">
                <a:solidFill>
                  <a:srgbClr val="E3E9F4"/>
                </a:solidFill>
                <a:latin typeface="Consolas"/>
              </a:rPr>
              <a:t> </a:t>
            </a:r>
            <a:r>
              <a:rPr sz="1500" b="0" i="0">
                <a:solidFill>
                  <a:srgbClr val="E8C54A"/>
                </a:solidFill>
                <a:latin typeface="Consolas"/>
              </a:rPr>
              <a:t>10</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map</a:t>
            </a:r>
            <a:r>
              <a:rPr sz="1500" b="0" i="0">
                <a:solidFill>
                  <a:srgbClr val="E3E9F4"/>
                </a:solidFill>
                <a:latin typeface="Consolas"/>
              </a:rPr>
              <a:t>(</a:t>
            </a:r>
            <a:r>
              <a:rPr sz="1500" b="0" i="0">
                <a:solidFill>
                  <a:srgbClr val="E3E9F4"/>
                </a:solidFill>
                <a:latin typeface="Consolas"/>
              </a:rPr>
              <a:t>e</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&gt;</a:t>
            </a:r>
            <a:r>
              <a:rPr sz="1500" b="0" i="0">
                <a:solidFill>
                  <a:srgbClr val="E3E9F4"/>
                </a:solidFill>
                <a:latin typeface="Consolas"/>
              </a:rPr>
              <a:t> </a:t>
            </a:r>
            <a:r>
              <a:rPr sz="1500" b="0" i="0">
                <a:solidFill>
                  <a:srgbClr val="E3E9F4"/>
                </a:solidFill>
                <a:latin typeface="Consolas"/>
              </a:rPr>
              <a:t>e</a:t>
            </a:r>
            <a:r>
              <a:rPr sz="1500" b="0" i="0">
                <a:solidFill>
                  <a:srgbClr val="E3E9F4"/>
                </a:solidFill>
                <a:latin typeface="Consolas"/>
              </a:rPr>
              <a:t>.</a:t>
            </a:r>
            <a:r>
              <a:rPr sz="1500" b="0" i="0">
                <a:solidFill>
                  <a:srgbClr val="E3E9F4"/>
                </a:solidFill>
                <a:latin typeface="Consolas"/>
              </a:rPr>
              <a:t>getNom</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toList</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filter() sélectionne, map() transforme, sorted() trie — des opérations INTERMÉDIAIRES, enchaînables</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toList(), count(), sum() sont des opérations TERMINALES : sans elles, rien ne s'exécute</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Un Stream déjà consommé ne peut plus jamais être réutilisé</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24 — Lambda et Streams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164</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24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Filtrer et transformer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À partir d'une List&lt;Produit&gt; (nom, prix, quantiteEnStock), calculez la valeur totale du stock des produits en stock (quantiteEnStock &gt; 0), avec filter + mapToDouble + sum.</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24 — Lambda et Streams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24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Une lambda transmet un comportement comme une simple valeur</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 Stream enchaîne des opérations déclaratives, sans écrire la boucle manuellement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24 — Lambda et Streams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166</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MODULES 21-24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Quiz — Génériques, enum, fichiers, lambda/streams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20000"/>
              </a:lnSpc>
              <a:spcAft>
                <a:spcPts val="1200"/>
              </a:spcAft>
              <a:buNone/>
            </a:pPr>
            <a:r>
              <a:rPr sz="1650" b="1" i="0">
                <a:solidFill>
                  <a:srgbClr val="E8C54A"/>
                </a:solidFill>
                <a:latin typeface="Segoe UI"/>
              </a:rPr>
              <a:t>1.  </a:t>
            </a:r>
            <a:r>
              <a:rPr sz="1650" b="0" i="0">
                <a:solidFill>
                  <a:srgbClr val="ECF0F7"/>
                </a:solidFill>
                <a:latin typeface="Segoe UI"/>
              </a:rPr>
              <a:t>Pourquoi ArrayList&lt;Etudiant&gt; empêche-t-il d'y ajouter accidentellement un Produit ?</a:t>
            </a:r>
          </a:p>
          <a:p>
            <a:pPr>
              <a:lnSpc>
                <a:spcPct val="120000"/>
              </a:lnSpc>
              <a:spcAft>
                <a:spcPts val="1200"/>
              </a:spcAft>
              <a:buNone/>
            </a:pPr>
            <a:r>
              <a:rPr sz="1650" b="1" i="0">
                <a:solidFill>
                  <a:srgbClr val="E8C54A"/>
                </a:solidFill>
                <a:latin typeface="Segoe UI"/>
              </a:rPr>
              <a:t>2.  </a:t>
            </a:r>
            <a:r>
              <a:rPr sz="1650" b="0" i="0">
                <a:solidFill>
                  <a:srgbClr val="ECF0F7"/>
                </a:solidFill>
                <a:latin typeface="Segoe UI"/>
              </a:rPr>
              <a:t>Pourquoi comparer des enum avec == est-il sûr, contrairement aux String ?</a:t>
            </a:r>
          </a:p>
          <a:p>
            <a:pPr>
              <a:lnSpc>
                <a:spcPct val="120000"/>
              </a:lnSpc>
              <a:spcAft>
                <a:spcPts val="1200"/>
              </a:spcAft>
              <a:buNone/>
            </a:pPr>
            <a:r>
              <a:rPr sz="1650" b="1" i="0">
                <a:solidFill>
                  <a:srgbClr val="E8C54A"/>
                </a:solidFill>
                <a:latin typeface="Segoe UI"/>
              </a:rPr>
              <a:t>3.  </a:t>
            </a:r>
            <a:r>
              <a:rPr sz="1650" b="0" i="0">
                <a:solidFill>
                  <a:srgbClr val="ECF0F7"/>
                </a:solidFill>
                <a:latin typeface="Segoe UI"/>
              </a:rPr>
              <a:t>Comment sait-on qu'on a atteint la fin d'un fichier lu avec readLine() ?</a:t>
            </a:r>
          </a:p>
          <a:p>
            <a:pPr>
              <a:lnSpc>
                <a:spcPct val="120000"/>
              </a:lnSpc>
              <a:spcAft>
                <a:spcPts val="1200"/>
              </a:spcAft>
              <a:buNone/>
            </a:pPr>
            <a:r>
              <a:rPr sz="1650" b="1" i="0">
                <a:solidFill>
                  <a:srgbClr val="E8C54A"/>
                </a:solidFill>
                <a:latin typeface="Segoe UI"/>
              </a:rPr>
              <a:t>4.  </a:t>
            </a:r>
            <a:r>
              <a:rPr sz="1650" b="0" i="0">
                <a:solidFill>
                  <a:srgbClr val="ECF0F7"/>
                </a:solidFill>
                <a:latin typeface="Segoe UI"/>
              </a:rPr>
              <a:t>Que se passe-t-il si on oublie l'opération terminale d'un Stream ?</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24 — Lambda et Streams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25</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UML et conception</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Passer d'un problème réel au code Java, en dessinant avant d'écrire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25 — UML et conception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25 — PIPELINE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Du problème réel au code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Problème réel</a:t>
            </a:r>
          </a:p>
        </p:txBody>
      </p:sp>
      <p:sp>
        <p:nvSpPr>
          <p:cNvPr id="9" name="Down Arrow 8"/>
          <p:cNvSpPr/>
          <p:nvPr/>
        </p:nvSpPr>
        <p:spPr>
          <a:xfrm>
            <a:off x="5967832" y="213969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37744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37744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37744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Analyse</a:t>
            </a:r>
          </a:p>
        </p:txBody>
      </p:sp>
      <p:sp>
        <p:nvSpPr>
          <p:cNvPr id="13" name="Down Arrow 12"/>
          <p:cNvSpPr/>
          <p:nvPr/>
        </p:nvSpPr>
        <p:spPr>
          <a:xfrm>
            <a:off x="5967832" y="296265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3928" y="320040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3928" y="320040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8248" y="320040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Classes</a:t>
            </a:r>
          </a:p>
        </p:txBody>
      </p:sp>
      <p:sp>
        <p:nvSpPr>
          <p:cNvPr id="17" name="Down Arrow 16"/>
          <p:cNvSpPr/>
          <p:nvPr/>
        </p:nvSpPr>
        <p:spPr>
          <a:xfrm>
            <a:off x="5967832" y="378561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63928" y="402336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63928" y="402336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8248" y="402336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Attributs / Méthodes</a:t>
            </a:r>
          </a:p>
        </p:txBody>
      </p:sp>
      <p:sp>
        <p:nvSpPr>
          <p:cNvPr id="21" name="Down Arrow 20"/>
          <p:cNvSpPr/>
          <p:nvPr/>
        </p:nvSpPr>
        <p:spPr>
          <a:xfrm>
            <a:off x="5967832" y="460857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63928" y="484632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63928" y="484632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38248" y="484632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Relations</a:t>
            </a:r>
          </a:p>
        </p:txBody>
      </p:sp>
      <p:sp>
        <p:nvSpPr>
          <p:cNvPr id="25" name="Down Arrow 24"/>
          <p:cNvSpPr/>
          <p:nvPr/>
        </p:nvSpPr>
        <p:spPr>
          <a:xfrm>
            <a:off x="5967832" y="543153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63928" y="566928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63928" y="566928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38248" y="566928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Code Java</a:t>
            </a:r>
          </a:p>
        </p:txBody>
      </p:sp>
      <p:sp>
        <p:nvSpPr>
          <p:cNvPr id="29" name="TextBox 2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30" name="TextBox 2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25 — UML et conception</a:t>
            </a:r>
          </a:p>
        </p:txBody>
      </p:sp>
      <p:sp>
        <p:nvSpPr>
          <p:cNvPr id="31" name="TextBox 3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169</a:t>
            </a:r>
          </a:p>
        </p:txBody>
      </p:sp>
      <p:sp>
        <p:nvSpPr>
          <p:cNvPr id="32" name="Rectangle 3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diagramme de classes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783080"/>
            <a:ext cx="4206240" cy="1271016"/>
          </a:xfrm>
          <a:prstGeom prst="rect">
            <a:avLst/>
          </a:prstGeom>
          <a:solidFill>
            <a:srgbClr val="121C32"/>
          </a:solidFill>
          <a:ln w="19050">
            <a:solidFill>
              <a:srgbClr val="35C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206240" cy="502920"/>
          </a:xfrm>
          <a:prstGeom prst="rect">
            <a:avLst/>
          </a:prstGeom>
          <a:noFill/>
        </p:spPr>
        <p:txBody>
          <a:bodyPr wrap="square" anchor="ctr" lIns="0" rIns="0" tIns="0" bIns="0">
            <a:spAutoFit/>
          </a:bodyPr>
          <a:lstStyle/>
          <a:p>
            <a:pPr algn="ctr">
              <a:spcBef>
                <a:spcPts val="0"/>
              </a:spcBef>
              <a:spcAft>
                <a:spcPts val="0"/>
              </a:spcAft>
              <a:buNone/>
            </a:pPr>
            <a:r>
              <a:rPr sz="1700" b="1" i="0">
                <a:solidFill>
                  <a:srgbClr val="ECF0F7"/>
                </a:solidFill>
                <a:latin typeface="Segoe UI Semibold"/>
              </a:rPr>
              <a:t>Client</a:t>
            </a:r>
          </a:p>
        </p:txBody>
      </p:sp>
      <p:sp>
        <p:nvSpPr>
          <p:cNvPr id="8" name="Rectangle 7"/>
          <p:cNvSpPr/>
          <p:nvPr/>
        </p:nvSpPr>
        <p:spPr>
          <a:xfrm>
            <a:off x="914400" y="2286000"/>
            <a:ext cx="4206240" cy="19050"/>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40864"/>
            <a:ext cx="3931920" cy="512064"/>
          </a:xfrm>
          <a:prstGeom prst="rect">
            <a:avLst/>
          </a:prstGeom>
          <a:noFill/>
        </p:spPr>
        <p:txBody>
          <a:bodyPr wrap="square" anchor="t" lIns="0" rIns="0" tIns="0" bIns="0">
            <a:spAutoFit/>
          </a:bodyPr>
          <a:lstStyle/>
          <a:p>
            <a:pPr algn="l">
              <a:spcBef>
                <a:spcPts val="0"/>
              </a:spcBef>
              <a:spcAft>
                <a:spcPts val="200"/>
              </a:spcAft>
              <a:buNone/>
            </a:pPr>
            <a:r>
              <a:rPr sz="1250" b="0" i="0">
                <a:solidFill>
                  <a:srgbClr val="93A1BE"/>
                </a:solidFill>
                <a:latin typeface="Consolas"/>
              </a:rPr>
              <a:t>- nom : String</a:t>
            </a:r>
          </a:p>
          <a:p>
            <a:pPr algn="l">
              <a:spcBef>
                <a:spcPts val="0"/>
              </a:spcBef>
              <a:spcAft>
                <a:spcPts val="200"/>
              </a:spcAft>
              <a:buNone/>
            </a:pPr>
            <a:r>
              <a:rPr sz="1250" b="0" i="0">
                <a:solidFill>
                  <a:srgbClr val="93A1BE"/>
                </a:solidFill>
                <a:latin typeface="Consolas"/>
              </a:rPr>
              <a:t>- soldeDu : double</a:t>
            </a:r>
          </a:p>
        </p:txBody>
      </p:sp>
      <p:sp>
        <p:nvSpPr>
          <p:cNvPr id="10" name="Rectangle 9"/>
          <p:cNvSpPr/>
          <p:nvPr/>
        </p:nvSpPr>
        <p:spPr>
          <a:xfrm>
            <a:off x="914400" y="2798064"/>
            <a:ext cx="4206240" cy="19050"/>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852928"/>
            <a:ext cx="3931920" cy="256032"/>
          </a:xfrm>
          <a:prstGeom prst="rect">
            <a:avLst/>
          </a:prstGeom>
          <a:noFill/>
        </p:spPr>
        <p:txBody>
          <a:bodyPr wrap="square" anchor="t" lIns="0" rIns="0" tIns="0" bIns="0">
            <a:spAutoFit/>
          </a:bodyPr>
          <a:lstStyle/>
          <a:p>
            <a:pPr algn="l">
              <a:spcBef>
                <a:spcPts val="0"/>
              </a:spcBef>
              <a:spcAft>
                <a:spcPts val="200"/>
              </a:spcAft>
              <a:buNone/>
            </a:pPr>
            <a:r>
              <a:rPr sz="1250" b="0" i="0">
                <a:solidFill>
                  <a:srgbClr val="ECF0F7"/>
                </a:solidFill>
                <a:latin typeface="Consolas"/>
              </a:rPr>
              <a:t>+ ajouterDette(montant)</a:t>
            </a:r>
          </a:p>
        </p:txBody>
      </p:sp>
      <p:sp>
        <p:nvSpPr>
          <p:cNvPr id="12" name="Rectangle 11"/>
          <p:cNvSpPr/>
          <p:nvPr/>
        </p:nvSpPr>
        <p:spPr>
          <a:xfrm>
            <a:off x="7071055" y="1783080"/>
            <a:ext cx="4206240" cy="1527048"/>
          </a:xfrm>
          <a:prstGeom prst="rect">
            <a:avLst/>
          </a:prstGeom>
          <a:solidFill>
            <a:srgbClr val="121C32"/>
          </a:solidFill>
          <a:ln w="19050">
            <a:solidFill>
              <a:srgbClr val="35C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71055" y="1783080"/>
            <a:ext cx="4206240" cy="502920"/>
          </a:xfrm>
          <a:prstGeom prst="rect">
            <a:avLst/>
          </a:prstGeom>
          <a:noFill/>
        </p:spPr>
        <p:txBody>
          <a:bodyPr wrap="square" anchor="ctr" lIns="0" rIns="0" tIns="0" bIns="0">
            <a:spAutoFit/>
          </a:bodyPr>
          <a:lstStyle/>
          <a:p>
            <a:pPr algn="ctr">
              <a:spcBef>
                <a:spcPts val="0"/>
              </a:spcBef>
              <a:spcAft>
                <a:spcPts val="0"/>
              </a:spcAft>
              <a:buNone/>
            </a:pPr>
            <a:r>
              <a:rPr sz="1700" b="1" i="0">
                <a:solidFill>
                  <a:srgbClr val="ECF0F7"/>
                </a:solidFill>
                <a:latin typeface="Segoe UI Semibold"/>
              </a:rPr>
              <a:t>Commande</a:t>
            </a:r>
          </a:p>
        </p:txBody>
      </p:sp>
      <p:sp>
        <p:nvSpPr>
          <p:cNvPr id="14" name="Rectangle 13"/>
          <p:cNvSpPr/>
          <p:nvPr/>
        </p:nvSpPr>
        <p:spPr>
          <a:xfrm>
            <a:off x="7071055" y="2286000"/>
            <a:ext cx="4206240" cy="19050"/>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8215" y="2340864"/>
            <a:ext cx="3931920" cy="512064"/>
          </a:xfrm>
          <a:prstGeom prst="rect">
            <a:avLst/>
          </a:prstGeom>
          <a:noFill/>
        </p:spPr>
        <p:txBody>
          <a:bodyPr wrap="square" anchor="t" lIns="0" rIns="0" tIns="0" bIns="0">
            <a:spAutoFit/>
          </a:bodyPr>
          <a:lstStyle/>
          <a:p>
            <a:pPr algn="l">
              <a:spcBef>
                <a:spcPts val="0"/>
              </a:spcBef>
              <a:spcAft>
                <a:spcPts val="200"/>
              </a:spcAft>
              <a:buNone/>
            </a:pPr>
            <a:r>
              <a:rPr sz="1250" b="0" i="0">
                <a:solidFill>
                  <a:srgbClr val="93A1BE"/>
                </a:solidFill>
                <a:latin typeface="Consolas"/>
              </a:rPr>
              <a:t>- lignes : LigneCommande[]</a:t>
            </a:r>
          </a:p>
          <a:p>
            <a:pPr algn="l">
              <a:spcBef>
                <a:spcPts val="0"/>
              </a:spcBef>
              <a:spcAft>
                <a:spcPts val="200"/>
              </a:spcAft>
              <a:buNone/>
            </a:pPr>
            <a:r>
              <a:rPr sz="1250" b="0" i="0">
                <a:solidFill>
                  <a:srgbClr val="93A1BE"/>
                </a:solidFill>
                <a:latin typeface="Consolas"/>
              </a:rPr>
              <a:t>- payee : boolean</a:t>
            </a:r>
          </a:p>
        </p:txBody>
      </p:sp>
      <p:sp>
        <p:nvSpPr>
          <p:cNvPr id="16" name="Rectangle 15"/>
          <p:cNvSpPr/>
          <p:nvPr/>
        </p:nvSpPr>
        <p:spPr>
          <a:xfrm>
            <a:off x="7071055" y="2798064"/>
            <a:ext cx="4206240" cy="19050"/>
          </a:xfrm>
          <a:prstGeom prst="rect">
            <a:avLst/>
          </a:prstGeom>
          <a:solidFill>
            <a:srgbClr val="35C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8215" y="2852928"/>
            <a:ext cx="3931920" cy="512064"/>
          </a:xfrm>
          <a:prstGeom prst="rect">
            <a:avLst/>
          </a:prstGeom>
          <a:noFill/>
        </p:spPr>
        <p:txBody>
          <a:bodyPr wrap="square" anchor="t" lIns="0" rIns="0" tIns="0" bIns="0">
            <a:spAutoFit/>
          </a:bodyPr>
          <a:lstStyle/>
          <a:p>
            <a:pPr algn="l">
              <a:spcBef>
                <a:spcPts val="0"/>
              </a:spcBef>
              <a:spcAft>
                <a:spcPts val="200"/>
              </a:spcAft>
              <a:buNone/>
            </a:pPr>
            <a:r>
              <a:rPr sz="1250" b="0" i="0">
                <a:solidFill>
                  <a:srgbClr val="ECF0F7"/>
                </a:solidFill>
                <a:latin typeface="Consolas"/>
              </a:rPr>
              <a:t>+ calculerTotal(): double</a:t>
            </a:r>
          </a:p>
          <a:p>
            <a:pPr algn="l">
              <a:spcBef>
                <a:spcPts val="0"/>
              </a:spcBef>
              <a:spcAft>
                <a:spcPts val="200"/>
              </a:spcAft>
              <a:buNone/>
            </a:pPr>
            <a:r>
              <a:rPr sz="1250" b="0" i="0">
                <a:solidFill>
                  <a:srgbClr val="ECF0F7"/>
                </a:solidFill>
                <a:latin typeface="Consolas"/>
              </a:rPr>
              <a:t>+ valider(): void</a:t>
            </a:r>
          </a:p>
        </p:txBody>
      </p:sp>
      <p:cxnSp>
        <p:nvCxnSpPr>
          <p:cNvPr id="18" name="Connector 17"/>
          <p:cNvCxnSpPr/>
          <p:nvPr/>
        </p:nvCxnSpPr>
        <p:spPr>
          <a:xfrm>
            <a:off x="5120640" y="2418588"/>
            <a:ext cx="1950415" cy="0"/>
          </a:xfrm>
          <a:prstGeom prst="line">
            <a:avLst/>
          </a:prstGeom>
          <a:ln w="22225">
            <a:solidFill>
              <a:srgbClr val="24314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57800" y="1915668"/>
            <a:ext cx="1676095" cy="365760"/>
          </a:xfrm>
          <a:prstGeom prst="rect">
            <a:avLst/>
          </a:prstGeom>
          <a:noFill/>
        </p:spPr>
        <p:txBody>
          <a:bodyPr wrap="square" anchor="t" lIns="0" rIns="0" tIns="0" bIns="0">
            <a:spAutoFit/>
          </a:bodyPr>
          <a:lstStyle/>
          <a:p>
            <a:pPr algn="ctr">
              <a:spcBef>
                <a:spcPts val="0"/>
              </a:spcBef>
              <a:spcAft>
                <a:spcPts val="0"/>
              </a:spcAft>
              <a:buNone/>
            </a:pPr>
            <a:r>
              <a:rPr sz="1300" b="1" i="0">
                <a:solidFill>
                  <a:srgbClr val="35C7E0"/>
                </a:solidFill>
                <a:latin typeface="Segoe UI"/>
              </a:rPr>
              <a:t>1        *</a:t>
            </a:r>
          </a:p>
        </p:txBody>
      </p:sp>
      <p:sp>
        <p:nvSpPr>
          <p:cNvPr id="20" name="TextBox 19"/>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21" name="TextBox 20"/>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25 — UML et conception</a:t>
            </a:r>
          </a:p>
        </p:txBody>
      </p:sp>
      <p:sp>
        <p:nvSpPr>
          <p:cNvPr id="22" name="TextBox 21"/>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170</a:t>
            </a:r>
          </a:p>
        </p:txBody>
      </p:sp>
      <p:sp>
        <p:nvSpPr>
          <p:cNvPr id="23" name="Rectangle 22"/>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Visibilité, héritage, association, multiplicité</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Visibilité : -, +, # dans le diagramme correspondent aux modificateurs du Module 8</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Héritage : flèche à triangle plein (Module 16)</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Association : ligne simple, avec sa multiplicité (1, *, 0..1…)</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Le diagramme de cas d'utilisation identifie ACTEURS et fonctionnalités, AVANT la structure technique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25 — UML et conception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25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Dessiner avant de coder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Pour un système de réservation de salle : dessinez un diagramme de classes simple (Salle, Reservation, Employe), puis traduisez-le en squelette de classes Java.</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25 — UML et conception</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172</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25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UML donne des conventions de dessin standardisées, avant ou pendant l'écriture du code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Chaque symbole UML se traduit presque mécaniquement en Java</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25 — UML et conception</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173</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26</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Architecture d'application</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Organiser une application en couches — complément pédagogique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26 — Architecture d'application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174</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26 — SCHÉMA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UI → Service → Repository → Database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UI (interface utilisateur)</a:t>
            </a:r>
          </a:p>
        </p:txBody>
      </p:sp>
      <p:sp>
        <p:nvSpPr>
          <p:cNvPr id="9" name="Down Arrow 8"/>
          <p:cNvSpPr/>
          <p:nvPr/>
        </p:nvSpPr>
        <p:spPr>
          <a:xfrm>
            <a:off x="5967832" y="236829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60604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60604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60604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Service (logique métier)</a:t>
            </a:r>
          </a:p>
        </p:txBody>
      </p:sp>
      <p:sp>
        <p:nvSpPr>
          <p:cNvPr id="13" name="Down Arrow 12"/>
          <p:cNvSpPr/>
          <p:nvPr/>
        </p:nvSpPr>
        <p:spPr>
          <a:xfrm>
            <a:off x="5967832" y="341985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3928" y="365760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3928" y="365760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8248" y="365760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Repository / DAO (accès aux données)</a:t>
            </a:r>
          </a:p>
        </p:txBody>
      </p:sp>
      <p:sp>
        <p:nvSpPr>
          <p:cNvPr id="17" name="Down Arrow 16"/>
          <p:cNvSpPr/>
          <p:nvPr/>
        </p:nvSpPr>
        <p:spPr>
          <a:xfrm>
            <a:off x="5967832" y="447141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63928" y="470916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63928" y="470916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8248" y="470916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Database</a:t>
            </a:r>
          </a:p>
        </p:txBody>
      </p:sp>
      <p:sp>
        <p:nvSpPr>
          <p:cNvPr id="21" name="TextBox 20"/>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22" name="TextBox 21"/>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26 — Architecture d'application</a:t>
            </a:r>
          </a:p>
        </p:txBody>
      </p:sp>
      <p:sp>
        <p:nvSpPr>
          <p:cNvPr id="23" name="TextBox 22"/>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175</a:t>
            </a:r>
          </a:p>
        </p:txBody>
      </p:sp>
      <p:sp>
        <p:nvSpPr>
          <p:cNvPr id="24" name="Rectangle 23"/>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rôle de chaque couche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911534" cy="2834640"/>
        </p:xfrm>
        <a:graphic>
          <a:graphicData uri="http://schemas.openxmlformats.org/drawingml/2006/table">
            <a:tbl>
              <a:tblPr firstRow="1" bandRow="1">
                <a:tableStyleId>{5C22544A-7EE6-4342-B048-85BDC9FD1C3A}</a:tableStyleId>
              </a:tblPr>
              <a:tblGrid>
                <a:gridCol w="5455767"/>
                <a:gridCol w="5455767"/>
              </a:tblGrid>
              <a:tr h="566928">
                <a:tc>
                  <a:txBody>
                    <a:bodyPr wrap="square"/>
                    <a:lstStyle/>
                    <a:p>
                      <a:pPr algn="l"/>
                      <a:r>
                        <a:rPr sz="1400" b="1" i="0">
                          <a:solidFill>
                            <a:srgbClr val="0B1220"/>
                          </a:solidFill>
                          <a:latin typeface="Segoe UI"/>
                        </a:rPr>
                        <a:t>Couche</a:t>
                      </a:r>
                    </a:p>
                  </a:txBody>
                  <a:tcPr marT="50800" marB="50800" marL="127000" marR="127000">
                    <a:solidFill>
                      <a:srgbClr val="F28C28"/>
                    </a:solidFill>
                  </a:tcPr>
                </a:tc>
                <a:tc>
                  <a:txBody>
                    <a:bodyPr wrap="square"/>
                    <a:lstStyle/>
                    <a:p>
                      <a:pPr algn="l"/>
                      <a:r>
                        <a:rPr sz="1400" b="1" i="0">
                          <a:solidFill>
                            <a:srgbClr val="0B1220"/>
                          </a:solidFill>
                          <a:latin typeface="Segoe UI"/>
                        </a:rPr>
                        <a:t>Rôle</a:t>
                      </a:r>
                    </a:p>
                  </a:txBody>
                  <a:tcPr marT="50800" marB="50800" marL="127000" marR="127000">
                    <a:solidFill>
                      <a:srgbClr val="F28C28"/>
                    </a:solidFill>
                  </a:tcPr>
                </a:tc>
              </a:tr>
              <a:tr h="566928">
                <a:tc>
                  <a:txBody>
                    <a:bodyPr wrap="square"/>
                    <a:lstStyle/>
                    <a:p>
                      <a:r>
                        <a:rPr sz="1350" b="1" i="0">
                          <a:solidFill>
                            <a:srgbClr val="ECF0F7"/>
                          </a:solidFill>
                          <a:latin typeface="Segoe UI"/>
                        </a:rPr>
                        <a:t>UI</a:t>
                      </a:r>
                    </a:p>
                  </a:txBody>
                  <a:tcPr marT="50800" marB="50800" marL="127000" marR="127000">
                    <a:solidFill>
                      <a:srgbClr val="121C32"/>
                    </a:solidFill>
                  </a:tcPr>
                </a:tc>
                <a:tc>
                  <a:txBody>
                    <a:bodyPr wrap="square"/>
                    <a:lstStyle/>
                    <a:p>
                      <a:r>
                        <a:rPr sz="1350" b="0" i="0">
                          <a:solidFill>
                            <a:srgbClr val="ECF0F7"/>
                          </a:solidFill>
                          <a:latin typeface="Segoe UI"/>
                        </a:rPr>
                        <a:t>Ce que voit et manipule l'utilisateur final</a:t>
                      </a:r>
                    </a:p>
                  </a:txBody>
                  <a:tcPr marT="50800" marB="50800" marL="127000" marR="127000">
                    <a:solidFill>
                      <a:srgbClr val="121C32"/>
                    </a:solidFill>
                  </a:tcPr>
                </a:tc>
              </a:tr>
              <a:tr h="566928">
                <a:tc>
                  <a:txBody>
                    <a:bodyPr wrap="square"/>
                    <a:lstStyle/>
                    <a:p>
                      <a:r>
                        <a:rPr sz="1350" b="1" i="0">
                          <a:solidFill>
                            <a:srgbClr val="ECF0F7"/>
                          </a:solidFill>
                          <a:latin typeface="Segoe UI"/>
                        </a:rPr>
                        <a:t>Service</a:t>
                      </a:r>
                    </a:p>
                  </a:txBody>
                  <a:tcPr marT="50800" marB="50800" marL="127000" marR="127000">
                    <a:solidFill>
                      <a:srgbClr val="0B1220"/>
                    </a:solidFill>
                  </a:tcPr>
                </a:tc>
                <a:tc>
                  <a:txBody>
                    <a:bodyPr wrap="square"/>
                    <a:lstStyle/>
                    <a:p>
                      <a:r>
                        <a:rPr sz="1350" b="0" i="0">
                          <a:solidFill>
                            <a:srgbClr val="ECF0F7"/>
                          </a:solidFill>
                          <a:latin typeface="Segoe UI"/>
                        </a:rPr>
                        <a:t>Les règles métier : un étudiant peut-il s'inscrire ? un compte peut-il retirer ce montant ?</a:t>
                      </a:r>
                    </a:p>
                  </a:txBody>
                  <a:tcPr marT="50800" marB="50800" marL="127000" marR="127000">
                    <a:solidFill>
                      <a:srgbClr val="0B1220"/>
                    </a:solidFill>
                  </a:tcPr>
                </a:tc>
              </a:tr>
              <a:tr h="566928">
                <a:tc>
                  <a:txBody>
                    <a:bodyPr wrap="square"/>
                    <a:lstStyle/>
                    <a:p>
                      <a:r>
                        <a:rPr sz="1350" b="1" i="0">
                          <a:solidFill>
                            <a:srgbClr val="ECF0F7"/>
                          </a:solidFill>
                          <a:latin typeface="Segoe UI"/>
                        </a:rPr>
                        <a:t>Repository / DAO</a:t>
                      </a:r>
                    </a:p>
                  </a:txBody>
                  <a:tcPr marT="50800" marB="50800" marL="127000" marR="127000">
                    <a:solidFill>
                      <a:srgbClr val="121C32"/>
                    </a:solidFill>
                  </a:tcPr>
                </a:tc>
                <a:tc>
                  <a:txBody>
                    <a:bodyPr wrap="square"/>
                    <a:lstStyle/>
                    <a:p>
                      <a:r>
                        <a:rPr sz="1350" b="0" i="0">
                          <a:solidFill>
                            <a:srgbClr val="ECF0F7"/>
                          </a:solidFill>
                          <a:latin typeface="Segoe UI"/>
                        </a:rPr>
                        <a:t>L'accès aux données — lire/écrire en base, sans AUCUNE règle métier (Module 29)</a:t>
                      </a:r>
                    </a:p>
                  </a:txBody>
                  <a:tcPr marT="50800" marB="50800" marL="127000" marR="127000">
                    <a:solidFill>
                      <a:srgbClr val="121C32"/>
                    </a:solidFill>
                  </a:tcPr>
                </a:tc>
              </a:tr>
              <a:tr h="566928">
                <a:tc>
                  <a:txBody>
                    <a:bodyPr wrap="square"/>
                    <a:lstStyle/>
                    <a:p>
                      <a:r>
                        <a:rPr sz="1350" b="1" i="0">
                          <a:solidFill>
                            <a:srgbClr val="ECF0F7"/>
                          </a:solidFill>
                          <a:latin typeface="Segoe UI"/>
                        </a:rPr>
                        <a:t>Database</a:t>
                      </a:r>
                    </a:p>
                  </a:txBody>
                  <a:tcPr marT="50800" marB="50800" marL="127000" marR="127000">
                    <a:solidFill>
                      <a:srgbClr val="0B1220"/>
                    </a:solidFill>
                  </a:tcPr>
                </a:tc>
                <a:tc>
                  <a:txBody>
                    <a:bodyPr wrap="square"/>
                    <a:lstStyle/>
                    <a:p>
                      <a:r>
                        <a:rPr sz="1350" b="0" i="0">
                          <a:solidFill>
                            <a:srgbClr val="ECF0F7"/>
                          </a:solidFill>
                          <a:latin typeface="Segoe UI"/>
                        </a:rPr>
                        <a:t>Le stockage durable des données (Module 27)</a:t>
                      </a:r>
                    </a:p>
                  </a:txBody>
                  <a:tcPr marT="50800" marB="50800" marL="127000" marR="127000">
                    <a:solidFill>
                      <a:srgbClr val="0B1220"/>
                    </a:solidFill>
                  </a:tcPr>
                </a:tc>
              </a:tr>
            </a:tbl>
          </a:graphicData>
        </a:graphic>
      </p:graphicFrame>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26 — Architecture d'application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176</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26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Chaque couche a une responsabilité unique et ne communique qu'avec sa voisine directe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Le DAO ne connaît jamais de règle métier ; le Service ne connaît jamais de SQL</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26 — Architecture d'application</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177</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27</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Java et base de données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OBLIGATOIRE — base de données, SQL, JDBC : le socle avant le code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27 — Java et base de données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Vocabulaire d'une base de données relationnelle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TABLE : regroupe toutes les données d'un même type de chose (tous les étudiants)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COLONNE : un champ commun à toutes les lignes ; LIGNE : une entrée précise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CLÉ PRIMAIRE : identifie une ligne de façon unique et permanente (souvent id, auto-généré)</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CLÉ ÉTRANGÈRE : une colonne qui référence la clé primaire d'une AUTRE table — une relation</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27 — Java et base de données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179</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Commandes SQL essentielles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911534" cy="3968496"/>
        </p:xfrm>
        <a:graphic>
          <a:graphicData uri="http://schemas.openxmlformats.org/drawingml/2006/table">
            <a:tbl>
              <a:tblPr firstRow="1" bandRow="1">
                <a:tableStyleId>{5C22544A-7EE6-4342-B048-85BDC9FD1C3A}</a:tableStyleId>
              </a:tblPr>
              <a:tblGrid>
                <a:gridCol w="5455767"/>
                <a:gridCol w="5455767"/>
              </a:tblGrid>
              <a:tr h="566928">
                <a:tc>
                  <a:txBody>
                    <a:bodyPr wrap="square"/>
                    <a:lstStyle/>
                    <a:p>
                      <a:pPr algn="l"/>
                      <a:r>
                        <a:rPr sz="1400" b="1" i="0">
                          <a:solidFill>
                            <a:srgbClr val="0B1220"/>
                          </a:solidFill>
                          <a:latin typeface="Segoe UI"/>
                        </a:rPr>
                        <a:t>Commande</a:t>
                      </a:r>
                    </a:p>
                  </a:txBody>
                  <a:tcPr marT="50800" marB="50800" marL="127000" marR="127000">
                    <a:solidFill>
                      <a:srgbClr val="F28C28"/>
                    </a:solidFill>
                  </a:tcPr>
                </a:tc>
                <a:tc>
                  <a:txBody>
                    <a:bodyPr wrap="square"/>
                    <a:lstStyle/>
                    <a:p>
                      <a:pPr algn="l"/>
                      <a:r>
                        <a:rPr sz="1400" b="1" i="0">
                          <a:solidFill>
                            <a:srgbClr val="0B1220"/>
                          </a:solidFill>
                          <a:latin typeface="Segoe UI"/>
                        </a:rPr>
                        <a:t>Rôle</a:t>
                      </a:r>
                    </a:p>
                  </a:txBody>
                  <a:tcPr marT="50800" marB="50800" marL="127000" marR="127000">
                    <a:solidFill>
                      <a:srgbClr val="F28C28"/>
                    </a:solidFill>
                  </a:tcPr>
                </a:tc>
              </a:tr>
              <a:tr h="566928">
                <a:tc>
                  <a:txBody>
                    <a:bodyPr wrap="square"/>
                    <a:lstStyle/>
                    <a:p>
                      <a:r>
                        <a:rPr sz="1350" b="1" i="0">
                          <a:solidFill>
                            <a:srgbClr val="ECF0F7"/>
                          </a:solidFill>
                          <a:latin typeface="Segoe UI"/>
                        </a:rPr>
                        <a:t>CREATE TABLE</a:t>
                      </a:r>
                    </a:p>
                  </a:txBody>
                  <a:tcPr marT="50800" marB="50800" marL="127000" marR="127000">
                    <a:solidFill>
                      <a:srgbClr val="121C32"/>
                    </a:solidFill>
                  </a:tcPr>
                </a:tc>
                <a:tc>
                  <a:txBody>
                    <a:bodyPr wrap="square"/>
                    <a:lstStyle/>
                    <a:p>
                      <a:r>
                        <a:rPr sz="1350" b="0" i="0">
                          <a:solidFill>
                            <a:srgbClr val="ECF0F7"/>
                          </a:solidFill>
                          <a:latin typeface="Segoe UI"/>
                        </a:rPr>
                        <a:t>Crée une nouvelle structure de table</a:t>
                      </a:r>
                    </a:p>
                  </a:txBody>
                  <a:tcPr marT="50800" marB="50800" marL="127000" marR="127000">
                    <a:solidFill>
                      <a:srgbClr val="121C32"/>
                    </a:solidFill>
                  </a:tcPr>
                </a:tc>
              </a:tr>
              <a:tr h="566928">
                <a:tc>
                  <a:txBody>
                    <a:bodyPr wrap="square"/>
                    <a:lstStyle/>
                    <a:p>
                      <a:r>
                        <a:rPr sz="1350" b="1" i="0">
                          <a:solidFill>
                            <a:srgbClr val="ECF0F7"/>
                          </a:solidFill>
                          <a:latin typeface="Segoe UI"/>
                        </a:rPr>
                        <a:t>INSERT INTO ... VALUES</a:t>
                      </a:r>
                    </a:p>
                  </a:txBody>
                  <a:tcPr marT="50800" marB="50800" marL="127000" marR="127000">
                    <a:solidFill>
                      <a:srgbClr val="0B1220"/>
                    </a:solidFill>
                  </a:tcPr>
                </a:tc>
                <a:tc>
                  <a:txBody>
                    <a:bodyPr wrap="square"/>
                    <a:lstStyle/>
                    <a:p>
                      <a:r>
                        <a:rPr sz="1350" b="0" i="0">
                          <a:solidFill>
                            <a:srgbClr val="ECF0F7"/>
                          </a:solidFill>
                          <a:latin typeface="Segoe UI"/>
                        </a:rPr>
                        <a:t>Ajoute une ligne</a:t>
                      </a:r>
                    </a:p>
                  </a:txBody>
                  <a:tcPr marT="50800" marB="50800" marL="127000" marR="127000">
                    <a:solidFill>
                      <a:srgbClr val="0B1220"/>
                    </a:solidFill>
                  </a:tcPr>
                </a:tc>
              </a:tr>
              <a:tr h="566928">
                <a:tc>
                  <a:txBody>
                    <a:bodyPr wrap="square"/>
                    <a:lstStyle/>
                    <a:p>
                      <a:r>
                        <a:rPr sz="1350" b="1" i="0">
                          <a:solidFill>
                            <a:srgbClr val="ECF0F7"/>
                          </a:solidFill>
                          <a:latin typeface="Segoe UI"/>
                        </a:rPr>
                        <a:t>SELECT ... WHERE</a:t>
                      </a:r>
                    </a:p>
                  </a:txBody>
                  <a:tcPr marT="50800" marB="50800" marL="127000" marR="127000">
                    <a:solidFill>
                      <a:srgbClr val="121C32"/>
                    </a:solidFill>
                  </a:tcPr>
                </a:tc>
                <a:tc>
                  <a:txBody>
                    <a:bodyPr wrap="square"/>
                    <a:lstStyle/>
                    <a:p>
                      <a:r>
                        <a:rPr sz="1350" b="0" i="0">
                          <a:solidFill>
                            <a:srgbClr val="ECF0F7"/>
                          </a:solidFill>
                          <a:latin typeface="Segoe UI"/>
                        </a:rPr>
                        <a:t>Lit des lignes, filtrées par condition</a:t>
                      </a:r>
                    </a:p>
                  </a:txBody>
                  <a:tcPr marT="50800" marB="50800" marL="127000" marR="127000">
                    <a:solidFill>
                      <a:srgbClr val="121C32"/>
                    </a:solidFill>
                  </a:tcPr>
                </a:tc>
              </a:tr>
              <a:tr h="566928">
                <a:tc>
                  <a:txBody>
                    <a:bodyPr wrap="square"/>
                    <a:lstStyle/>
                    <a:p>
                      <a:r>
                        <a:rPr sz="1350" b="1" i="0">
                          <a:solidFill>
                            <a:srgbClr val="ECF0F7"/>
                          </a:solidFill>
                          <a:latin typeface="Segoe UI"/>
                        </a:rPr>
                        <a:t>UPDATE ... SET ... WHERE</a:t>
                      </a:r>
                    </a:p>
                  </a:txBody>
                  <a:tcPr marT="50800" marB="50800" marL="127000" marR="127000">
                    <a:solidFill>
                      <a:srgbClr val="0B1220"/>
                    </a:solidFill>
                  </a:tcPr>
                </a:tc>
                <a:tc>
                  <a:txBody>
                    <a:bodyPr wrap="square"/>
                    <a:lstStyle/>
                    <a:p>
                      <a:r>
                        <a:rPr sz="1350" b="0" i="0">
                          <a:solidFill>
                            <a:srgbClr val="ECF0F7"/>
                          </a:solidFill>
                          <a:latin typeface="Segoe UI"/>
                        </a:rPr>
                        <a:t>Modifie des lignes existantes</a:t>
                      </a:r>
                    </a:p>
                  </a:txBody>
                  <a:tcPr marT="50800" marB="50800" marL="127000" marR="127000">
                    <a:solidFill>
                      <a:srgbClr val="0B1220"/>
                    </a:solidFill>
                  </a:tcPr>
                </a:tc>
              </a:tr>
              <a:tr h="566928">
                <a:tc>
                  <a:txBody>
                    <a:bodyPr wrap="square"/>
                    <a:lstStyle/>
                    <a:p>
                      <a:r>
                        <a:rPr sz="1350" b="1" i="0">
                          <a:solidFill>
                            <a:srgbClr val="ECF0F7"/>
                          </a:solidFill>
                          <a:latin typeface="Segoe UI"/>
                        </a:rPr>
                        <a:t>DELETE FROM ... WHERE</a:t>
                      </a:r>
                    </a:p>
                  </a:txBody>
                  <a:tcPr marT="50800" marB="50800" marL="127000" marR="127000">
                    <a:solidFill>
                      <a:srgbClr val="121C32"/>
                    </a:solidFill>
                  </a:tcPr>
                </a:tc>
                <a:tc>
                  <a:txBody>
                    <a:bodyPr wrap="square"/>
                    <a:lstStyle/>
                    <a:p>
                      <a:r>
                        <a:rPr sz="1350" b="0" i="0">
                          <a:solidFill>
                            <a:srgbClr val="ECF0F7"/>
                          </a:solidFill>
                          <a:latin typeface="Segoe UI"/>
                        </a:rPr>
                        <a:t>Supprime des lignes</a:t>
                      </a:r>
                    </a:p>
                  </a:txBody>
                  <a:tcPr marT="50800" marB="50800" marL="127000" marR="127000">
                    <a:solidFill>
                      <a:srgbClr val="121C32"/>
                    </a:solidFill>
                  </a:tcPr>
                </a:tc>
              </a:tr>
              <a:tr h="566928">
                <a:tc>
                  <a:txBody>
                    <a:bodyPr wrap="square"/>
                    <a:lstStyle/>
                    <a:p>
                      <a:r>
                        <a:rPr sz="1350" b="1" i="0">
                          <a:solidFill>
                            <a:srgbClr val="ECF0F7"/>
                          </a:solidFill>
                          <a:latin typeface="Segoe UI"/>
                        </a:rPr>
                        <a:t>JOIN ... ON</a:t>
                      </a:r>
                    </a:p>
                  </a:txBody>
                  <a:tcPr marT="50800" marB="50800" marL="127000" marR="127000">
                    <a:solidFill>
                      <a:srgbClr val="0B1220"/>
                    </a:solidFill>
                  </a:tcPr>
                </a:tc>
                <a:tc>
                  <a:txBody>
                    <a:bodyPr wrap="square"/>
                    <a:lstStyle/>
                    <a:p>
                      <a:r>
                        <a:rPr sz="1350" b="0" i="0">
                          <a:solidFill>
                            <a:srgbClr val="ECF0F7"/>
                          </a:solidFill>
                          <a:latin typeface="Segoe UI"/>
                        </a:rPr>
                        <a:t>Relie deux tables via clé primaire/étrangère</a:t>
                      </a:r>
                    </a:p>
                  </a:txBody>
                  <a:tcPr marT="50800" marB="50800" marL="127000" marR="127000">
                    <a:solidFill>
                      <a:srgbClr val="0B1220"/>
                    </a:solidFill>
                  </a:tcPr>
                </a:tc>
              </a:tr>
            </a:tbl>
          </a:graphicData>
        </a:graphic>
      </p:graphicFrame>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27 — Java et base de données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SQL : exemple complet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E3E9F4"/>
                </a:solidFill>
                <a:latin typeface="Consolas"/>
              </a:rPr>
              <a:t>CREATE</a:t>
            </a:r>
            <a:r>
              <a:rPr sz="1700" b="0" i="0">
                <a:solidFill>
                  <a:srgbClr val="E3E9F4"/>
                </a:solidFill>
                <a:latin typeface="Consolas"/>
              </a:rPr>
              <a:t> </a:t>
            </a:r>
            <a:r>
              <a:rPr sz="1700" b="0" i="0">
                <a:solidFill>
                  <a:srgbClr val="E3E9F4"/>
                </a:solidFill>
                <a:latin typeface="Consolas"/>
              </a:rPr>
              <a:t>TABLE</a:t>
            </a:r>
            <a:r>
              <a:rPr sz="1700" b="0" i="0">
                <a:solidFill>
                  <a:srgbClr val="E3E9F4"/>
                </a:solidFill>
                <a:latin typeface="Consolas"/>
              </a:rPr>
              <a:t> </a:t>
            </a:r>
            <a:r>
              <a:rPr sz="1700" b="0" i="0">
                <a:solidFill>
                  <a:srgbClr val="E3E9F4"/>
                </a:solidFill>
                <a:latin typeface="Consolas"/>
              </a:rPr>
              <a:t>etudiants</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id</a:t>
            </a:r>
            <a:r>
              <a:rPr sz="1700" b="0" i="0">
                <a:solidFill>
                  <a:srgbClr val="E3E9F4"/>
                </a:solidFill>
                <a:latin typeface="Consolas"/>
              </a:rPr>
              <a:t> </a:t>
            </a:r>
            <a:r>
              <a:rPr sz="1700" b="0" i="0">
                <a:solidFill>
                  <a:srgbClr val="E3E9F4"/>
                </a:solidFill>
                <a:latin typeface="Consolas"/>
              </a:rPr>
              <a:t>INT</a:t>
            </a:r>
            <a:r>
              <a:rPr sz="1700" b="0" i="0">
                <a:solidFill>
                  <a:srgbClr val="E3E9F4"/>
                </a:solidFill>
                <a:latin typeface="Consolas"/>
              </a:rPr>
              <a:t> </a:t>
            </a:r>
            <a:r>
              <a:rPr sz="1700" b="0" i="0">
                <a:solidFill>
                  <a:srgbClr val="E3E9F4"/>
                </a:solidFill>
                <a:latin typeface="Consolas"/>
              </a:rPr>
              <a:t>PRIMARY</a:t>
            </a:r>
            <a:r>
              <a:rPr sz="1700" b="0" i="0">
                <a:solidFill>
                  <a:srgbClr val="E3E9F4"/>
                </a:solidFill>
                <a:latin typeface="Consolas"/>
              </a:rPr>
              <a:t> </a:t>
            </a:r>
            <a:r>
              <a:rPr sz="1700" b="0" i="0">
                <a:solidFill>
                  <a:srgbClr val="E3E9F4"/>
                </a:solidFill>
                <a:latin typeface="Consolas"/>
              </a:rPr>
              <a:t>KEY</a:t>
            </a:r>
            <a:r>
              <a:rPr sz="1700" b="0" i="0">
                <a:solidFill>
                  <a:srgbClr val="E3E9F4"/>
                </a:solidFill>
                <a:latin typeface="Consolas"/>
              </a:rPr>
              <a:t> </a:t>
            </a:r>
            <a:r>
              <a:rPr sz="1700" b="0" i="0">
                <a:solidFill>
                  <a:srgbClr val="E3E9F4"/>
                </a:solidFill>
                <a:latin typeface="Consolas"/>
              </a:rPr>
              <a:t>AUTO_INCREMENT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 </a:t>
            </a:r>
            <a:r>
              <a:rPr sz="1700" b="0" i="0">
                <a:solidFill>
                  <a:srgbClr val="E3E9F4"/>
                </a:solidFill>
                <a:latin typeface="Consolas"/>
              </a:rPr>
              <a:t>VARCHAR</a:t>
            </a:r>
            <a:r>
              <a:rPr sz="1700" b="0" i="0">
                <a:solidFill>
                  <a:srgbClr val="E3E9F4"/>
                </a:solidFill>
                <a:latin typeface="Consolas"/>
              </a:rPr>
              <a:t>(</a:t>
            </a:r>
            <a:r>
              <a:rPr sz="1700" b="0" i="0">
                <a:solidFill>
                  <a:srgbClr val="E8C54A"/>
                </a:solidFill>
                <a:latin typeface="Consolas"/>
              </a:rPr>
              <a:t>100</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moyenne</a:t>
            </a:r>
            <a:r>
              <a:rPr sz="1700" b="0" i="0">
                <a:solidFill>
                  <a:srgbClr val="E3E9F4"/>
                </a:solidFill>
                <a:latin typeface="Consolas"/>
              </a:rPr>
              <a:t> </a:t>
            </a:r>
            <a:r>
              <a:rPr sz="1700" b="0" i="0">
                <a:solidFill>
                  <a:srgbClr val="E3E9F4"/>
                </a:solidFill>
                <a:latin typeface="Consolas"/>
              </a:rPr>
              <a:t>DOUBLE</a:t>
            </a:r>
          </a:p>
          <a:p>
            <a:pPr algn="l">
              <a:lnSpc>
                <a:spcPct val="115000"/>
              </a:lnSpc>
              <a:spcAft>
                <a:spcPts val="200"/>
              </a:spcAft>
              <a:buNone/>
            </a:pP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SELECT</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moyenne</a:t>
            </a:r>
            <a:r>
              <a:rPr sz="1700" b="0" i="0">
                <a:solidFill>
                  <a:srgbClr val="E3E9F4"/>
                </a:solidFill>
                <a:latin typeface="Consolas"/>
              </a:rPr>
              <a:t> </a:t>
            </a:r>
            <a:r>
              <a:rPr sz="1700" b="0" i="0">
                <a:solidFill>
                  <a:srgbClr val="E3E9F4"/>
                </a:solidFill>
                <a:latin typeface="Consolas"/>
              </a:rPr>
              <a:t>FROM</a:t>
            </a:r>
            <a:r>
              <a:rPr sz="1700" b="0" i="0">
                <a:solidFill>
                  <a:srgbClr val="E3E9F4"/>
                </a:solidFill>
                <a:latin typeface="Consolas"/>
              </a:rPr>
              <a:t> </a:t>
            </a:r>
            <a:r>
              <a:rPr sz="1700" b="0" i="0">
                <a:solidFill>
                  <a:srgbClr val="E3E9F4"/>
                </a:solidFill>
                <a:latin typeface="Consolas"/>
              </a:rPr>
              <a:t>etudiants</a:t>
            </a:r>
          </a:p>
          <a:p>
            <a:pPr algn="l">
              <a:lnSpc>
                <a:spcPct val="115000"/>
              </a:lnSpc>
              <a:spcAft>
                <a:spcPts val="200"/>
              </a:spcAft>
              <a:buNone/>
            </a:pPr>
            <a:r>
              <a:rPr sz="1700" b="0" i="0">
                <a:solidFill>
                  <a:srgbClr val="E3E9F4"/>
                </a:solidFill>
                <a:latin typeface="Consolas"/>
              </a:rPr>
              <a:t>WHERE</a:t>
            </a:r>
            <a:r>
              <a:rPr sz="1700" b="0" i="0">
                <a:solidFill>
                  <a:srgbClr val="E3E9F4"/>
                </a:solidFill>
                <a:latin typeface="Consolas"/>
              </a:rPr>
              <a:t> </a:t>
            </a:r>
            <a:r>
              <a:rPr sz="1700" b="0" i="0">
                <a:solidFill>
                  <a:srgbClr val="E3E9F4"/>
                </a:solidFill>
                <a:latin typeface="Consolas"/>
              </a:rPr>
              <a:t>moyenne</a:t>
            </a:r>
            <a:r>
              <a:rPr sz="1700" b="0" i="0">
                <a:solidFill>
                  <a:srgbClr val="E3E9F4"/>
                </a:solidFill>
                <a:latin typeface="Consolas"/>
              </a:rPr>
              <a:t> </a:t>
            </a:r>
            <a:r>
              <a:rPr sz="1700" b="0" i="0">
                <a:solidFill>
                  <a:srgbClr val="E3E9F4"/>
                </a:solidFill>
                <a:latin typeface="Consolas"/>
              </a:rPr>
              <a:t>&gt;</a:t>
            </a:r>
            <a:r>
              <a:rPr sz="1700" b="0" i="0">
                <a:solidFill>
                  <a:srgbClr val="E3E9F4"/>
                </a:solidFill>
                <a:latin typeface="Consolas"/>
              </a:rPr>
              <a:t>=</a:t>
            </a:r>
            <a:r>
              <a:rPr sz="1700" b="0" i="0">
                <a:solidFill>
                  <a:srgbClr val="E3E9F4"/>
                </a:solidFill>
                <a:latin typeface="Consolas"/>
              </a:rPr>
              <a:t> </a:t>
            </a:r>
            <a:r>
              <a:rPr sz="1700" b="0" i="0">
                <a:solidFill>
                  <a:srgbClr val="E8C54A"/>
                </a:solidFill>
                <a:latin typeface="Consolas"/>
              </a:rPr>
              <a:t>14</a:t>
            </a:r>
            <a:r>
              <a:rPr sz="1700" b="0" i="0">
                <a:solidFill>
                  <a:srgbClr val="E3E9F4"/>
                </a:solidFill>
                <a:latin typeface="Consolas"/>
              </a:rPr>
              <a:t> </a:t>
            </a:r>
            <a:r>
              <a:rPr sz="1700" b="0" i="0">
                <a:solidFill>
                  <a:srgbClr val="E3E9F4"/>
                </a:solidFill>
                <a:latin typeface="Consolas"/>
              </a:rPr>
              <a:t>ORDER</a:t>
            </a:r>
            <a:r>
              <a:rPr sz="1700" b="0" i="0">
                <a:solidFill>
                  <a:srgbClr val="E3E9F4"/>
                </a:solidFill>
                <a:latin typeface="Consolas"/>
              </a:rPr>
              <a:t> </a:t>
            </a:r>
            <a:r>
              <a:rPr sz="1700" b="0" i="0">
                <a:solidFill>
                  <a:srgbClr val="E3E9F4"/>
                </a:solidFill>
                <a:latin typeface="Consolas"/>
              </a:rPr>
              <a:t>BY</a:t>
            </a:r>
            <a:r>
              <a:rPr sz="1700" b="0" i="0">
                <a:solidFill>
                  <a:srgbClr val="E3E9F4"/>
                </a:solidFill>
                <a:latin typeface="Consolas"/>
              </a:rPr>
              <a:t> </a:t>
            </a:r>
            <a:r>
              <a:rPr sz="1700" b="0" i="0">
                <a:solidFill>
                  <a:srgbClr val="E3E9F4"/>
                </a:solidFill>
                <a:latin typeface="Consolas"/>
              </a:rPr>
              <a:t>moyenne</a:t>
            </a:r>
            <a:r>
              <a:rPr sz="1700" b="0" i="0">
                <a:solidFill>
                  <a:srgbClr val="E3E9F4"/>
                </a:solidFill>
                <a:latin typeface="Consolas"/>
              </a:rPr>
              <a:t> </a:t>
            </a:r>
            <a:r>
              <a:rPr sz="1700" b="0" i="0">
                <a:solidFill>
                  <a:srgbClr val="E3E9F4"/>
                </a:solidFill>
                <a:latin typeface="Consolas"/>
              </a:rPr>
              <a:t>DESC</a:t>
            </a: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27 — Java et base de données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181</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27 — SCHÉMA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L'architecture Java → JDBC → MySQL</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Java</a:t>
            </a:r>
          </a:p>
        </p:txBody>
      </p:sp>
      <p:sp>
        <p:nvSpPr>
          <p:cNvPr id="9" name="Down Arrow 8"/>
          <p:cNvSpPr/>
          <p:nvPr/>
        </p:nvSpPr>
        <p:spPr>
          <a:xfrm>
            <a:off x="5967832" y="236829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60604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60604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60604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JDBC</a:t>
            </a:r>
          </a:p>
        </p:txBody>
      </p:sp>
      <p:sp>
        <p:nvSpPr>
          <p:cNvPr id="13" name="Down Arrow 12"/>
          <p:cNvSpPr/>
          <p:nvPr/>
        </p:nvSpPr>
        <p:spPr>
          <a:xfrm>
            <a:off x="5967832" y="341985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3928" y="365760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3928" y="365760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8248" y="365760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MySQL</a:t>
            </a:r>
          </a:p>
        </p:txBody>
      </p:sp>
      <p:sp>
        <p:nvSpPr>
          <p:cNvPr id="17" name="TextBox 1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8" name="TextBox 1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27 — Java et base de données</a:t>
            </a:r>
          </a:p>
        </p:txBody>
      </p:sp>
      <p:sp>
        <p:nvSpPr>
          <p:cNvPr id="19" name="TextBox 1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182</a:t>
            </a:r>
          </a:p>
        </p:txBody>
      </p:sp>
      <p:sp>
        <p:nvSpPr>
          <p:cNvPr id="20" name="Rectangle 1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Vocabulaire JDBC essentiel</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911534" cy="3968496"/>
        </p:xfrm>
        <a:graphic>
          <a:graphicData uri="http://schemas.openxmlformats.org/drawingml/2006/table">
            <a:tbl>
              <a:tblPr firstRow="1" bandRow="1">
                <a:tableStyleId>{5C22544A-7EE6-4342-B048-85BDC9FD1C3A}</a:tableStyleId>
              </a:tblPr>
              <a:tblGrid>
                <a:gridCol w="5455767"/>
                <a:gridCol w="5455767"/>
              </a:tblGrid>
              <a:tr h="566928">
                <a:tc>
                  <a:txBody>
                    <a:bodyPr wrap="square"/>
                    <a:lstStyle/>
                    <a:p>
                      <a:pPr algn="l"/>
                      <a:r>
                        <a:rPr sz="1400" b="1" i="0">
                          <a:solidFill>
                            <a:srgbClr val="0B1220"/>
                          </a:solidFill>
                          <a:latin typeface="Segoe UI"/>
                        </a:rPr>
                        <a:t>Terme</a:t>
                      </a:r>
                    </a:p>
                  </a:txBody>
                  <a:tcPr marT="50800" marB="50800" marL="127000" marR="127000">
                    <a:solidFill>
                      <a:srgbClr val="F28C28"/>
                    </a:solidFill>
                  </a:tcPr>
                </a:tc>
                <a:tc>
                  <a:txBody>
                    <a:bodyPr wrap="square"/>
                    <a:lstStyle/>
                    <a:p>
                      <a:pPr algn="l"/>
                      <a:r>
                        <a:rPr sz="1400" b="1" i="0">
                          <a:solidFill>
                            <a:srgbClr val="0B1220"/>
                          </a:solidFill>
                          <a:latin typeface="Segoe UI"/>
                        </a:rPr>
                        <a:t>Rôle</a:t>
                      </a:r>
                    </a:p>
                  </a:txBody>
                  <a:tcPr marT="50800" marB="50800" marL="127000" marR="127000">
                    <a:solidFill>
                      <a:srgbClr val="F28C28"/>
                    </a:solidFill>
                  </a:tcPr>
                </a:tc>
              </a:tr>
              <a:tr h="566928">
                <a:tc>
                  <a:txBody>
                    <a:bodyPr wrap="square"/>
                    <a:lstStyle/>
                    <a:p>
                      <a:r>
                        <a:rPr sz="1350" b="1" i="0">
                          <a:solidFill>
                            <a:srgbClr val="ECF0F7"/>
                          </a:solidFill>
                          <a:latin typeface="Segoe UI"/>
                        </a:rPr>
                        <a:t>Connection</a:t>
                      </a:r>
                    </a:p>
                  </a:txBody>
                  <a:tcPr marT="50800" marB="50800" marL="127000" marR="127000">
                    <a:solidFill>
                      <a:srgbClr val="121C32"/>
                    </a:solidFill>
                  </a:tcPr>
                </a:tc>
                <a:tc>
                  <a:txBody>
                    <a:bodyPr wrap="square"/>
                    <a:lstStyle/>
                    <a:p>
                      <a:r>
                        <a:rPr sz="1350" b="0" i="0">
                          <a:solidFill>
                            <a:srgbClr val="ECF0F7"/>
                          </a:solidFill>
                          <a:latin typeface="Segoe UI"/>
                        </a:rPr>
                        <a:t>Une connexion active vers la base de données</a:t>
                      </a:r>
                    </a:p>
                  </a:txBody>
                  <a:tcPr marT="50800" marB="50800" marL="127000" marR="127000">
                    <a:solidFill>
                      <a:srgbClr val="121C32"/>
                    </a:solidFill>
                  </a:tcPr>
                </a:tc>
              </a:tr>
              <a:tr h="566928">
                <a:tc>
                  <a:txBody>
                    <a:bodyPr wrap="square"/>
                    <a:lstStyle/>
                    <a:p>
                      <a:r>
                        <a:rPr sz="1350" b="1" i="0">
                          <a:solidFill>
                            <a:srgbClr val="ECF0F7"/>
                          </a:solidFill>
                          <a:latin typeface="Segoe UI"/>
                        </a:rPr>
                        <a:t>Driver (pilote)</a:t>
                      </a:r>
                    </a:p>
                  </a:txBody>
                  <a:tcPr marT="50800" marB="50800" marL="127000" marR="127000">
                    <a:solidFill>
                      <a:srgbClr val="0B1220"/>
                    </a:solidFill>
                  </a:tcPr>
                </a:tc>
                <a:tc>
                  <a:txBody>
                    <a:bodyPr wrap="square"/>
                    <a:lstStyle/>
                    <a:p>
                      <a:r>
                        <a:rPr sz="1350" b="0" i="0">
                          <a:solidFill>
                            <a:srgbClr val="ECF0F7"/>
                          </a:solidFill>
                          <a:latin typeface="Segoe UI"/>
                        </a:rPr>
                        <a:t>Le composant technique propre à MySQL, adaptateur entre JDBC et la base</a:t>
                      </a:r>
                    </a:p>
                  </a:txBody>
                  <a:tcPr marT="50800" marB="50800" marL="127000" marR="127000">
                    <a:solidFill>
                      <a:srgbClr val="0B1220"/>
                    </a:solidFill>
                  </a:tcPr>
                </a:tc>
              </a:tr>
              <a:tr h="566928">
                <a:tc>
                  <a:txBody>
                    <a:bodyPr wrap="square"/>
                    <a:lstStyle/>
                    <a:p>
                      <a:r>
                        <a:rPr sz="1350" b="1" i="0">
                          <a:solidFill>
                            <a:srgbClr val="ECF0F7"/>
                          </a:solidFill>
                          <a:latin typeface="Segoe UI"/>
                        </a:rPr>
                        <a:t>URL JDBC</a:t>
                      </a:r>
                    </a:p>
                  </a:txBody>
                  <a:tcPr marT="50800" marB="50800" marL="127000" marR="127000">
                    <a:solidFill>
                      <a:srgbClr val="121C32"/>
                    </a:solidFill>
                  </a:tcPr>
                </a:tc>
                <a:tc>
                  <a:txBody>
                    <a:bodyPr wrap="square"/>
                    <a:lstStyle/>
                    <a:p>
                      <a:r>
                        <a:rPr sz="1350" b="0" i="0">
                          <a:solidFill>
                            <a:srgbClr val="ECF0F7"/>
                          </a:solidFill>
                          <a:latin typeface="Segoe UI"/>
                        </a:rPr>
                        <a:t>jdbc:mysql://hôte:port/base — l'adresse de la base ciblée</a:t>
                      </a:r>
                    </a:p>
                  </a:txBody>
                  <a:tcPr marT="50800" marB="50800" marL="127000" marR="127000">
                    <a:solidFill>
                      <a:srgbClr val="121C32"/>
                    </a:solidFill>
                  </a:tcPr>
                </a:tc>
              </a:tr>
              <a:tr h="566928">
                <a:tc>
                  <a:txBody>
                    <a:bodyPr wrap="square"/>
                    <a:lstStyle/>
                    <a:p>
                      <a:r>
                        <a:rPr sz="1350" b="1" i="0">
                          <a:solidFill>
                            <a:srgbClr val="ECF0F7"/>
                          </a:solidFill>
                          <a:latin typeface="Segoe UI"/>
                        </a:rPr>
                        <a:t>PreparedStatement</a:t>
                      </a:r>
                    </a:p>
                  </a:txBody>
                  <a:tcPr marT="50800" marB="50800" marL="127000" marR="127000">
                    <a:solidFill>
                      <a:srgbClr val="0B1220"/>
                    </a:solidFill>
                  </a:tcPr>
                </a:tc>
                <a:tc>
                  <a:txBody>
                    <a:bodyPr wrap="square"/>
                    <a:lstStyle/>
                    <a:p>
                      <a:r>
                        <a:rPr sz="1350" b="0" i="0">
                          <a:solidFill>
                            <a:srgbClr val="ECF0F7"/>
                          </a:solidFill>
                          <a:latin typeface="Segoe UI"/>
                        </a:rPr>
                        <a:t>Une requête SQL préparée avec des ?, protégée contre l'injection SQL</a:t>
                      </a:r>
                    </a:p>
                  </a:txBody>
                  <a:tcPr marT="50800" marB="50800" marL="127000" marR="127000">
                    <a:solidFill>
                      <a:srgbClr val="0B1220"/>
                    </a:solidFill>
                  </a:tcPr>
                </a:tc>
              </a:tr>
              <a:tr h="566928">
                <a:tc>
                  <a:txBody>
                    <a:bodyPr wrap="square"/>
                    <a:lstStyle/>
                    <a:p>
                      <a:r>
                        <a:rPr sz="1350" b="1" i="0">
                          <a:solidFill>
                            <a:srgbClr val="ECF0F7"/>
                          </a:solidFill>
                          <a:latin typeface="Segoe UI"/>
                        </a:rPr>
                        <a:t>ResultSet</a:t>
                      </a:r>
                    </a:p>
                  </a:txBody>
                  <a:tcPr marT="50800" marB="50800" marL="127000" marR="127000">
                    <a:solidFill>
                      <a:srgbClr val="121C32"/>
                    </a:solidFill>
                  </a:tcPr>
                </a:tc>
                <a:tc>
                  <a:txBody>
                    <a:bodyPr wrap="square"/>
                    <a:lstStyle/>
                    <a:p>
                      <a:r>
                        <a:rPr sz="1350" b="0" i="0">
                          <a:solidFill>
                            <a:srgbClr val="ECF0F7"/>
                          </a:solidFill>
                          <a:latin typeface="Segoe UI"/>
                        </a:rPr>
                        <a:t>Le curseur qui parcourt les lignes renvoyées par un SELECT</a:t>
                      </a:r>
                    </a:p>
                  </a:txBody>
                  <a:tcPr marT="50800" marB="50800" marL="127000" marR="127000">
                    <a:solidFill>
                      <a:srgbClr val="121C32"/>
                    </a:solidFill>
                  </a:tcPr>
                </a:tc>
              </a:tr>
              <a:tr h="566928">
                <a:tc>
                  <a:txBody>
                    <a:bodyPr wrap="square"/>
                    <a:lstStyle/>
                    <a:p>
                      <a:r>
                        <a:rPr sz="1350" b="1" i="0">
                          <a:solidFill>
                            <a:srgbClr val="ECF0F7"/>
                          </a:solidFill>
                          <a:latin typeface="Segoe UI"/>
                        </a:rPr>
                        <a:t>Transaction</a:t>
                      </a:r>
                    </a:p>
                  </a:txBody>
                  <a:tcPr marT="50800" marB="50800" marL="127000" marR="127000">
                    <a:solidFill>
                      <a:srgbClr val="0B1220"/>
                    </a:solidFill>
                  </a:tcPr>
                </a:tc>
                <a:tc>
                  <a:txBody>
                    <a:bodyPr wrap="square"/>
                    <a:lstStyle/>
                    <a:p>
                      <a:r>
                        <a:rPr sz="1350" b="0" i="0">
                          <a:solidFill>
                            <a:srgbClr val="ECF0F7"/>
                          </a:solidFill>
                          <a:latin typeface="Segoe UI"/>
                        </a:rPr>
                        <a:t>Un groupe d'opérations qui réussissent ou échouent TOUTES ensemble</a:t>
                      </a:r>
                    </a:p>
                  </a:txBody>
                  <a:tcPr marT="50800" marB="50800" marL="127000" marR="127000">
                    <a:solidFill>
                      <a:srgbClr val="0B1220"/>
                    </a:solidFill>
                  </a:tcPr>
                </a:tc>
              </a:tr>
            </a:tbl>
          </a:graphicData>
        </a:graphic>
      </p:graphicFrame>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27 — Java et base de données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MODULES 25-27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Quiz — UML, architecture, bases de données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20000"/>
              </a:lnSpc>
              <a:spcAft>
                <a:spcPts val="1200"/>
              </a:spcAft>
              <a:buNone/>
            </a:pPr>
            <a:r>
              <a:rPr sz="1650" b="1" i="0">
                <a:solidFill>
                  <a:srgbClr val="E8C54A"/>
                </a:solidFill>
                <a:latin typeface="Segoe UI"/>
              </a:rPr>
              <a:t>1.  </a:t>
            </a:r>
            <a:r>
              <a:rPr sz="1650" b="0" i="0">
                <a:solidFill>
                  <a:srgbClr val="ECF0F7"/>
                </a:solidFill>
                <a:latin typeface="Segoe UI"/>
              </a:rPr>
              <a:t>Quel diagramme UML identifie qui utilise le système et pourquoi ?</a:t>
            </a:r>
          </a:p>
          <a:p>
            <a:pPr>
              <a:lnSpc>
                <a:spcPct val="120000"/>
              </a:lnSpc>
              <a:spcAft>
                <a:spcPts val="1200"/>
              </a:spcAft>
              <a:buNone/>
            </a:pPr>
            <a:r>
              <a:rPr sz="1650" b="1" i="0">
                <a:solidFill>
                  <a:srgbClr val="E8C54A"/>
                </a:solidFill>
                <a:latin typeface="Segoe UI"/>
              </a:rPr>
              <a:t>2.  </a:t>
            </a:r>
            <a:r>
              <a:rPr sz="1650" b="0" i="0">
                <a:solidFill>
                  <a:srgbClr val="ECF0F7"/>
                </a:solidFill>
                <a:latin typeface="Segoe UI"/>
              </a:rPr>
              <a:t>Pourquoi un DELETE sans WHERE est-il extrêmement dangereux ?</a:t>
            </a:r>
          </a:p>
          <a:p>
            <a:pPr>
              <a:lnSpc>
                <a:spcPct val="120000"/>
              </a:lnSpc>
              <a:spcAft>
                <a:spcPts val="1200"/>
              </a:spcAft>
              <a:buNone/>
            </a:pPr>
            <a:r>
              <a:rPr sz="1650" b="1" i="0">
                <a:solidFill>
                  <a:srgbClr val="E8C54A"/>
                </a:solidFill>
                <a:latin typeface="Segoe UI"/>
              </a:rPr>
              <a:t>3.  </a:t>
            </a:r>
            <a:r>
              <a:rPr sz="1650" b="0" i="0">
                <a:solidFill>
                  <a:srgbClr val="ECF0F7"/>
                </a:solidFill>
                <a:latin typeface="Segoe UI"/>
              </a:rPr>
              <a:t>Quelle commande SQL relie deux tables entre elles ?</a:t>
            </a:r>
          </a:p>
          <a:p>
            <a:pPr>
              <a:lnSpc>
                <a:spcPct val="120000"/>
              </a:lnSpc>
              <a:spcAft>
                <a:spcPts val="1200"/>
              </a:spcAft>
              <a:buNone/>
            </a:pPr>
            <a:r>
              <a:rPr sz="1650" b="1" i="0">
                <a:solidFill>
                  <a:srgbClr val="E8C54A"/>
                </a:solidFill>
                <a:latin typeface="Segoe UI"/>
              </a:rPr>
              <a:t>4.  </a:t>
            </a:r>
            <a:r>
              <a:rPr sz="1650" b="0" i="0">
                <a:solidFill>
                  <a:srgbClr val="ECF0F7"/>
                </a:solidFill>
                <a:latin typeface="Segoe UI"/>
              </a:rPr>
              <a:t>Pourquoi le Repository/DAO ne doit-il jamais contenir de règle métier ?</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27 — Java et base de données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184</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28</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Connexion MySQL avec Java</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Démonstration complète, étape par étape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28 — Connexion MySQL avec Java</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185</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28 — ÉTAPES 1 À 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Créer la base et les tables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Étape 1 — Créer la base de données : CREATE DATABASE ecole;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Étape 2 — Créer les tables : CREATE TABLE etudiants (id INT PRIMARY KEY AUTO_INCREMENT, nom VARCHAR(100), age INT, moyenne DOUBLE);</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Étape 3 — Créer le projet Java (dossiers model/dao/service, Module 18 et 26)</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28 — Connexion MySQL avec Java</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186</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28 — ÉTAPES 4 À 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Driver, connexion, test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url</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33C984"/>
                </a:solidFill>
                <a:latin typeface="Consolas"/>
              </a:rPr>
              <a:t>"jdbc:mysql://localhost:3306/ecole"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F28C28"/>
                </a:solidFill>
                <a:latin typeface="Consolas"/>
              </a:rPr>
              <a:t>try</a:t>
            </a:r>
            <a:r>
              <a:rPr sz="1700" b="0" i="0">
                <a:solidFill>
                  <a:srgbClr val="E3E9F4"/>
                </a:solidFill>
                <a:latin typeface="Consolas"/>
              </a:rPr>
              <a:t> </a:t>
            </a:r>
            <a:r>
              <a:rPr sz="1700" b="0" i="0">
                <a:solidFill>
                  <a:srgbClr val="E3E9F4"/>
                </a:solidFill>
                <a:latin typeface="Consolas"/>
              </a:rPr>
              <a:t>(</a:t>
            </a:r>
            <a:r>
              <a:rPr sz="1700" b="0" i="0">
                <a:solidFill>
                  <a:srgbClr val="35C7E0"/>
                </a:solidFill>
                <a:latin typeface="Consolas"/>
              </a:rPr>
              <a:t>Connection</a:t>
            </a:r>
            <a:r>
              <a:rPr sz="1700" b="0" i="0">
                <a:solidFill>
                  <a:srgbClr val="E3E9F4"/>
                </a:solidFill>
                <a:latin typeface="Consolas"/>
              </a:rPr>
              <a:t> </a:t>
            </a:r>
            <a:r>
              <a:rPr sz="1700" b="0" i="0">
                <a:solidFill>
                  <a:srgbClr val="E3E9F4"/>
                </a:solidFill>
                <a:latin typeface="Consolas"/>
              </a:rPr>
              <a:t>connexion</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DriverManager</a:t>
            </a:r>
            <a:r>
              <a:rPr sz="1700" b="0" i="0">
                <a:solidFill>
                  <a:srgbClr val="E3E9F4"/>
                </a:solidFill>
                <a:latin typeface="Consolas"/>
              </a:rPr>
              <a:t>.</a:t>
            </a:r>
            <a:r>
              <a:rPr sz="1700" b="0" i="0">
                <a:solidFill>
                  <a:srgbClr val="E3E9F4"/>
                </a:solidFill>
                <a:latin typeface="Consolas"/>
              </a:rPr>
              <a:t>getConnection</a:t>
            </a:r>
            <a:r>
              <a:rPr sz="1700" b="0" i="0">
                <a:solidFill>
                  <a:srgbClr val="E3E9F4"/>
                </a:solidFill>
                <a:latin typeface="Consolas"/>
              </a:rPr>
              <a:t>(</a:t>
            </a:r>
            <a:r>
              <a:rPr sz="1700" b="0" i="0">
                <a:solidFill>
                  <a:srgbClr val="E3E9F4"/>
                </a:solidFill>
                <a:latin typeface="Consolas"/>
              </a:rPr>
              <a:t>url</a:t>
            </a:r>
            <a:r>
              <a:rPr sz="1700" b="0" i="0">
                <a:solidFill>
                  <a:srgbClr val="E3E9F4"/>
                </a:solidFill>
                <a:latin typeface="Consolas"/>
              </a:rPr>
              <a:t>,</a:t>
            </a:r>
            <a:r>
              <a:rPr sz="1700" b="0" i="0">
                <a:solidFill>
                  <a:srgbClr val="E3E9F4"/>
                </a:solidFill>
                <a:latin typeface="Consolas"/>
              </a:rPr>
              <a:t> </a:t>
            </a:r>
            <a:r>
              <a:rPr sz="1700" b="0" i="0">
                <a:solidFill>
                  <a:srgbClr val="33C984"/>
                </a:solidFill>
                <a:latin typeface="Consolas"/>
              </a:rPr>
              <a:t>"root"</a:t>
            </a:r>
            <a:r>
              <a:rPr sz="1700" b="0" i="0">
                <a:solidFill>
                  <a:srgbClr val="E3E9F4"/>
                </a:solidFill>
                <a:latin typeface="Consolas"/>
              </a:rPr>
              <a:t>,</a:t>
            </a:r>
            <a:r>
              <a:rPr sz="1700" b="0" i="0">
                <a:solidFill>
                  <a:srgbClr val="E3E9F4"/>
                </a:solidFill>
                <a:latin typeface="Consolas"/>
              </a:rPr>
              <a:t> </a:t>
            </a:r>
            <a:r>
              <a:rPr sz="1700" b="0" i="0">
                <a:solidFill>
                  <a:srgbClr val="33C984"/>
                </a:solidFill>
                <a:latin typeface="Consolas"/>
              </a:rPr>
              <a:t>"motdepasse"</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"Connexion réussie !"</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catch</a:t>
            </a:r>
            <a:r>
              <a:rPr sz="1700" b="0" i="0">
                <a:solidFill>
                  <a:srgbClr val="E3E9F4"/>
                </a:solidFill>
                <a:latin typeface="Consolas"/>
              </a:rPr>
              <a:t> </a:t>
            </a:r>
            <a:r>
              <a:rPr sz="1700" b="0" i="0">
                <a:solidFill>
                  <a:srgbClr val="E3E9F4"/>
                </a:solidFill>
                <a:latin typeface="Consolas"/>
              </a:rPr>
              <a:t>(</a:t>
            </a:r>
            <a:r>
              <a:rPr sz="1700" b="0" i="0">
                <a:solidFill>
                  <a:srgbClr val="35C7E0"/>
                </a:solidFill>
                <a:latin typeface="Consolas"/>
              </a:rPr>
              <a:t>SQLException</a:t>
            </a:r>
            <a:r>
              <a:rPr sz="1700" b="0" i="0">
                <a:solidFill>
                  <a:srgbClr val="E3E9F4"/>
                </a:solidFill>
                <a:latin typeface="Consolas"/>
              </a:rPr>
              <a:t> </a:t>
            </a:r>
            <a:r>
              <a:rPr sz="1700" b="0" i="0">
                <a:solidFill>
                  <a:srgbClr val="E3E9F4"/>
                </a:solidFill>
                <a:latin typeface="Consolas"/>
              </a:rPr>
              <a:t>e</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33C984"/>
                </a:solidFill>
                <a:latin typeface="Consolas"/>
              </a:rPr>
              <a:t>"Erreur : "</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e</a:t>
            </a:r>
            <a:r>
              <a:rPr sz="1700" b="0" i="0">
                <a:solidFill>
                  <a:srgbClr val="E3E9F4"/>
                </a:solidFill>
                <a:latin typeface="Consolas"/>
              </a:rPr>
              <a:t>.</a:t>
            </a:r>
            <a:r>
              <a:rPr sz="1700" b="0" i="0">
                <a:solidFill>
                  <a:srgbClr val="E3E9F4"/>
                </a:solidFill>
                <a:latin typeface="Consolas"/>
              </a:rPr>
              <a:t>getMessage</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Étape 4 : ajouter le driver JDBC MySQL au projet (via Maven, Module futur) — Étape 5-6 : connexion + test.</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28 — Connexion MySQL avec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187</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28 — ÉTAPE 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Créer le modèle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class</a:t>
            </a:r>
            <a:r>
              <a:rPr sz="1700" b="0" i="0">
                <a:solidFill>
                  <a:srgbClr val="E3E9F4"/>
                </a:solidFill>
                <a:latin typeface="Consolas"/>
              </a:rPr>
              <a:t> </a:t>
            </a:r>
            <a:r>
              <a:rPr sz="1700" b="0" i="0">
                <a:solidFill>
                  <a:srgbClr val="E3E9F4"/>
                </a:solidFill>
                <a:latin typeface="Consolas"/>
              </a:rPr>
              <a:t>Etudiant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private</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id</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private</a:t>
            </a:r>
            <a:r>
              <a:rPr sz="1700" b="0" i="0">
                <a:solidFill>
                  <a:srgbClr val="E3E9F4"/>
                </a:solidFill>
                <a:latin typeface="Consolas"/>
              </a:rPr>
              <a:t> </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private</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private</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moyenne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Etudiant</a:t>
            </a:r>
            <a:r>
              <a:rPr sz="1700" b="0" i="0">
                <a:solidFill>
                  <a:srgbClr val="E3E9F4"/>
                </a:solidFill>
                <a:latin typeface="Consolas"/>
              </a:rPr>
              <a:t>(</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double</a:t>
            </a:r>
            <a:r>
              <a:rPr sz="1700" b="0" i="0">
                <a:solidFill>
                  <a:srgbClr val="E3E9F4"/>
                </a:solidFill>
                <a:latin typeface="Consolas"/>
              </a:rPr>
              <a:t> </a:t>
            </a:r>
            <a:r>
              <a:rPr sz="1700" b="0" i="0">
                <a:solidFill>
                  <a:srgbClr val="E3E9F4"/>
                </a:solidFill>
                <a:latin typeface="Consolas"/>
              </a:rPr>
              <a:t>moyenne</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nom</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age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age</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this</a:t>
            </a:r>
            <a:r>
              <a:rPr sz="1700" b="0" i="0">
                <a:solidFill>
                  <a:srgbClr val="E3E9F4"/>
                </a:solidFill>
                <a:latin typeface="Consolas"/>
              </a:rPr>
              <a:t>.</a:t>
            </a:r>
            <a:r>
              <a:rPr sz="1700" b="0" i="0">
                <a:solidFill>
                  <a:srgbClr val="E3E9F4"/>
                </a:solidFill>
                <a:latin typeface="Consolas"/>
              </a:rPr>
              <a:t>moyenne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moyenne</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5C6A87"/>
                </a:solidFill>
                <a:latin typeface="Consolas"/>
              </a:rPr>
              <a:t>// getters, setters (Module 7)...</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28 — Connexion MySQL avec Java</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188</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28 — ÉTAPES 8 À 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Repository/DAO et CRUD</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sauvegarder</a:t>
            </a:r>
            <a:r>
              <a:rPr sz="1700" b="0" i="0">
                <a:solidFill>
                  <a:srgbClr val="E3E9F4"/>
                </a:solidFill>
                <a:latin typeface="Consolas"/>
              </a:rPr>
              <a:t>(</a:t>
            </a:r>
            <a:r>
              <a:rPr sz="1700" b="0" i="0">
                <a:solidFill>
                  <a:srgbClr val="E3E9F4"/>
                </a:solidFill>
                <a:latin typeface="Consolas"/>
              </a:rPr>
              <a:t>Etudiant</a:t>
            </a:r>
            <a:r>
              <a:rPr sz="1700" b="0" i="0">
                <a:solidFill>
                  <a:srgbClr val="E3E9F4"/>
                </a:solidFill>
                <a:latin typeface="Consolas"/>
              </a:rPr>
              <a:t> </a:t>
            </a:r>
            <a:r>
              <a:rPr sz="1700" b="0" i="0">
                <a:solidFill>
                  <a:srgbClr val="E3E9F4"/>
                </a:solidFill>
                <a:latin typeface="Consolas"/>
              </a:rPr>
              <a:t>e</a:t>
            </a:r>
            <a:r>
              <a:rPr sz="1700" b="0" i="0">
                <a:solidFill>
                  <a:srgbClr val="E3E9F4"/>
                </a:solidFill>
                <a:latin typeface="Consolas"/>
              </a:rPr>
              <a:t>)</a:t>
            </a:r>
            <a:r>
              <a:rPr sz="1700" b="0" i="0">
                <a:solidFill>
                  <a:srgbClr val="E3E9F4"/>
                </a:solidFill>
                <a:latin typeface="Consolas"/>
              </a:rPr>
              <a:t> </a:t>
            </a:r>
            <a:r>
              <a:rPr sz="1700" b="0" i="0">
                <a:solidFill>
                  <a:srgbClr val="F28C28"/>
                </a:solidFill>
                <a:latin typeface="Consolas"/>
              </a:rPr>
              <a:t>throws</a:t>
            </a:r>
            <a:r>
              <a:rPr sz="1700" b="0" i="0">
                <a:solidFill>
                  <a:srgbClr val="E3E9F4"/>
                </a:solidFill>
                <a:latin typeface="Consolas"/>
              </a:rPr>
              <a:t> </a:t>
            </a:r>
            <a:r>
              <a:rPr sz="1700" b="0" i="0">
                <a:solidFill>
                  <a:srgbClr val="35C7E0"/>
                </a:solidFill>
                <a:latin typeface="Consolas"/>
              </a:rPr>
              <a:t>SQLException</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sql</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33C984"/>
                </a:solidFill>
                <a:latin typeface="Consolas"/>
              </a:rPr>
              <a:t>"INSERT INTO etudiants (nom, age, moyenne) VALUES (?, ?,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try</a:t>
            </a:r>
            <a:r>
              <a:rPr sz="1700" b="0" i="0">
                <a:solidFill>
                  <a:srgbClr val="E3E9F4"/>
                </a:solidFill>
                <a:latin typeface="Consolas"/>
              </a:rPr>
              <a:t> </a:t>
            </a:r>
            <a:r>
              <a:rPr sz="1700" b="0" i="0">
                <a:solidFill>
                  <a:srgbClr val="E3E9F4"/>
                </a:solidFill>
                <a:latin typeface="Consolas"/>
              </a:rPr>
              <a:t>(</a:t>
            </a:r>
            <a:r>
              <a:rPr sz="1700" b="0" i="0">
                <a:solidFill>
                  <a:srgbClr val="35C7E0"/>
                </a:solidFill>
                <a:latin typeface="Consolas"/>
              </a:rPr>
              <a:t>PreparedStatement</a:t>
            </a:r>
            <a:r>
              <a:rPr sz="1700" b="0" i="0">
                <a:solidFill>
                  <a:srgbClr val="E3E9F4"/>
                </a:solidFill>
                <a:latin typeface="Consolas"/>
              </a:rPr>
              <a:t> </a:t>
            </a:r>
            <a:r>
              <a:rPr sz="1700" b="0" i="0">
                <a:solidFill>
                  <a:srgbClr val="E3E9F4"/>
                </a:solidFill>
                <a:latin typeface="Consolas"/>
              </a:rPr>
              <a:t>req</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connexion</a:t>
            </a:r>
            <a:r>
              <a:rPr sz="1700" b="0" i="0">
                <a:solidFill>
                  <a:srgbClr val="E3E9F4"/>
                </a:solidFill>
                <a:latin typeface="Consolas"/>
              </a:rPr>
              <a:t>.</a:t>
            </a:r>
            <a:r>
              <a:rPr sz="1700" b="0" i="0">
                <a:solidFill>
                  <a:srgbClr val="E3E9F4"/>
                </a:solidFill>
                <a:latin typeface="Consolas"/>
              </a:rPr>
              <a:t>prepareStatement</a:t>
            </a:r>
            <a:r>
              <a:rPr sz="1700" b="0" i="0">
                <a:solidFill>
                  <a:srgbClr val="E3E9F4"/>
                </a:solidFill>
                <a:latin typeface="Consolas"/>
              </a:rPr>
              <a:t>(</a:t>
            </a:r>
            <a:r>
              <a:rPr sz="1700" b="0" i="0">
                <a:solidFill>
                  <a:srgbClr val="E3E9F4"/>
                </a:solidFill>
                <a:latin typeface="Consolas"/>
              </a:rPr>
              <a:t>sql</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req</a:t>
            </a:r>
            <a:r>
              <a:rPr sz="1700" b="0" i="0">
                <a:solidFill>
                  <a:srgbClr val="E3E9F4"/>
                </a:solidFill>
                <a:latin typeface="Consolas"/>
              </a:rPr>
              <a:t>.</a:t>
            </a:r>
            <a:r>
              <a:rPr sz="1700" b="0" i="0">
                <a:solidFill>
                  <a:srgbClr val="E3E9F4"/>
                </a:solidFill>
                <a:latin typeface="Consolas"/>
              </a:rPr>
              <a:t>setString</a:t>
            </a:r>
            <a:r>
              <a:rPr sz="1700" b="0" i="0">
                <a:solidFill>
                  <a:srgbClr val="E3E9F4"/>
                </a:solidFill>
                <a:latin typeface="Consolas"/>
              </a:rPr>
              <a:t>(</a:t>
            </a:r>
            <a:r>
              <a:rPr sz="1700" b="0" i="0">
                <a:solidFill>
                  <a:srgbClr val="E8C54A"/>
                </a:solidFill>
                <a:latin typeface="Consolas"/>
              </a:rPr>
              <a:t>1</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e</a:t>
            </a:r>
            <a:r>
              <a:rPr sz="1700" b="0" i="0">
                <a:solidFill>
                  <a:srgbClr val="E3E9F4"/>
                </a:solidFill>
                <a:latin typeface="Consolas"/>
              </a:rPr>
              <a:t>.</a:t>
            </a:r>
            <a:r>
              <a:rPr sz="1700" b="0" i="0">
                <a:solidFill>
                  <a:srgbClr val="E3E9F4"/>
                </a:solidFill>
                <a:latin typeface="Consolas"/>
              </a:rPr>
              <a:t>getNom</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req</a:t>
            </a:r>
            <a:r>
              <a:rPr sz="1700" b="0" i="0">
                <a:solidFill>
                  <a:srgbClr val="E3E9F4"/>
                </a:solidFill>
                <a:latin typeface="Consolas"/>
              </a:rPr>
              <a:t>.</a:t>
            </a:r>
            <a:r>
              <a:rPr sz="1700" b="0" i="0">
                <a:solidFill>
                  <a:srgbClr val="E3E9F4"/>
                </a:solidFill>
                <a:latin typeface="Consolas"/>
              </a:rPr>
              <a:t>setInt</a:t>
            </a:r>
            <a:r>
              <a:rPr sz="1700" b="0" i="0">
                <a:solidFill>
                  <a:srgbClr val="E3E9F4"/>
                </a:solidFill>
                <a:latin typeface="Consolas"/>
              </a:rPr>
              <a:t>(</a:t>
            </a:r>
            <a:r>
              <a:rPr sz="1700" b="0" i="0">
                <a:solidFill>
                  <a:srgbClr val="E8C54A"/>
                </a:solidFill>
                <a:latin typeface="Consolas"/>
              </a:rPr>
              <a:t>2</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e</a:t>
            </a:r>
            <a:r>
              <a:rPr sz="1700" b="0" i="0">
                <a:solidFill>
                  <a:srgbClr val="E3E9F4"/>
                </a:solidFill>
                <a:latin typeface="Consolas"/>
              </a:rPr>
              <a:t>.</a:t>
            </a:r>
            <a:r>
              <a:rPr sz="1700" b="0" i="0">
                <a:solidFill>
                  <a:srgbClr val="E3E9F4"/>
                </a:solidFill>
                <a:latin typeface="Consolas"/>
              </a:rPr>
              <a:t>getAge</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req</a:t>
            </a:r>
            <a:r>
              <a:rPr sz="1700" b="0" i="0">
                <a:solidFill>
                  <a:srgbClr val="E3E9F4"/>
                </a:solidFill>
                <a:latin typeface="Consolas"/>
              </a:rPr>
              <a:t>.</a:t>
            </a:r>
            <a:r>
              <a:rPr sz="1700" b="0" i="0">
                <a:solidFill>
                  <a:srgbClr val="E3E9F4"/>
                </a:solidFill>
                <a:latin typeface="Consolas"/>
              </a:rPr>
              <a:t>setDouble</a:t>
            </a:r>
            <a:r>
              <a:rPr sz="1700" b="0" i="0">
                <a:solidFill>
                  <a:srgbClr val="E3E9F4"/>
                </a:solidFill>
                <a:latin typeface="Consolas"/>
              </a:rPr>
              <a:t>(</a:t>
            </a:r>
            <a:r>
              <a:rPr sz="1700" b="0" i="0">
                <a:solidFill>
                  <a:srgbClr val="E8C54A"/>
                </a:solidFill>
                <a:latin typeface="Consolas"/>
              </a:rPr>
              <a:t>3</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e</a:t>
            </a:r>
            <a:r>
              <a:rPr sz="1700" b="0" i="0">
                <a:solidFill>
                  <a:srgbClr val="E3E9F4"/>
                </a:solidFill>
                <a:latin typeface="Consolas"/>
              </a:rPr>
              <a:t>.</a:t>
            </a:r>
            <a:r>
              <a:rPr sz="1700" b="0" i="0">
                <a:solidFill>
                  <a:srgbClr val="E3E9F4"/>
                </a:solidFill>
                <a:latin typeface="Consolas"/>
              </a:rPr>
              <a:t>getMoyenne</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req</a:t>
            </a:r>
            <a:r>
              <a:rPr sz="1700" b="0" i="0">
                <a:solidFill>
                  <a:srgbClr val="E3E9F4"/>
                </a:solidFill>
                <a:latin typeface="Consolas"/>
              </a:rPr>
              <a:t>.</a:t>
            </a:r>
            <a:r>
              <a:rPr sz="1700" b="0" i="0">
                <a:solidFill>
                  <a:srgbClr val="E3E9F4"/>
                </a:solidFill>
                <a:latin typeface="Consolas"/>
              </a:rPr>
              <a:t>executeUpdate</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Les « ? » sont remplis un par un ; positions à partir de 1, JAMAIS de 0.</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28 — Connexion MySQL avec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189</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28 — ÉTAPE 10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Tester : lecture complète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75488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438912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String</a:t>
            </a:r>
            <a:r>
              <a:rPr sz="1700" b="0" i="0">
                <a:solidFill>
                  <a:srgbClr val="E3E9F4"/>
                </a:solidFill>
                <a:latin typeface="Consolas"/>
              </a:rPr>
              <a:t> </a:t>
            </a:r>
            <a:r>
              <a:rPr sz="1700" b="0" i="0">
                <a:solidFill>
                  <a:srgbClr val="E3E9F4"/>
                </a:solidFill>
                <a:latin typeface="Consolas"/>
              </a:rPr>
              <a:t>sql</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33C984"/>
                </a:solidFill>
                <a:latin typeface="Consolas"/>
              </a:rPr>
              <a:t>"SELECT id, nom, age, moyenne FROM etudiants"</a:t>
            </a:r>
            <a:r>
              <a:rPr sz="1700" b="0" i="0">
                <a:solidFill>
                  <a:srgbClr val="E3E9F4"/>
                </a:solidFill>
                <a:latin typeface="Consolas"/>
              </a:rPr>
              <a:t>;</a:t>
            </a:r>
          </a:p>
          <a:p>
            <a:pPr algn="l">
              <a:lnSpc>
                <a:spcPct val="115000"/>
              </a:lnSpc>
              <a:spcAft>
                <a:spcPts val="200"/>
              </a:spcAft>
              <a:buNone/>
            </a:pPr>
            <a:r>
              <a:rPr sz="1700" b="0" i="0">
                <a:solidFill>
                  <a:srgbClr val="F28C28"/>
                </a:solidFill>
                <a:latin typeface="Consolas"/>
              </a:rPr>
              <a:t>try</a:t>
            </a:r>
            <a:r>
              <a:rPr sz="1700" b="0" i="0">
                <a:solidFill>
                  <a:srgbClr val="E3E9F4"/>
                </a:solidFill>
                <a:latin typeface="Consolas"/>
              </a:rPr>
              <a:t> </a:t>
            </a:r>
            <a:r>
              <a:rPr sz="1700" b="0" i="0">
                <a:solidFill>
                  <a:srgbClr val="E3E9F4"/>
                </a:solidFill>
                <a:latin typeface="Consolas"/>
              </a:rPr>
              <a:t>(</a:t>
            </a:r>
            <a:r>
              <a:rPr sz="1700" b="0" i="0">
                <a:solidFill>
                  <a:srgbClr val="35C7E0"/>
                </a:solidFill>
                <a:latin typeface="Consolas"/>
              </a:rPr>
              <a:t>PreparedStatement</a:t>
            </a:r>
            <a:r>
              <a:rPr sz="1700" b="0" i="0">
                <a:solidFill>
                  <a:srgbClr val="E3E9F4"/>
                </a:solidFill>
                <a:latin typeface="Consolas"/>
              </a:rPr>
              <a:t> </a:t>
            </a:r>
            <a:r>
              <a:rPr sz="1700" b="0" i="0">
                <a:solidFill>
                  <a:srgbClr val="E3E9F4"/>
                </a:solidFill>
                <a:latin typeface="Consolas"/>
              </a:rPr>
              <a:t>req</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connexion</a:t>
            </a:r>
            <a:r>
              <a:rPr sz="1700" b="0" i="0">
                <a:solidFill>
                  <a:srgbClr val="E3E9F4"/>
                </a:solidFill>
                <a:latin typeface="Consolas"/>
              </a:rPr>
              <a:t>.</a:t>
            </a:r>
            <a:r>
              <a:rPr sz="1700" b="0" i="0">
                <a:solidFill>
                  <a:srgbClr val="E3E9F4"/>
                </a:solidFill>
                <a:latin typeface="Consolas"/>
              </a:rPr>
              <a:t>prepareStatement</a:t>
            </a:r>
            <a:r>
              <a:rPr sz="1700" b="0" i="0">
                <a:solidFill>
                  <a:srgbClr val="E3E9F4"/>
                </a:solidFill>
                <a:latin typeface="Consolas"/>
              </a:rPr>
              <a:t>(</a:t>
            </a:r>
            <a:r>
              <a:rPr sz="1700" b="0" i="0">
                <a:solidFill>
                  <a:srgbClr val="E3E9F4"/>
                </a:solidFill>
                <a:latin typeface="Consolas"/>
              </a:rPr>
              <a:t>sql</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ResultSet</a:t>
            </a:r>
            <a:r>
              <a:rPr sz="1700" b="0" i="0">
                <a:solidFill>
                  <a:srgbClr val="E3E9F4"/>
                </a:solidFill>
                <a:latin typeface="Consolas"/>
              </a:rPr>
              <a:t> </a:t>
            </a:r>
            <a:r>
              <a:rPr sz="1700" b="0" i="0">
                <a:solidFill>
                  <a:srgbClr val="E3E9F4"/>
                </a:solidFill>
                <a:latin typeface="Consolas"/>
              </a:rPr>
              <a:t>rs</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req</a:t>
            </a:r>
            <a:r>
              <a:rPr sz="1700" b="0" i="0">
                <a:solidFill>
                  <a:srgbClr val="E3E9F4"/>
                </a:solidFill>
                <a:latin typeface="Consolas"/>
              </a:rPr>
              <a:t>.</a:t>
            </a:r>
            <a:r>
              <a:rPr sz="1700" b="0" i="0">
                <a:solidFill>
                  <a:srgbClr val="E3E9F4"/>
                </a:solidFill>
                <a:latin typeface="Consolas"/>
              </a:rPr>
              <a:t>executeQuery</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while</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rs</a:t>
            </a:r>
            <a:r>
              <a:rPr sz="1700" b="0" i="0">
                <a:solidFill>
                  <a:srgbClr val="E3E9F4"/>
                </a:solidFill>
                <a:latin typeface="Consolas"/>
              </a:rPr>
              <a:t>.</a:t>
            </a:r>
            <a:r>
              <a:rPr sz="1700" b="0" i="0">
                <a:solidFill>
                  <a:srgbClr val="E3E9F4"/>
                </a:solidFill>
                <a:latin typeface="Consolas"/>
              </a:rPr>
              <a:t>next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System</a:t>
            </a:r>
            <a:r>
              <a:rPr sz="1700" b="0" i="0">
                <a:solidFill>
                  <a:srgbClr val="E3E9F4"/>
                </a:solidFill>
                <a:latin typeface="Consolas"/>
              </a:rPr>
              <a:t>.</a:t>
            </a:r>
            <a:r>
              <a:rPr sz="1700" b="0" i="0">
                <a:solidFill>
                  <a:srgbClr val="E3E9F4"/>
                </a:solidFill>
                <a:latin typeface="Consolas"/>
              </a:rPr>
              <a:t>out</a:t>
            </a:r>
            <a:r>
              <a:rPr sz="1700" b="0" i="0">
                <a:solidFill>
                  <a:srgbClr val="E3E9F4"/>
                </a:solidFill>
                <a:latin typeface="Consolas"/>
              </a:rPr>
              <a:t>.</a:t>
            </a:r>
            <a:r>
              <a:rPr sz="1700" b="0" i="0">
                <a:solidFill>
                  <a:srgbClr val="E3E9F4"/>
                </a:solidFill>
                <a:latin typeface="Consolas"/>
              </a:rPr>
              <a:t>println</a:t>
            </a:r>
            <a:r>
              <a:rPr sz="1700" b="0" i="0">
                <a:solidFill>
                  <a:srgbClr val="E3E9F4"/>
                </a:solidFill>
                <a:latin typeface="Consolas"/>
              </a:rPr>
              <a:t>(</a:t>
            </a:r>
            <a:r>
              <a:rPr sz="1700" b="0" i="0">
                <a:solidFill>
                  <a:srgbClr val="E3E9F4"/>
                </a:solidFill>
                <a:latin typeface="Consolas"/>
              </a:rPr>
              <a:t>rs</a:t>
            </a:r>
            <a:r>
              <a:rPr sz="1700" b="0" i="0">
                <a:solidFill>
                  <a:srgbClr val="E3E9F4"/>
                </a:solidFill>
                <a:latin typeface="Consolas"/>
              </a:rPr>
              <a:t>.</a:t>
            </a:r>
            <a:r>
              <a:rPr sz="1700" b="0" i="0">
                <a:solidFill>
                  <a:srgbClr val="E3E9F4"/>
                </a:solidFill>
                <a:latin typeface="Consolas"/>
              </a:rPr>
              <a:t>getString</a:t>
            </a:r>
            <a:r>
              <a:rPr sz="1700" b="0" i="0">
                <a:solidFill>
                  <a:srgbClr val="E3E9F4"/>
                </a:solidFill>
                <a:latin typeface="Consolas"/>
              </a:rPr>
              <a:t>(</a:t>
            </a:r>
            <a:r>
              <a:rPr sz="1700" b="0" i="0">
                <a:solidFill>
                  <a:srgbClr val="33C984"/>
                </a:solidFill>
                <a:latin typeface="Consolas"/>
              </a:rPr>
              <a:t>"nom"</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33C984"/>
                </a:solidFill>
                <a:latin typeface="Consolas"/>
              </a:rPr>
              <a:t>" : "</a:t>
            </a:r>
            <a:r>
              <a:rPr sz="1700" b="0" i="0">
                <a:solidFill>
                  <a:srgbClr val="E3E9F4"/>
                </a:solidFill>
                <a:latin typeface="Consolas"/>
              </a:rPr>
              <a:t> </a:t>
            </a:r>
            <a:r>
              <a:rPr sz="1700" b="0" i="0">
                <a:solidFill>
                  <a:srgbClr val="E3E9F4"/>
                </a:solidFill>
                <a:latin typeface="Consolas"/>
              </a:rPr>
              <a:t>+</a:t>
            </a:r>
            <a:r>
              <a:rPr sz="1700" b="0" i="0">
                <a:solidFill>
                  <a:srgbClr val="E3E9F4"/>
                </a:solidFill>
                <a:latin typeface="Consolas"/>
              </a:rPr>
              <a:t> </a:t>
            </a:r>
            <a:r>
              <a:rPr sz="1700" b="0" i="0">
                <a:solidFill>
                  <a:srgbClr val="E3E9F4"/>
                </a:solidFill>
                <a:latin typeface="Consolas"/>
              </a:rPr>
              <a:t>rs</a:t>
            </a:r>
            <a:r>
              <a:rPr sz="1700" b="0" i="0">
                <a:solidFill>
                  <a:srgbClr val="E3E9F4"/>
                </a:solidFill>
                <a:latin typeface="Consolas"/>
              </a:rPr>
              <a:t>.</a:t>
            </a:r>
            <a:r>
              <a:rPr sz="1700" b="0" i="0">
                <a:solidFill>
                  <a:srgbClr val="E3E9F4"/>
                </a:solidFill>
                <a:latin typeface="Consolas"/>
              </a:rPr>
              <a:t>getDouble</a:t>
            </a:r>
            <a:r>
              <a:rPr sz="1700" b="0" i="0">
                <a:solidFill>
                  <a:srgbClr val="E3E9F4"/>
                </a:solidFill>
                <a:latin typeface="Consolas"/>
              </a:rPr>
              <a:t>(</a:t>
            </a:r>
            <a:r>
              <a:rPr sz="1700" b="0" i="0">
                <a:solidFill>
                  <a:srgbClr val="33C984"/>
                </a:solidFill>
                <a:latin typeface="Consolas"/>
              </a:rPr>
              <a:t>"moyenne"</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28 — Connexion MySQL avec Java</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190</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28</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Coller du texte utilisateur dans une requête SQL → injection SQL (toujours PreparedStatement)</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Compter les positions des ? à partir de 0 (elles commencent à 1)</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Confondre executeQuery() (SELECT) et executeUpdate() (INSERT/UPDATE/DELETE)</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Stocker le mot de passe de connexion directement dans le code source versionné sur Git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28 — Connexion MySQL avec Java</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28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CRUD complet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En reprenant les 10 étapes, ajoutez à votre EtudiantDAO les méthodes trouverParId(int id) et supprimer(int id).</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28 — Connexion MySQL avec Java</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192</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28</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URL JDBC : jdbc:type://adresse:port/base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PreparedStatement protège contre l'injection SQL ; positions des ? à partir de 1</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executeUpdate() pour écrire, executeQuery() pour lire (renvoie un ResultSet)</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28 — Connexion MySQL avec Java</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193</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29</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DAO</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Organiser proprement l'accès aux données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29 — DAO</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194</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29 — SCHÉMA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Entity → DAO → Database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Entity (Etudiant — objet Java simple)</a:t>
            </a:r>
          </a:p>
        </p:txBody>
      </p:sp>
      <p:sp>
        <p:nvSpPr>
          <p:cNvPr id="9" name="Down Arrow 8"/>
          <p:cNvSpPr/>
          <p:nvPr/>
        </p:nvSpPr>
        <p:spPr>
          <a:xfrm>
            <a:off x="5967832" y="236829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60604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60604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60604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DAO (EtudiantDAO — tout le JDBC caché)</a:t>
            </a:r>
          </a:p>
        </p:txBody>
      </p:sp>
      <p:sp>
        <p:nvSpPr>
          <p:cNvPr id="13" name="Down Arrow 12"/>
          <p:cNvSpPr/>
          <p:nvPr/>
        </p:nvSpPr>
        <p:spPr>
          <a:xfrm>
            <a:off x="5967832" y="341985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3928" y="3657600"/>
            <a:ext cx="7863840" cy="7772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3928" y="3657600"/>
            <a:ext cx="82296" cy="7772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8248" y="3657600"/>
            <a:ext cx="7406640" cy="7772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Database (MySQL)</a:t>
            </a:r>
          </a:p>
        </p:txBody>
      </p:sp>
      <p:sp>
        <p:nvSpPr>
          <p:cNvPr id="17" name="TextBox 1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8" name="TextBox 1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29 — DAO</a:t>
            </a:r>
          </a:p>
        </p:txBody>
      </p:sp>
      <p:sp>
        <p:nvSpPr>
          <p:cNvPr id="19" name="TextBox 1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195</a:t>
            </a:r>
          </a:p>
        </p:txBody>
      </p:sp>
      <p:sp>
        <p:nvSpPr>
          <p:cNvPr id="20" name="Rectangle 1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29 — EXEMPLE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Interface EtudiantDAO</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10911535" cy="425196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886200"/>
          </a:xfrm>
          <a:prstGeom prst="rect">
            <a:avLst/>
          </a:prstGeom>
          <a:noFill/>
        </p:spPr>
        <p:txBody>
          <a:bodyPr wrap="square" anchor="t" lIns="0" rIns="0" tIns="0" bIns="0">
            <a:spAutoFit/>
          </a:bodyPr>
          <a:lstStyle/>
          <a:p>
            <a:pPr algn="l">
              <a:lnSpc>
                <a:spcPct val="115000"/>
              </a:lnSpc>
              <a:spcAft>
                <a:spcPts val="200"/>
              </a:spcAft>
              <a:buNone/>
            </a:pPr>
            <a:r>
              <a:rPr sz="1700" b="0" i="0">
                <a:solidFill>
                  <a:srgbClr val="F28C28"/>
                </a:solidFill>
                <a:latin typeface="Consolas"/>
              </a:rPr>
              <a:t>public</a:t>
            </a:r>
            <a:r>
              <a:rPr sz="1700" b="0" i="0">
                <a:solidFill>
                  <a:srgbClr val="E3E9F4"/>
                </a:solidFill>
                <a:latin typeface="Consolas"/>
              </a:rPr>
              <a:t> </a:t>
            </a:r>
            <a:r>
              <a:rPr sz="1700" b="0" i="0">
                <a:solidFill>
                  <a:srgbClr val="F28C28"/>
                </a:solidFill>
                <a:latin typeface="Consolas"/>
              </a:rPr>
              <a:t>interface</a:t>
            </a:r>
            <a:r>
              <a:rPr sz="1700" b="0" i="0">
                <a:solidFill>
                  <a:srgbClr val="E3E9F4"/>
                </a:solidFill>
                <a:latin typeface="Consolas"/>
              </a:rPr>
              <a:t> </a:t>
            </a:r>
            <a:r>
              <a:rPr sz="1700" b="0" i="0">
                <a:solidFill>
                  <a:srgbClr val="E3E9F4"/>
                </a:solidFill>
                <a:latin typeface="Consolas"/>
              </a:rPr>
              <a:t>EtudiantDAO</a:t>
            </a:r>
            <a:r>
              <a:rPr sz="1700" b="0" i="0">
                <a:solidFill>
                  <a:srgbClr val="E3E9F4"/>
                </a:solidFill>
                <a:latin typeface="Consolas"/>
              </a:rPr>
              <a:t> </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ajouter</a:t>
            </a:r>
            <a:r>
              <a:rPr sz="1700" b="0" i="0">
                <a:solidFill>
                  <a:srgbClr val="E3E9F4"/>
                </a:solidFill>
                <a:latin typeface="Consolas"/>
              </a:rPr>
              <a:t>(</a:t>
            </a:r>
            <a:r>
              <a:rPr sz="1700" b="0" i="0">
                <a:solidFill>
                  <a:srgbClr val="E3E9F4"/>
                </a:solidFill>
                <a:latin typeface="Consolas"/>
              </a:rPr>
              <a:t>Etudiant</a:t>
            </a:r>
            <a:r>
              <a:rPr sz="1700" b="0" i="0">
                <a:solidFill>
                  <a:srgbClr val="E3E9F4"/>
                </a:solidFill>
                <a:latin typeface="Consolas"/>
              </a:rPr>
              <a:t> </a:t>
            </a:r>
            <a:r>
              <a:rPr sz="1700" b="0" i="0">
                <a:solidFill>
                  <a:srgbClr val="E3E9F4"/>
                </a:solidFill>
                <a:latin typeface="Consolas"/>
              </a:rPr>
              <a:t>e</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35C7E0"/>
                </a:solidFill>
                <a:latin typeface="Consolas"/>
              </a:rPr>
              <a:t>List</a:t>
            </a:r>
            <a:r>
              <a:rPr sz="1700" b="0" i="0">
                <a:solidFill>
                  <a:srgbClr val="E3E9F4"/>
                </a:solidFill>
                <a:latin typeface="Consolas"/>
              </a:rPr>
              <a:t>&lt;</a:t>
            </a:r>
            <a:r>
              <a:rPr sz="1700" b="0" i="0">
                <a:solidFill>
                  <a:srgbClr val="E3E9F4"/>
                </a:solidFill>
                <a:latin typeface="Consolas"/>
              </a:rPr>
              <a:t>Etudiant</a:t>
            </a:r>
            <a:r>
              <a:rPr sz="1700" b="0" i="0">
                <a:solidFill>
                  <a:srgbClr val="E3E9F4"/>
                </a:solidFill>
                <a:latin typeface="Consolas"/>
              </a:rPr>
              <a:t>&gt;</a:t>
            </a:r>
            <a:r>
              <a:rPr sz="1700" b="0" i="0">
                <a:solidFill>
                  <a:srgbClr val="E3E9F4"/>
                </a:solidFill>
                <a:latin typeface="Consolas"/>
              </a:rPr>
              <a:t> </a:t>
            </a:r>
            <a:r>
              <a:rPr sz="1700" b="0" i="0">
                <a:solidFill>
                  <a:srgbClr val="E3E9F4"/>
                </a:solidFill>
                <a:latin typeface="Consolas"/>
              </a:rPr>
              <a:t>findAll</a:t>
            </a:r>
            <a:r>
              <a:rPr sz="1700" b="0" i="0">
                <a:solidFill>
                  <a:srgbClr val="E3E9F4"/>
                </a:solidFill>
                <a:latin typeface="Consolas"/>
              </a:rPr>
              <a:t>(</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Etudiant</a:t>
            </a:r>
            <a:r>
              <a:rPr sz="1700" b="0" i="0">
                <a:solidFill>
                  <a:srgbClr val="E3E9F4"/>
                </a:solidFill>
                <a:latin typeface="Consolas"/>
              </a:rPr>
              <a:t> </a:t>
            </a:r>
            <a:r>
              <a:rPr sz="1700" b="0" i="0">
                <a:solidFill>
                  <a:srgbClr val="E3E9F4"/>
                </a:solidFill>
                <a:latin typeface="Consolas"/>
              </a:rPr>
              <a:t>findById</a:t>
            </a:r>
            <a:r>
              <a:rPr sz="1700" b="0" i="0">
                <a:solidFill>
                  <a:srgbClr val="E3E9F4"/>
                </a:solidFill>
                <a:latin typeface="Consolas"/>
              </a:rPr>
              <a:t>(</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id</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modifier</a:t>
            </a:r>
            <a:r>
              <a:rPr sz="1700" b="0" i="0">
                <a:solidFill>
                  <a:srgbClr val="E3E9F4"/>
                </a:solidFill>
                <a:latin typeface="Consolas"/>
              </a:rPr>
              <a:t>(</a:t>
            </a:r>
            <a:r>
              <a:rPr sz="1700" b="0" i="0">
                <a:solidFill>
                  <a:srgbClr val="E3E9F4"/>
                </a:solidFill>
                <a:latin typeface="Consolas"/>
              </a:rPr>
              <a:t>Etudiant</a:t>
            </a:r>
            <a:r>
              <a:rPr sz="1700" b="0" i="0">
                <a:solidFill>
                  <a:srgbClr val="E3E9F4"/>
                </a:solidFill>
                <a:latin typeface="Consolas"/>
              </a:rPr>
              <a:t> </a:t>
            </a:r>
            <a:r>
              <a:rPr sz="1700" b="0" i="0">
                <a:solidFill>
                  <a:srgbClr val="E3E9F4"/>
                </a:solidFill>
                <a:latin typeface="Consolas"/>
              </a:rPr>
              <a:t>e</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E3E9F4"/>
                </a:solidFill>
                <a:latin typeface="Consolas"/>
              </a:rPr>
              <a:t> </a:t>
            </a:r>
            <a:r>
              <a:rPr sz="1700" b="0" i="0">
                <a:solidFill>
                  <a:srgbClr val="F28C28"/>
                </a:solidFill>
                <a:latin typeface="Consolas"/>
              </a:rPr>
              <a:t>void</a:t>
            </a:r>
            <a:r>
              <a:rPr sz="1700" b="0" i="0">
                <a:solidFill>
                  <a:srgbClr val="E3E9F4"/>
                </a:solidFill>
                <a:latin typeface="Consolas"/>
              </a:rPr>
              <a:t> </a:t>
            </a:r>
            <a:r>
              <a:rPr sz="1700" b="0" i="0">
                <a:solidFill>
                  <a:srgbClr val="E3E9F4"/>
                </a:solidFill>
                <a:latin typeface="Consolas"/>
              </a:rPr>
              <a:t>supprimer</a:t>
            </a:r>
            <a:r>
              <a:rPr sz="1700" b="0" i="0">
                <a:solidFill>
                  <a:srgbClr val="E3E9F4"/>
                </a:solidFill>
                <a:latin typeface="Consolas"/>
              </a:rPr>
              <a:t>(</a:t>
            </a:r>
            <a:r>
              <a:rPr sz="1700" b="0" i="0">
                <a:solidFill>
                  <a:srgbClr val="F28C28"/>
                </a:solidFill>
                <a:latin typeface="Consolas"/>
              </a:rPr>
              <a:t>int</a:t>
            </a:r>
            <a:r>
              <a:rPr sz="1700" b="0" i="0">
                <a:solidFill>
                  <a:srgbClr val="E3E9F4"/>
                </a:solidFill>
                <a:latin typeface="Consolas"/>
              </a:rPr>
              <a:t> </a:t>
            </a:r>
            <a:r>
              <a:rPr sz="1700" b="0" i="0">
                <a:solidFill>
                  <a:srgbClr val="E3E9F4"/>
                </a:solidFill>
                <a:latin typeface="Consolas"/>
              </a:rPr>
              <a:t>id</a:t>
            </a:r>
            <a:r>
              <a:rPr sz="1700" b="0" i="0">
                <a:solidFill>
                  <a:srgbClr val="E3E9F4"/>
                </a:solidFill>
                <a:latin typeface="Consolas"/>
              </a:rPr>
              <a:t>)</a:t>
            </a:r>
            <a:r>
              <a:rPr sz="1700" b="0" i="0">
                <a:solidFill>
                  <a:srgbClr val="E3E9F4"/>
                </a:solidFill>
                <a:latin typeface="Consolas"/>
              </a:rPr>
              <a:t>;</a:t>
            </a:r>
          </a:p>
          <a:p>
            <a:pPr algn="l">
              <a:lnSpc>
                <a:spcPct val="115000"/>
              </a:lnSpc>
              <a:spcAft>
                <a:spcPts val="200"/>
              </a:spcAft>
              <a:buNone/>
            </a:pPr>
            <a:r>
              <a:rPr sz="1700" b="0" i="0">
                <a:solidFill>
                  <a:srgbClr val="E3E9F4"/>
                </a:solidFill>
                <a:latin typeface="Consolas"/>
              </a:rPr>
              <a:t>}</a:t>
            </a:r>
          </a:p>
        </p:txBody>
      </p:sp>
      <p:sp>
        <p:nvSpPr>
          <p:cNvPr id="8" name="TextBox 7"/>
          <p:cNvSpPr txBox="1"/>
          <p:nvPr/>
        </p:nvSpPr>
        <p:spPr>
          <a:xfrm>
            <a:off x="640080" y="5779008"/>
            <a:ext cx="10911535" cy="411480"/>
          </a:xfrm>
          <a:prstGeom prst="rect">
            <a:avLst/>
          </a:prstGeom>
          <a:noFill/>
        </p:spPr>
        <p:txBody>
          <a:bodyPr wrap="square" anchor="t" lIns="0" rIns="0" tIns="0" bIns="0">
            <a:spAutoFit/>
          </a:bodyPr>
          <a:lstStyle/>
          <a:p>
            <a:pPr algn="l">
              <a:spcBef>
                <a:spcPts val="0"/>
              </a:spcBef>
              <a:spcAft>
                <a:spcPts val="0"/>
              </a:spcAft>
              <a:buNone/>
            </a:pPr>
            <a:r>
              <a:rPr sz="1400" b="0" i="1">
                <a:solidFill>
                  <a:srgbClr val="35C7E0"/>
                </a:solidFill>
                <a:latin typeface="Segoe UI"/>
              </a:rPr>
              <a:t>Un DAO regroupe TOUT le SQL d'une table derrière des méthodes claires.</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29 — DAO</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196</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29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vrai bénéfice du DAO</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Le reste du programme n'utilise QUE des objets Java normaux, jamais de SQL directement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Changer la structure d'une table, ou de base de données, n'impacte QUE le DAO</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Un DAO ne doit JAMAIS contenir de règle métier (validations, calculs) — seulement l'accès aux données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29 — DAO</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MODULE 29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Laisser du SQL fuir hors du DAO (ex : directement dans main())</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Un DAO qui contient de la logique métier (ce n'est pas son rôle)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29 — DAO</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29 — À VOUS DE JOUER</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Implémenter EtudiantDAO</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Implémentez l'interface EtudiantDAO avec JDBC (comme au Module 28), en respectant strictement la règle : aucune validation métier dans le DAO.</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29 — DAO</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199</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29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 DAO regroupe tout le JDBC d'une table derrière des méthodes claires</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Le modèle reste une classe Java simple, sans aucune trace de SQL</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29 — DAO</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200</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MODULE 30</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Projet complet — Système de gestion des étudiants</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Toute la POO étudiée, connectée à une vraie base de données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30 — Projet complet — Système de gestion des étudiants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30 — ARCHITECTURE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Architecture du projet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Main</a:t>
            </a:r>
          </a:p>
        </p:txBody>
      </p:sp>
      <p:sp>
        <p:nvSpPr>
          <p:cNvPr id="9" name="Down Arrow 8"/>
          <p:cNvSpPr/>
          <p:nvPr/>
        </p:nvSpPr>
        <p:spPr>
          <a:xfrm>
            <a:off x="5967832" y="2304288"/>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542032"/>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542032"/>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542032"/>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Service (règles métier)</a:t>
            </a:r>
          </a:p>
        </p:txBody>
      </p:sp>
      <p:sp>
        <p:nvSpPr>
          <p:cNvPr id="13" name="Down Arrow 12"/>
          <p:cNvSpPr/>
          <p:nvPr/>
        </p:nvSpPr>
        <p:spPr>
          <a:xfrm>
            <a:off x="5967832" y="3291840"/>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3928" y="3529584"/>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3928" y="3529584"/>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8248" y="3529584"/>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DAO (accès aux données)</a:t>
            </a:r>
          </a:p>
        </p:txBody>
      </p:sp>
      <p:sp>
        <p:nvSpPr>
          <p:cNvPr id="17" name="Down Arrow 16"/>
          <p:cNvSpPr/>
          <p:nvPr/>
        </p:nvSpPr>
        <p:spPr>
          <a:xfrm>
            <a:off x="5967832" y="4279392"/>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63928" y="4517136"/>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63928" y="4517136"/>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8248" y="4517136"/>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JDBC</a:t>
            </a:r>
          </a:p>
        </p:txBody>
      </p:sp>
      <p:sp>
        <p:nvSpPr>
          <p:cNvPr id="21" name="Down Arrow 20"/>
          <p:cNvSpPr/>
          <p:nvPr/>
        </p:nvSpPr>
        <p:spPr>
          <a:xfrm>
            <a:off x="5967832" y="5266944"/>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63928" y="5504688"/>
            <a:ext cx="7863840" cy="713232"/>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63928" y="5504688"/>
            <a:ext cx="82296" cy="71323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38248" y="5504688"/>
            <a:ext cx="7406640" cy="713232"/>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MySQL</a:t>
            </a:r>
          </a:p>
        </p:txBody>
      </p:sp>
      <p:sp>
        <p:nvSpPr>
          <p:cNvPr id="25" name="TextBox 24"/>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26" name="TextBox 25"/>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30 — Projet complet — Système de gestion des étudiants</a:t>
            </a:r>
          </a:p>
        </p:txBody>
      </p:sp>
      <p:sp>
        <p:nvSpPr>
          <p:cNvPr id="27" name="TextBox 26"/>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202</a:t>
            </a:r>
          </a:p>
        </p:txBody>
      </p:sp>
      <p:sp>
        <p:nvSpPr>
          <p:cNvPr id="28" name="Rectangle 27"/>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30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Fonctionnalités attendues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Ajouter, modifier, supprimer, rechercher, afficher un étudiant</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Enregistrer en base de données (Module 28) et récupérer depuis MySQL</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Utiliser encapsulation (Module 7), constructeur validant (Module 6), DAO (Module 29)</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Gérer les erreurs proprement avec des exceptions (Module 19), pas de crash brutal</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30 — Projet complet — Système de gestion des étudiants</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203</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MODULE 30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Le modèle Etudiant, complet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5272888" cy="4800600"/>
          </a:xfrm>
          <a:prstGeom prst="rect">
            <a:avLst/>
          </a:prstGeom>
          <a:solidFill>
            <a:srgbClr val="0A101D"/>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760824" cy="4434840"/>
          </a:xfrm>
          <a:prstGeom prst="rect">
            <a:avLst/>
          </a:prstGeom>
          <a:noFill/>
        </p:spPr>
        <p:txBody>
          <a:bodyPr wrap="square" anchor="t" lIns="0" rIns="0" tIns="0" bIns="0">
            <a:spAutoFit/>
          </a:bodyPr>
          <a:lstStyle/>
          <a:p>
            <a:pPr algn="l">
              <a:lnSpc>
                <a:spcPct val="115000"/>
              </a:lnSpc>
              <a:spcAft>
                <a:spcPts val="200"/>
              </a:spcAft>
              <a:buNone/>
            </a:pPr>
            <a:r>
              <a:rPr sz="1500" b="0" i="0">
                <a:solidFill>
                  <a:srgbClr val="F28C28"/>
                </a:solidFill>
                <a:latin typeface="Consolas"/>
              </a:rPr>
              <a:t>public</a:t>
            </a:r>
            <a:r>
              <a:rPr sz="1500" b="0" i="0">
                <a:solidFill>
                  <a:srgbClr val="E3E9F4"/>
                </a:solidFill>
                <a:latin typeface="Consolas"/>
              </a:rPr>
              <a:t> </a:t>
            </a:r>
            <a:r>
              <a:rPr sz="1500" b="0" i="0">
                <a:solidFill>
                  <a:srgbClr val="F28C28"/>
                </a:solidFill>
                <a:latin typeface="Consolas"/>
              </a:rPr>
              <a:t>class</a:t>
            </a:r>
            <a:r>
              <a:rPr sz="1500" b="0" i="0">
                <a:solidFill>
                  <a:srgbClr val="E3E9F4"/>
                </a:solidFill>
                <a:latin typeface="Consolas"/>
              </a:rPr>
              <a:t> </a:t>
            </a:r>
            <a:r>
              <a:rPr sz="1500" b="0" i="0">
                <a:solidFill>
                  <a:srgbClr val="E3E9F4"/>
                </a:solidFill>
                <a:latin typeface="Consolas"/>
              </a:rPr>
              <a:t>Etudiant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private</a:t>
            </a:r>
            <a:r>
              <a:rPr sz="1500" b="0" i="0">
                <a:solidFill>
                  <a:srgbClr val="E3E9F4"/>
                </a:solidFill>
                <a:latin typeface="Consolas"/>
              </a:rPr>
              <a:t> </a:t>
            </a:r>
            <a:r>
              <a:rPr sz="1500" b="0" i="0">
                <a:solidFill>
                  <a:srgbClr val="F28C28"/>
                </a:solidFill>
                <a:latin typeface="Consolas"/>
              </a:rPr>
              <a:t>int</a:t>
            </a:r>
            <a:r>
              <a:rPr sz="1500" b="0" i="0">
                <a:solidFill>
                  <a:srgbClr val="E3E9F4"/>
                </a:solidFill>
                <a:latin typeface="Consolas"/>
              </a:rPr>
              <a:t> </a:t>
            </a:r>
            <a:r>
              <a:rPr sz="1500" b="0" i="0">
                <a:solidFill>
                  <a:srgbClr val="E3E9F4"/>
                </a:solidFill>
                <a:latin typeface="Consolas"/>
              </a:rPr>
              <a:t>id</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private</a:t>
            </a:r>
            <a:r>
              <a:rPr sz="1500" b="0" i="0">
                <a:solidFill>
                  <a:srgbClr val="E3E9F4"/>
                </a:solidFill>
                <a:latin typeface="Consolas"/>
              </a:rPr>
              <a:t> </a:t>
            </a:r>
            <a:r>
              <a:rPr sz="1500" b="0" i="0">
                <a:solidFill>
                  <a:srgbClr val="F28C28"/>
                </a:solidFill>
                <a:latin typeface="Consolas"/>
              </a:rPr>
              <a:t>String</a:t>
            </a:r>
            <a:r>
              <a:rPr sz="1500" b="0" i="0">
                <a:solidFill>
                  <a:srgbClr val="E3E9F4"/>
                </a:solidFill>
                <a:latin typeface="Consolas"/>
              </a:rPr>
              <a:t> </a:t>
            </a:r>
            <a:r>
              <a:rPr sz="1500" b="0" i="0">
                <a:solidFill>
                  <a:srgbClr val="E3E9F4"/>
                </a:solidFill>
                <a:latin typeface="Consolas"/>
              </a:rPr>
              <a:t>nom</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private</a:t>
            </a:r>
            <a:r>
              <a:rPr sz="1500" b="0" i="0">
                <a:solidFill>
                  <a:srgbClr val="E3E9F4"/>
                </a:solidFill>
                <a:latin typeface="Consolas"/>
              </a:rPr>
              <a:t> </a:t>
            </a:r>
            <a:r>
              <a:rPr sz="1500" b="0" i="0">
                <a:solidFill>
                  <a:srgbClr val="F28C28"/>
                </a:solidFill>
                <a:latin typeface="Consolas"/>
              </a:rPr>
              <a:t>double</a:t>
            </a:r>
            <a:r>
              <a:rPr sz="1500" b="0" i="0">
                <a:solidFill>
                  <a:srgbClr val="E3E9F4"/>
                </a:solidFill>
                <a:latin typeface="Consolas"/>
              </a:rPr>
              <a:t> </a:t>
            </a:r>
            <a:r>
              <a:rPr sz="1500" b="0" i="0">
                <a:solidFill>
                  <a:srgbClr val="E3E9F4"/>
                </a:solidFill>
                <a:latin typeface="Consolas"/>
              </a:rPr>
              <a:t>moyenne</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public</a:t>
            </a:r>
            <a:r>
              <a:rPr sz="1500" b="0" i="0">
                <a:solidFill>
                  <a:srgbClr val="E3E9F4"/>
                </a:solidFill>
                <a:latin typeface="Consolas"/>
              </a:rPr>
              <a:t> </a:t>
            </a:r>
            <a:r>
              <a:rPr sz="1500" b="0" i="0">
                <a:solidFill>
                  <a:srgbClr val="E3E9F4"/>
                </a:solidFill>
                <a:latin typeface="Consolas"/>
              </a:rPr>
              <a:t>Etudiant</a:t>
            </a:r>
            <a:r>
              <a:rPr sz="1500" b="0" i="0">
                <a:solidFill>
                  <a:srgbClr val="E3E9F4"/>
                </a:solidFill>
                <a:latin typeface="Consolas"/>
              </a:rPr>
              <a:t>(</a:t>
            </a:r>
            <a:r>
              <a:rPr sz="1500" b="0" i="0">
                <a:solidFill>
                  <a:srgbClr val="F28C28"/>
                </a:solidFill>
                <a:latin typeface="Consolas"/>
              </a:rPr>
              <a:t>String</a:t>
            </a:r>
            <a:r>
              <a:rPr sz="1500" b="0" i="0">
                <a:solidFill>
                  <a:srgbClr val="E3E9F4"/>
                </a:solidFill>
                <a:latin typeface="Consolas"/>
              </a:rPr>
              <a:t> </a:t>
            </a:r>
            <a:r>
              <a:rPr sz="1500" b="0" i="0">
                <a:solidFill>
                  <a:srgbClr val="E3E9F4"/>
                </a:solidFill>
                <a:latin typeface="Consolas"/>
              </a:rPr>
              <a:t>nom</a:t>
            </a:r>
            <a:r>
              <a:rPr sz="1500" b="0" i="0">
                <a:solidFill>
                  <a:srgbClr val="E3E9F4"/>
                </a:solidFill>
                <a:latin typeface="Consolas"/>
              </a:rPr>
              <a:t>,</a:t>
            </a:r>
            <a:r>
              <a:rPr sz="1500" b="0" i="0">
                <a:solidFill>
                  <a:srgbClr val="E3E9F4"/>
                </a:solidFill>
                <a:latin typeface="Consolas"/>
              </a:rPr>
              <a:t> </a:t>
            </a:r>
            <a:r>
              <a:rPr sz="1500" b="0" i="0">
                <a:solidFill>
                  <a:srgbClr val="F28C28"/>
                </a:solidFill>
                <a:latin typeface="Consolas"/>
              </a:rPr>
              <a:t>double</a:t>
            </a:r>
            <a:r>
              <a:rPr sz="1500" b="0" i="0">
                <a:solidFill>
                  <a:srgbClr val="E3E9F4"/>
                </a:solidFill>
                <a:latin typeface="Consolas"/>
              </a:rPr>
              <a:t> </a:t>
            </a:r>
            <a:r>
              <a:rPr sz="1500" b="0" i="0">
                <a:solidFill>
                  <a:srgbClr val="E3E9F4"/>
                </a:solidFill>
                <a:latin typeface="Consolas"/>
              </a:rPr>
              <a:t>moyenne</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setNom</a:t>
            </a:r>
            <a:r>
              <a:rPr sz="1500" b="0" i="0">
                <a:solidFill>
                  <a:srgbClr val="E3E9F4"/>
                </a:solidFill>
                <a:latin typeface="Consolas"/>
              </a:rPr>
              <a:t>(</a:t>
            </a:r>
            <a:r>
              <a:rPr sz="1500" b="0" i="0">
                <a:solidFill>
                  <a:srgbClr val="E3E9F4"/>
                </a:solidFill>
                <a:latin typeface="Consolas"/>
              </a:rPr>
              <a:t>nom</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setMoyenne</a:t>
            </a:r>
            <a:r>
              <a:rPr sz="1500" b="0" i="0">
                <a:solidFill>
                  <a:srgbClr val="E3E9F4"/>
                </a:solidFill>
                <a:latin typeface="Consolas"/>
              </a:rPr>
              <a:t>(</a:t>
            </a:r>
            <a:r>
              <a:rPr sz="1500" b="0" i="0">
                <a:solidFill>
                  <a:srgbClr val="E3E9F4"/>
                </a:solidFill>
                <a:latin typeface="Consolas"/>
              </a:rPr>
              <a:t>moyenne</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public</a:t>
            </a:r>
            <a:r>
              <a:rPr sz="1500" b="0" i="0">
                <a:solidFill>
                  <a:srgbClr val="E3E9F4"/>
                </a:solidFill>
                <a:latin typeface="Consolas"/>
              </a:rPr>
              <a:t> </a:t>
            </a:r>
            <a:r>
              <a:rPr sz="1500" b="0" i="0">
                <a:solidFill>
                  <a:srgbClr val="F28C28"/>
                </a:solidFill>
                <a:latin typeface="Consolas"/>
              </a:rPr>
              <a:t>void</a:t>
            </a:r>
            <a:r>
              <a:rPr sz="1500" b="0" i="0">
                <a:solidFill>
                  <a:srgbClr val="E3E9F4"/>
                </a:solidFill>
                <a:latin typeface="Consolas"/>
              </a:rPr>
              <a:t> </a:t>
            </a:r>
            <a:r>
              <a:rPr sz="1500" b="0" i="0">
                <a:solidFill>
                  <a:srgbClr val="E3E9F4"/>
                </a:solidFill>
                <a:latin typeface="Consolas"/>
              </a:rPr>
              <a:t>setMoyenne</a:t>
            </a:r>
            <a:r>
              <a:rPr sz="1500" b="0" i="0">
                <a:solidFill>
                  <a:srgbClr val="E3E9F4"/>
                </a:solidFill>
                <a:latin typeface="Consolas"/>
              </a:rPr>
              <a:t>(</a:t>
            </a:r>
            <a:r>
              <a:rPr sz="1500" b="0" i="0">
                <a:solidFill>
                  <a:srgbClr val="F28C28"/>
                </a:solidFill>
                <a:latin typeface="Consolas"/>
              </a:rPr>
              <a:t>double</a:t>
            </a:r>
            <a:r>
              <a:rPr sz="1500" b="0" i="0">
                <a:solidFill>
                  <a:srgbClr val="E3E9F4"/>
                </a:solidFill>
                <a:latin typeface="Consolas"/>
              </a:rPr>
              <a:t> </a:t>
            </a:r>
            <a:r>
              <a:rPr sz="1500" b="0" i="0">
                <a:solidFill>
                  <a:srgbClr val="E3E9F4"/>
                </a:solidFill>
                <a:latin typeface="Consolas"/>
              </a:rPr>
              <a:t>moyenne</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if</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moyenne</a:t>
            </a:r>
            <a:r>
              <a:rPr sz="1500" b="0" i="0">
                <a:solidFill>
                  <a:srgbClr val="E3E9F4"/>
                </a:solidFill>
                <a:latin typeface="Consolas"/>
              </a:rPr>
              <a:t> </a:t>
            </a:r>
            <a:r>
              <a:rPr sz="1500" b="0" i="0">
                <a:solidFill>
                  <a:srgbClr val="E3E9F4"/>
                </a:solidFill>
                <a:latin typeface="Consolas"/>
              </a:rPr>
              <a:t>&lt;</a:t>
            </a:r>
            <a:r>
              <a:rPr sz="1500" b="0" i="0">
                <a:solidFill>
                  <a:srgbClr val="E3E9F4"/>
                </a:solidFill>
                <a:latin typeface="Consolas"/>
              </a:rPr>
              <a:t> </a:t>
            </a:r>
            <a:r>
              <a:rPr sz="1500" b="0" i="0">
                <a:solidFill>
                  <a:srgbClr val="E8C54A"/>
                </a:solidFill>
                <a:latin typeface="Consolas"/>
              </a:rPr>
              <a:t>0</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moyenne</a:t>
            </a:r>
            <a:r>
              <a:rPr sz="1500" b="0" i="0">
                <a:solidFill>
                  <a:srgbClr val="E3E9F4"/>
                </a:solidFill>
                <a:latin typeface="Consolas"/>
              </a:rPr>
              <a:t> </a:t>
            </a:r>
            <a:r>
              <a:rPr sz="1500" b="0" i="0">
                <a:solidFill>
                  <a:srgbClr val="E3E9F4"/>
                </a:solidFill>
                <a:latin typeface="Consolas"/>
              </a:rPr>
              <a:t>&gt;</a:t>
            </a:r>
            <a:r>
              <a:rPr sz="1500" b="0" i="0">
                <a:solidFill>
                  <a:srgbClr val="E3E9F4"/>
                </a:solidFill>
                <a:latin typeface="Consolas"/>
              </a:rPr>
              <a:t> </a:t>
            </a:r>
            <a:r>
              <a:rPr sz="1500" b="0" i="0">
                <a:solidFill>
                  <a:srgbClr val="E8C54A"/>
                </a:solidFill>
                <a:latin typeface="Consolas"/>
              </a:rPr>
              <a:t>20</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throw</a:t>
            </a:r>
            <a:r>
              <a:rPr sz="1500" b="0" i="0">
                <a:solidFill>
                  <a:srgbClr val="E3E9F4"/>
                </a:solidFill>
                <a:latin typeface="Consolas"/>
              </a:rPr>
              <a:t> </a:t>
            </a:r>
            <a:r>
              <a:rPr sz="1500" b="0" i="0">
                <a:solidFill>
                  <a:srgbClr val="F28C28"/>
                </a:solidFill>
                <a:latin typeface="Consolas"/>
              </a:rPr>
              <a:t>new</a:t>
            </a:r>
            <a:r>
              <a:rPr sz="1500" b="0" i="0">
                <a:solidFill>
                  <a:srgbClr val="E3E9F4"/>
                </a:solidFill>
                <a:latin typeface="Consolas"/>
              </a:rPr>
              <a:t> </a:t>
            </a:r>
            <a:r>
              <a:rPr sz="1500" b="0" i="0">
                <a:solidFill>
                  <a:srgbClr val="35C7E0"/>
                </a:solidFill>
                <a:latin typeface="Consolas"/>
              </a:rPr>
              <a:t>IllegalArgumentException</a:t>
            </a:r>
            <a:r>
              <a:rPr sz="1500" b="0" i="0">
                <a:solidFill>
                  <a:srgbClr val="E3E9F4"/>
                </a:solidFill>
                <a:latin typeface="Consolas"/>
              </a:rPr>
              <a:t>(</a:t>
            </a:r>
            <a:r>
              <a:rPr sz="1500" b="0" i="0">
                <a:solidFill>
                  <a:srgbClr val="33C984"/>
                </a:solidFill>
                <a:latin typeface="Consolas"/>
              </a:rPr>
              <a:t>"Moyenne invalide"</a:t>
            </a:r>
            <a:r>
              <a:rPr sz="1500" b="0" i="0">
                <a:solidFill>
                  <a:srgbClr val="E3E9F4"/>
                </a:solidFill>
                <a:latin typeface="Consolas"/>
              </a:rPr>
              <a:t>)</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F28C28"/>
                </a:solidFill>
                <a:latin typeface="Consolas"/>
              </a:rPr>
              <a:t>this</a:t>
            </a:r>
            <a:r>
              <a:rPr sz="1500" b="0" i="0">
                <a:solidFill>
                  <a:srgbClr val="E3E9F4"/>
                </a:solidFill>
                <a:latin typeface="Consolas"/>
              </a:rPr>
              <a:t>.</a:t>
            </a:r>
            <a:r>
              <a:rPr sz="1500" b="0" i="0">
                <a:solidFill>
                  <a:srgbClr val="E3E9F4"/>
                </a:solidFill>
                <a:latin typeface="Consolas"/>
              </a:rPr>
              <a:t>moyenne</a:t>
            </a:r>
            <a:r>
              <a:rPr sz="1500" b="0" i="0">
                <a:solidFill>
                  <a:srgbClr val="E3E9F4"/>
                </a:solidFill>
                <a:latin typeface="Consolas"/>
              </a:rPr>
              <a:t> </a:t>
            </a:r>
            <a:r>
              <a:rPr sz="1500" b="0" i="0">
                <a:solidFill>
                  <a:srgbClr val="E3E9F4"/>
                </a:solidFill>
                <a:latin typeface="Consolas"/>
              </a:rPr>
              <a:t>=</a:t>
            </a:r>
            <a:r>
              <a:rPr sz="1500" b="0" i="0">
                <a:solidFill>
                  <a:srgbClr val="E3E9F4"/>
                </a:solidFill>
                <a:latin typeface="Consolas"/>
              </a:rPr>
              <a:t> </a:t>
            </a:r>
            <a:r>
              <a:rPr sz="1500" b="0" i="0">
                <a:solidFill>
                  <a:srgbClr val="E3E9F4"/>
                </a:solidFill>
                <a:latin typeface="Consolas"/>
              </a:rPr>
              <a:t>moyenne</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a:t>
            </a:r>
          </a:p>
          <a:p>
            <a:pPr algn="l">
              <a:lnSpc>
                <a:spcPct val="115000"/>
              </a:lnSpc>
              <a:spcAft>
                <a:spcPts val="200"/>
              </a:spcAft>
              <a:buNone/>
            </a:pP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E3E9F4"/>
                </a:solidFill>
                <a:latin typeface="Consolas"/>
              </a:rPr>
              <a:t> </a:t>
            </a:r>
            <a:r>
              <a:rPr sz="1500" b="0" i="0">
                <a:solidFill>
                  <a:srgbClr val="5C6A87"/>
                </a:solidFill>
                <a:latin typeface="Consolas"/>
              </a:rPr>
              <a:t>// ...</a:t>
            </a:r>
          </a:p>
          <a:p>
            <a:pPr algn="l">
              <a:lnSpc>
                <a:spcPct val="115000"/>
              </a:lnSpc>
              <a:spcAft>
                <a:spcPts val="200"/>
              </a:spcAft>
              <a:buNone/>
            </a:pPr>
            <a:r>
              <a:rPr sz="1500" b="0" i="0">
                <a:solidFill>
                  <a:srgbClr val="E3E9F4"/>
                </a:solidFill>
                <a:latin typeface="Consolas"/>
              </a:rPr>
              <a:t>}</a:t>
            </a:r>
          </a:p>
        </p:txBody>
      </p:sp>
      <p:sp>
        <p:nvSpPr>
          <p:cNvPr id="8" name="TextBox 7"/>
          <p:cNvSpPr txBox="1"/>
          <p:nvPr/>
        </p:nvSpPr>
        <p:spPr>
          <a:xfrm>
            <a:off x="6278728" y="1508760"/>
            <a:ext cx="5272888" cy="4800600"/>
          </a:xfrm>
          <a:prstGeom prst="rect">
            <a:avLst/>
          </a:prstGeom>
          <a:noFill/>
        </p:spPr>
        <p:txBody>
          <a:bodyPr wrap="square" anchor="t" lIns="0" rIns="0" tIns="0" bIns="0">
            <a:spAutoFit/>
          </a:bodyPr>
          <a:lstStyle/>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Le constructeur réutilise les setters — aucune validation contournée (Module 7)</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Toute la couche DAO reprend l'EtudiantDAO du Module 29</a:t>
            </a:r>
          </a:p>
          <a:p>
            <a:pPr algn="l">
              <a:lnSpc>
                <a:spcPct val="115000"/>
              </a:lnSpc>
              <a:spcAft>
                <a:spcPts val="800"/>
              </a:spcAft>
              <a:buNone/>
            </a:pPr>
            <a:r>
              <a:rPr sz="1500" b="1" i="0">
                <a:solidFill>
                  <a:srgbClr val="F28C28"/>
                </a:solidFill>
                <a:latin typeface="Segoe UI"/>
              </a:rPr>
              <a:t>›  </a:t>
            </a:r>
            <a:r>
              <a:rPr sz="1500" b="0" i="0">
                <a:solidFill>
                  <a:srgbClr val="ECF0F7"/>
                </a:solidFill>
                <a:latin typeface="Segoe UI"/>
              </a:rPr>
              <a:t>Le Service orchestre : par exemple, refuser une inscription si l'étudiant existe déjà</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30 — Projet complet — Système de gestion des étudiants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204</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33C984"/>
                </a:solidFill>
                <a:latin typeface="Segoe UI"/>
              </a:rPr>
              <a:t>MODULE 30 — PROJET GUIDÉ</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Construire le projet ensemble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10911535" cy="2011680"/>
          </a:xfrm>
          <a:prstGeom prst="rect">
            <a:avLst/>
          </a:prstGeom>
          <a:solidFill>
            <a:srgbClr val="121C32"/>
          </a:solidFill>
          <a:ln w="15875">
            <a:solidFill>
              <a:srgbClr val="33C9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91440" cy="2011680"/>
          </a:xfrm>
          <a:prstGeom prst="rect">
            <a:avLst/>
          </a:prstGeom>
          <a:solidFill>
            <a:srgbClr val="33C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10180015" cy="1554480"/>
          </a:xfrm>
          <a:prstGeom prst="rect">
            <a:avLst/>
          </a:prstGeom>
          <a:noFill/>
        </p:spPr>
        <p:txBody>
          <a:bodyPr wrap="square" anchor="t" lIns="0" rIns="0" tIns="0" bIns="0">
            <a:spAutoFit/>
          </a:bodyPr>
          <a:lstStyle/>
          <a:p>
            <a:pPr algn="l">
              <a:lnSpc>
                <a:spcPct val="130000"/>
              </a:lnSpc>
              <a:spcBef>
                <a:spcPts val="0"/>
              </a:spcBef>
              <a:spcAft>
                <a:spcPts val="0"/>
              </a:spcAft>
              <a:buNone/>
            </a:pPr>
            <a:r>
              <a:rPr sz="1900" b="0" i="0">
                <a:solidFill>
                  <a:srgbClr val="ECF0F7"/>
                </a:solidFill>
                <a:latin typeface="Segoe UI"/>
              </a:rPr>
              <a:t>En binôme : construisez Etudiant (modèle encapsulé), EtudiantDAO (CRUD complet JDBC), et un petit menu texte dans main() qui appelle ajouter/lister/supprimer.</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30 — Projet complet — Système de gestion des étudiants</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MODULE 30</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À retenir</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Ce projet mobilise l'ensemble du cours : POO fondamentale + architecture + JDBC</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Une bonne architecture rend chaque couche remplaçable sans casser les autres</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MODULE 30 — Projet complet — Système de gestion des étudiants</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206</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TRAVAUX PRATIQUES</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TP 1 à 9</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Neuf travaux pratiques progressifs, du plus simple au plus complet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TP 1</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Classe Personne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640080"/>
          </a:xfrm>
          <a:prstGeom prst="rect">
            <a:avLst/>
          </a:prstGeom>
          <a:noFill/>
        </p:spPr>
        <p:txBody>
          <a:bodyPr wrap="square" anchor="t" lIns="0" rIns="0" tIns="0" bIns="0">
            <a:spAutoFit/>
          </a:bodyPr>
          <a:lstStyle/>
          <a:p>
            <a:pPr algn="l">
              <a:lnSpc>
                <a:spcPct val="120000"/>
              </a:lnSpc>
              <a:spcBef>
                <a:spcPts val="0"/>
              </a:spcBef>
              <a:spcAft>
                <a:spcPts val="0"/>
              </a:spcAft>
              <a:buNone/>
            </a:pPr>
            <a:r>
              <a:rPr sz="1700" b="0" i="1">
                <a:solidFill>
                  <a:srgbClr val="35C7E0"/>
                </a:solidFill>
                <a:latin typeface="Segoe UI"/>
              </a:rPr>
              <a:t>Modéliser un objet simple avec attributs et méthode d'affichage.</a:t>
            </a:r>
          </a:p>
        </p:txBody>
      </p:sp>
      <p:sp>
        <p:nvSpPr>
          <p:cNvPr id="7" name="TextBox 6"/>
          <p:cNvSpPr txBox="1"/>
          <p:nvPr/>
        </p:nvSpPr>
        <p:spPr>
          <a:xfrm>
            <a:off x="640080" y="2194560"/>
            <a:ext cx="10911535" cy="2377440"/>
          </a:xfrm>
          <a:prstGeom prst="rect">
            <a:avLst/>
          </a:prstGeom>
          <a:noFill/>
        </p:spPr>
        <p:txBody>
          <a:bodyPr wrap="square" anchor="t" lIns="0" rIns="0" tIns="0" bIns="0">
            <a:spAutoFit/>
          </a:bodyPr>
          <a:lstStyle/>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Attributs nom, age</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Méthode afficherInformations()</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Créer 2 objets et les afficher</a:t>
            </a:r>
          </a:p>
        </p:txBody>
      </p:sp>
      <p:sp>
        <p:nvSpPr>
          <p:cNvPr id="8" name="TextBox 7"/>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buNone/>
            </a:pPr>
            <a:r>
              <a:rPr sz="1250" b="0" i="1">
                <a:solidFill>
                  <a:srgbClr val="5C6A87"/>
                </a:solidFill>
                <a:latin typeface="Segoe UI"/>
              </a:rPr>
              <a:t>Notions mobilisées : Modules 3-5</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208</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TP 2</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Classe Etudiant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640080"/>
          </a:xfrm>
          <a:prstGeom prst="rect">
            <a:avLst/>
          </a:prstGeom>
          <a:noFill/>
        </p:spPr>
        <p:txBody>
          <a:bodyPr wrap="square" anchor="t" lIns="0" rIns="0" tIns="0" bIns="0">
            <a:spAutoFit/>
          </a:bodyPr>
          <a:lstStyle/>
          <a:p>
            <a:pPr algn="l">
              <a:lnSpc>
                <a:spcPct val="120000"/>
              </a:lnSpc>
              <a:spcBef>
                <a:spcPts val="0"/>
              </a:spcBef>
              <a:spcAft>
                <a:spcPts val="0"/>
              </a:spcAft>
              <a:buNone/>
            </a:pPr>
            <a:r>
              <a:rPr sz="1700" b="0" i="1">
                <a:solidFill>
                  <a:srgbClr val="35C7E0"/>
                </a:solidFill>
                <a:latin typeface="Segoe UI"/>
              </a:rPr>
              <a:t>Ajouter constructeur et encapsulation à une classe.</a:t>
            </a:r>
          </a:p>
        </p:txBody>
      </p:sp>
      <p:sp>
        <p:nvSpPr>
          <p:cNvPr id="7" name="TextBox 6"/>
          <p:cNvSpPr txBox="1"/>
          <p:nvPr/>
        </p:nvSpPr>
        <p:spPr>
          <a:xfrm>
            <a:off x="640080" y="2194560"/>
            <a:ext cx="10911535" cy="2377440"/>
          </a:xfrm>
          <a:prstGeom prst="rect">
            <a:avLst/>
          </a:prstGeom>
          <a:noFill/>
        </p:spPr>
        <p:txBody>
          <a:bodyPr wrap="square" anchor="t" lIns="0" rIns="0" tIns="0" bIns="0">
            <a:spAutoFit/>
          </a:bodyPr>
          <a:lstStyle/>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Attributs privés nom, age, moyenne</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Constructeur qui valide (moyenne entre 0 et 20)</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Getters/setters</a:t>
            </a:r>
          </a:p>
        </p:txBody>
      </p:sp>
      <p:sp>
        <p:nvSpPr>
          <p:cNvPr id="8" name="TextBox 7"/>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buNone/>
            </a:pPr>
            <a:r>
              <a:rPr sz="1250" b="0" i="1">
                <a:solidFill>
                  <a:srgbClr val="5C6A87"/>
                </a:solidFill>
                <a:latin typeface="Segoe UI"/>
              </a:rPr>
              <a:t>Notions mobilisées : Modules 6-7</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209</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TP 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Gestion des comptes bancaires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640080"/>
          </a:xfrm>
          <a:prstGeom prst="rect">
            <a:avLst/>
          </a:prstGeom>
          <a:noFill/>
        </p:spPr>
        <p:txBody>
          <a:bodyPr wrap="square" anchor="t" lIns="0" rIns="0" tIns="0" bIns="0">
            <a:spAutoFit/>
          </a:bodyPr>
          <a:lstStyle/>
          <a:p>
            <a:pPr algn="l">
              <a:lnSpc>
                <a:spcPct val="120000"/>
              </a:lnSpc>
              <a:spcBef>
                <a:spcPts val="0"/>
              </a:spcBef>
              <a:spcAft>
                <a:spcPts val="0"/>
              </a:spcAft>
              <a:buNone/>
            </a:pPr>
            <a:r>
              <a:rPr sz="1700" b="0" i="1">
                <a:solidFill>
                  <a:srgbClr val="35C7E0"/>
                </a:solidFill>
                <a:latin typeface="Segoe UI"/>
              </a:rPr>
              <a:t>Appliquer l'encapsulation à un cas métier réaliste.</a:t>
            </a:r>
          </a:p>
        </p:txBody>
      </p:sp>
      <p:sp>
        <p:nvSpPr>
          <p:cNvPr id="7" name="TextBox 6"/>
          <p:cNvSpPr txBox="1"/>
          <p:nvPr/>
        </p:nvSpPr>
        <p:spPr>
          <a:xfrm>
            <a:off x="640080" y="2194560"/>
            <a:ext cx="10911535" cy="2377440"/>
          </a:xfrm>
          <a:prstGeom prst="rect">
            <a:avLst/>
          </a:prstGeom>
          <a:noFill/>
        </p:spPr>
        <p:txBody>
          <a:bodyPr wrap="square" anchor="t" lIns="0" rIns="0" tIns="0" bIns="0">
            <a:spAutoFit/>
          </a:bodyPr>
          <a:lstStyle/>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Classe CompteBancaire (titulaire, solde privé)</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deposer(), retirer() avec règles métier</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Refuser un retrait supérieur au solde</a:t>
            </a:r>
          </a:p>
        </p:txBody>
      </p:sp>
      <p:sp>
        <p:nvSpPr>
          <p:cNvPr id="8" name="TextBox 7"/>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buNone/>
            </a:pPr>
            <a:r>
              <a:rPr sz="1250" b="0" i="1">
                <a:solidFill>
                  <a:srgbClr val="5C6A87"/>
                </a:solidFill>
                <a:latin typeface="Segoe UI"/>
              </a:rPr>
              <a:t>Notions mobilisées : Modules 6-7-19</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210</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TP 4</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Héritage avec Animal</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640080"/>
          </a:xfrm>
          <a:prstGeom prst="rect">
            <a:avLst/>
          </a:prstGeom>
          <a:noFill/>
        </p:spPr>
        <p:txBody>
          <a:bodyPr wrap="square" anchor="t" lIns="0" rIns="0" tIns="0" bIns="0">
            <a:spAutoFit/>
          </a:bodyPr>
          <a:lstStyle/>
          <a:p>
            <a:pPr algn="l">
              <a:lnSpc>
                <a:spcPct val="120000"/>
              </a:lnSpc>
              <a:spcBef>
                <a:spcPts val="0"/>
              </a:spcBef>
              <a:spcAft>
                <a:spcPts val="0"/>
              </a:spcAft>
              <a:buNone/>
            </a:pPr>
            <a:r>
              <a:rPr sz="1700" b="0" i="1">
                <a:solidFill>
                  <a:srgbClr val="35C7E0"/>
                </a:solidFill>
                <a:latin typeface="Segoe UI"/>
              </a:rPr>
              <a:t>Construire une hiérarchie de classes avec extends.</a:t>
            </a:r>
          </a:p>
        </p:txBody>
      </p:sp>
      <p:sp>
        <p:nvSpPr>
          <p:cNvPr id="7" name="TextBox 6"/>
          <p:cNvSpPr txBox="1"/>
          <p:nvPr/>
        </p:nvSpPr>
        <p:spPr>
          <a:xfrm>
            <a:off x="640080" y="2194560"/>
            <a:ext cx="10911535" cy="2377440"/>
          </a:xfrm>
          <a:prstGeom prst="rect">
            <a:avLst/>
          </a:prstGeom>
          <a:noFill/>
        </p:spPr>
        <p:txBody>
          <a:bodyPr wrap="square" anchor="t" lIns="0" rIns="0" tIns="0" bIns="0">
            <a:spAutoFit/>
          </a:bodyPr>
          <a:lstStyle/>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Classe mère Animal (nom, manger())</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Classes filles Chien, Chat avec méthodes propres</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Utiliser super() et @Override</a:t>
            </a:r>
          </a:p>
        </p:txBody>
      </p:sp>
      <p:sp>
        <p:nvSpPr>
          <p:cNvPr id="8" name="TextBox 7"/>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buNone/>
            </a:pPr>
            <a:r>
              <a:rPr sz="1250" b="0" i="1">
                <a:solidFill>
                  <a:srgbClr val="5C6A87"/>
                </a:solidFill>
                <a:latin typeface="Segoe UI"/>
              </a:rPr>
              <a:t>Notions mobilisées : Modules 10-11</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211</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TP 5</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Polymorphisme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640080"/>
          </a:xfrm>
          <a:prstGeom prst="rect">
            <a:avLst/>
          </a:prstGeom>
          <a:noFill/>
        </p:spPr>
        <p:txBody>
          <a:bodyPr wrap="square" anchor="t" lIns="0" rIns="0" tIns="0" bIns="0">
            <a:spAutoFit/>
          </a:bodyPr>
          <a:lstStyle/>
          <a:p>
            <a:pPr algn="l">
              <a:lnSpc>
                <a:spcPct val="120000"/>
              </a:lnSpc>
              <a:spcBef>
                <a:spcPts val="0"/>
              </a:spcBef>
              <a:spcAft>
                <a:spcPts val="0"/>
              </a:spcAft>
              <a:buNone/>
            </a:pPr>
            <a:r>
              <a:rPr sz="1700" b="0" i="1">
                <a:solidFill>
                  <a:srgbClr val="35C7E0"/>
                </a:solidFill>
                <a:latin typeface="Segoe UI"/>
              </a:rPr>
              <a:t>Manipuler un tableau d'objets de types différents avec un seul comportement.</a:t>
            </a:r>
          </a:p>
        </p:txBody>
      </p:sp>
      <p:sp>
        <p:nvSpPr>
          <p:cNvPr id="7" name="TextBox 6"/>
          <p:cNvSpPr txBox="1"/>
          <p:nvPr/>
        </p:nvSpPr>
        <p:spPr>
          <a:xfrm>
            <a:off x="640080" y="2194560"/>
            <a:ext cx="10911535" cy="2377440"/>
          </a:xfrm>
          <a:prstGeom prst="rect">
            <a:avLst/>
          </a:prstGeom>
          <a:noFill/>
        </p:spPr>
        <p:txBody>
          <a:bodyPr wrap="square" anchor="t" lIns="0" rIns="0" tIns="0" bIns="0">
            <a:spAutoFit/>
          </a:bodyPr>
          <a:lstStyle/>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Réutiliser la hiérarchie du TP 4</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Tableau Animal[] mêlant Chien et Chat</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Une seule boucle qui appelle une méthode redéfinie</a:t>
            </a:r>
          </a:p>
        </p:txBody>
      </p:sp>
      <p:sp>
        <p:nvSpPr>
          <p:cNvPr id="8" name="TextBox 7"/>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buNone/>
            </a:pPr>
            <a:r>
              <a:rPr sz="1250" b="0" i="1">
                <a:solidFill>
                  <a:srgbClr val="5C6A87"/>
                </a:solidFill>
                <a:latin typeface="Segoe UI"/>
              </a:rPr>
              <a:t>Notions mobilisées : Module 12</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212</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TP 6</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Système de gestion d'une bibliothèque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640080"/>
          </a:xfrm>
          <a:prstGeom prst="rect">
            <a:avLst/>
          </a:prstGeom>
          <a:noFill/>
        </p:spPr>
        <p:txBody>
          <a:bodyPr wrap="square" anchor="t" lIns="0" rIns="0" tIns="0" bIns="0">
            <a:spAutoFit/>
          </a:bodyPr>
          <a:lstStyle/>
          <a:p>
            <a:pPr algn="l">
              <a:lnSpc>
                <a:spcPct val="120000"/>
              </a:lnSpc>
              <a:spcBef>
                <a:spcPts val="0"/>
              </a:spcBef>
              <a:spcAft>
                <a:spcPts val="0"/>
              </a:spcAft>
              <a:buNone/>
            </a:pPr>
            <a:r>
              <a:rPr sz="1700" b="0" i="1">
                <a:solidFill>
                  <a:srgbClr val="35C7E0"/>
                </a:solidFill>
                <a:latin typeface="Segoe UI"/>
              </a:rPr>
              <a:t>Faire collaborer plusieurs classes : Livre, Membre, Emprunt.</a:t>
            </a:r>
          </a:p>
        </p:txBody>
      </p:sp>
      <p:sp>
        <p:nvSpPr>
          <p:cNvPr id="7" name="TextBox 6"/>
          <p:cNvSpPr txBox="1"/>
          <p:nvPr/>
        </p:nvSpPr>
        <p:spPr>
          <a:xfrm>
            <a:off x="640080" y="2194560"/>
            <a:ext cx="10911535" cy="2377440"/>
          </a:xfrm>
          <a:prstGeom prst="rect">
            <a:avLst/>
          </a:prstGeom>
          <a:noFill/>
        </p:spPr>
        <p:txBody>
          <a:bodyPr wrap="square" anchor="t" lIns="0" rIns="0" tIns="0" bIns="0">
            <a:spAutoFit/>
          </a:bodyPr>
          <a:lstStyle/>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Classe Livre (titre, disponible)</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Classe Membre (nom, liste d'emprunts)</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Emprunter/retourner avec mise à jour de disponible</a:t>
            </a:r>
          </a:p>
        </p:txBody>
      </p:sp>
      <p:sp>
        <p:nvSpPr>
          <p:cNvPr id="8" name="TextBox 7"/>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buNone/>
            </a:pPr>
            <a:r>
              <a:rPr sz="1250" b="0" i="1">
                <a:solidFill>
                  <a:srgbClr val="5C6A87"/>
                </a:solidFill>
                <a:latin typeface="Segoe UI"/>
              </a:rPr>
              <a:t>Notions mobilisées : Modules 15-16</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213</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TP 7</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Gestion d'une entreprise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640080"/>
          </a:xfrm>
          <a:prstGeom prst="rect">
            <a:avLst/>
          </a:prstGeom>
          <a:noFill/>
        </p:spPr>
        <p:txBody>
          <a:bodyPr wrap="square" anchor="t" lIns="0" rIns="0" tIns="0" bIns="0">
            <a:spAutoFit/>
          </a:bodyPr>
          <a:lstStyle/>
          <a:p>
            <a:pPr algn="l">
              <a:lnSpc>
                <a:spcPct val="120000"/>
              </a:lnSpc>
              <a:spcBef>
                <a:spcPts val="0"/>
              </a:spcBef>
              <a:spcAft>
                <a:spcPts val="0"/>
              </a:spcAft>
              <a:buNone/>
            </a:pPr>
            <a:r>
              <a:rPr sz="1700" b="0" i="1">
                <a:solidFill>
                  <a:srgbClr val="35C7E0"/>
                </a:solidFill>
                <a:latin typeface="Segoe UI"/>
              </a:rPr>
              <a:t>Modéliser produits, ventes et stock avec collections.</a:t>
            </a:r>
          </a:p>
        </p:txBody>
      </p:sp>
      <p:sp>
        <p:nvSpPr>
          <p:cNvPr id="7" name="TextBox 6"/>
          <p:cNvSpPr txBox="1"/>
          <p:nvPr/>
        </p:nvSpPr>
        <p:spPr>
          <a:xfrm>
            <a:off x="640080" y="2194560"/>
            <a:ext cx="10911535" cy="2377440"/>
          </a:xfrm>
          <a:prstGeom prst="rect">
            <a:avLst/>
          </a:prstGeom>
          <a:noFill/>
        </p:spPr>
        <p:txBody>
          <a:bodyPr wrap="square" anchor="t" lIns="0" rIns="0" tIns="0" bIns="0">
            <a:spAutoFit/>
          </a:bodyPr>
          <a:lstStyle/>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Classe Produit (nom, prix, stock)</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HashMap&lt;String, Produit&gt; pour le catalogue</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Vente qui décrémente le stock, refuse si insuffisant</a:t>
            </a:r>
          </a:p>
        </p:txBody>
      </p:sp>
      <p:sp>
        <p:nvSpPr>
          <p:cNvPr id="8" name="TextBox 7"/>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buNone/>
            </a:pPr>
            <a:r>
              <a:rPr sz="1250" b="0" i="1">
                <a:solidFill>
                  <a:srgbClr val="5C6A87"/>
                </a:solidFill>
                <a:latin typeface="Segoe UI"/>
              </a:rPr>
              <a:t>Notions mobilisées : Modules 19-20</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214</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TP 8</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DAO + MySQL</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640080"/>
          </a:xfrm>
          <a:prstGeom prst="rect">
            <a:avLst/>
          </a:prstGeom>
          <a:noFill/>
        </p:spPr>
        <p:txBody>
          <a:bodyPr wrap="square" anchor="t" lIns="0" rIns="0" tIns="0" bIns="0">
            <a:spAutoFit/>
          </a:bodyPr>
          <a:lstStyle/>
          <a:p>
            <a:pPr algn="l">
              <a:lnSpc>
                <a:spcPct val="120000"/>
              </a:lnSpc>
              <a:spcBef>
                <a:spcPts val="0"/>
              </a:spcBef>
              <a:spcAft>
                <a:spcPts val="0"/>
              </a:spcAft>
              <a:buNone/>
            </a:pPr>
            <a:r>
              <a:rPr sz="1700" b="0" i="1">
                <a:solidFill>
                  <a:srgbClr val="35C7E0"/>
                </a:solidFill>
                <a:latin typeface="Segoe UI"/>
              </a:rPr>
              <a:t>Connecter une classe métier à une vraie base de données.</a:t>
            </a:r>
          </a:p>
        </p:txBody>
      </p:sp>
      <p:sp>
        <p:nvSpPr>
          <p:cNvPr id="7" name="TextBox 6"/>
          <p:cNvSpPr txBox="1"/>
          <p:nvPr/>
        </p:nvSpPr>
        <p:spPr>
          <a:xfrm>
            <a:off x="640080" y="2194560"/>
            <a:ext cx="10911535" cy="2377440"/>
          </a:xfrm>
          <a:prstGeom prst="rect">
            <a:avLst/>
          </a:prstGeom>
          <a:noFill/>
        </p:spPr>
        <p:txBody>
          <a:bodyPr wrap="square" anchor="t" lIns="0" rIns="0" tIns="0" bIns="0">
            <a:spAutoFit/>
          </a:bodyPr>
          <a:lstStyle/>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Table SQL correspondant au modèle</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DAO complet (CRUD) avec PreparedStatement</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Tester chaque opération avec de vraies données</a:t>
            </a:r>
          </a:p>
        </p:txBody>
      </p:sp>
      <p:sp>
        <p:nvSpPr>
          <p:cNvPr id="8" name="TextBox 7"/>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buNone/>
            </a:pPr>
            <a:r>
              <a:rPr sz="1250" b="0" i="1">
                <a:solidFill>
                  <a:srgbClr val="5C6A87"/>
                </a:solidFill>
                <a:latin typeface="Segoe UI"/>
              </a:rPr>
              <a:t>Notions mobilisées : Modules 27-29</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215</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TP 9</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Application CRUD complète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640080"/>
          </a:xfrm>
          <a:prstGeom prst="rect">
            <a:avLst/>
          </a:prstGeom>
          <a:noFill/>
        </p:spPr>
        <p:txBody>
          <a:bodyPr wrap="square" anchor="t" lIns="0" rIns="0" tIns="0" bIns="0">
            <a:spAutoFit/>
          </a:bodyPr>
          <a:lstStyle/>
          <a:p>
            <a:pPr algn="l">
              <a:lnSpc>
                <a:spcPct val="120000"/>
              </a:lnSpc>
              <a:spcBef>
                <a:spcPts val="0"/>
              </a:spcBef>
              <a:spcAft>
                <a:spcPts val="0"/>
              </a:spcAft>
              <a:buNone/>
            </a:pPr>
            <a:r>
              <a:rPr sz="1700" b="0" i="1">
                <a:solidFill>
                  <a:srgbClr val="35C7E0"/>
                </a:solidFill>
                <a:latin typeface="Segoe UI"/>
              </a:rPr>
              <a:t>Assembler modèle, DAO et interface texte en une application fonctionnelle.</a:t>
            </a:r>
          </a:p>
        </p:txBody>
      </p:sp>
      <p:sp>
        <p:nvSpPr>
          <p:cNvPr id="7" name="TextBox 6"/>
          <p:cNvSpPr txBox="1"/>
          <p:nvPr/>
        </p:nvSpPr>
        <p:spPr>
          <a:xfrm>
            <a:off x="640080" y="2194560"/>
            <a:ext cx="10911535" cy="2377440"/>
          </a:xfrm>
          <a:prstGeom prst="rect">
            <a:avLst/>
          </a:prstGeom>
          <a:noFill/>
        </p:spPr>
        <p:txBody>
          <a:bodyPr wrap="square" anchor="t" lIns="0" rIns="0" tIns="0" bIns="0">
            <a:spAutoFit/>
          </a:bodyPr>
          <a:lstStyle/>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Menu console (ajouter/lister/modifier/supprimer)</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Toutes les opérations persistées en base</a:t>
            </a:r>
          </a:p>
          <a:p>
            <a:pPr algn="l">
              <a:lnSpc>
                <a:spcPct val="115000"/>
              </a:lnSpc>
              <a:spcAft>
                <a:spcPts val="800"/>
              </a:spcAft>
              <a:buNone/>
            </a:pPr>
            <a:r>
              <a:rPr sz="1650" b="1" i="0">
                <a:solidFill>
                  <a:srgbClr val="F28C28"/>
                </a:solidFill>
                <a:latin typeface="Segoe UI"/>
              </a:rPr>
              <a:t>›  </a:t>
            </a:r>
            <a:r>
              <a:rPr sz="1650" b="0" i="0">
                <a:solidFill>
                  <a:srgbClr val="ECF0F7"/>
                </a:solidFill>
                <a:latin typeface="Segoe UI"/>
              </a:rPr>
              <a:t>Gestion des exceptions à chaque étape (pas de crash)</a:t>
            </a:r>
          </a:p>
        </p:txBody>
      </p:sp>
      <p:sp>
        <p:nvSpPr>
          <p:cNvPr id="8" name="TextBox 7"/>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buNone/>
            </a:pPr>
            <a:r>
              <a:rPr sz="1250" b="0" i="1">
                <a:solidFill>
                  <a:srgbClr val="5C6A87"/>
                </a:solidFill>
                <a:latin typeface="Segoe UI"/>
              </a:rPr>
              <a:t>Notions mobilisées : Modules 26-30</a:t>
            </a:r>
          </a:p>
        </p:txBody>
      </p:sp>
      <p:sp>
        <p:nvSpPr>
          <p:cNvPr id="9" name="TextBox 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10" name="TextBox 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TRAVAUX PRATIQUES — TP 1 à 9</a:t>
            </a:r>
          </a:p>
        </p:txBody>
      </p:sp>
      <p:sp>
        <p:nvSpPr>
          <p:cNvPr id="11" name="TextBox 1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216</a:t>
            </a:r>
          </a:p>
        </p:txBody>
      </p:sp>
      <p:sp>
        <p:nvSpPr>
          <p:cNvPr id="12" name="Rectangle 1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PROJET FINAL</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Application de gestion</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Le projet capstone du cours — toutes les notions mobilisées ensemble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PROJET FINAL — Application de gestion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PROJET FINAL</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Fonctionnalités attendues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Étudiants, professeurs, classes, matières, inscriptions, notes, paiements (selon le domaine choisi)</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Architecture en couches complète : UI → Service → DAO → Base de données (Module 26)</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Persistance réelle en MySQL via JDBC et DAO (Modules 27-29)</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Gestion des erreurs par exceptions dédiées, jamais de crash brutal (Module 19)</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PROJET FINAL — Application de gestion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PROJET FINAL — EXEMPLE DU MANUEL</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Exemple illustratif : GestionCommerciale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Domaine : gestion commerciale (Client, Produit, Commande, Paiement — vu au Module 16)</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UI (menu console) → Controller → Service → DAO → Database, en couches strictement séparées</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Chaque couche ne connaît que sa voisine directe (Module 26)</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Le SQL vit exclusivement dans les DAO ; les règles métier vivent exclusivement dans les Service</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PROJET FINAL — Application de gestion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219</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PROJET FINAL</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Concepts obligatoirement mobilisés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Classes, objets, encapsulation, héritage, polymorphisme, interfaces (Modules 3-14)</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Collections (ArrayList/HashMap), exceptions personnalisées (Modules 19-20)</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Packages organisés par rôle (Module 18)</a:t>
            </a:r>
          </a:p>
          <a:p>
            <a:pPr algn="l">
              <a:lnSpc>
                <a:spcPct val="115000"/>
              </a:lnSpc>
              <a:spcAft>
                <a:spcPts val="800"/>
              </a:spcAft>
              <a:buNone/>
            </a:pPr>
            <a:r>
              <a:rPr sz="1700" b="1" i="0">
                <a:solidFill>
                  <a:srgbClr val="F28C28"/>
                </a:solidFill>
                <a:latin typeface="Segoe UI"/>
              </a:rPr>
              <a:t>›  </a:t>
            </a:r>
            <a:r>
              <a:rPr sz="1700" b="0" i="0">
                <a:solidFill>
                  <a:srgbClr val="ECF0F7"/>
                </a:solidFill>
                <a:latin typeface="Segoe UI"/>
              </a:rPr>
              <a:t>DAO, JDBC, MySQL (Modules 27-29)</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PROJET FINAL — Application de gestion</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220</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ANNEXE A</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Glossaire</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Les termes essentiels du cours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ANNEXE A — Glossaire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221</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GLOSSAIRE (1/3)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 – H</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5227168" cy="4800600"/>
          </a:xfrm>
          <a:prstGeom prst="rect">
            <a:avLst/>
          </a:prstGeom>
          <a:noFill/>
        </p:spPr>
        <p:txBody>
          <a:bodyPr wrap="square" anchor="t" lIns="0" rIns="0" tIns="0" bIns="0">
            <a:spAutoFit/>
          </a:bodyPr>
          <a:lstStyle/>
          <a:p>
            <a:pPr>
              <a:lnSpc>
                <a:spcPct val="110000"/>
              </a:lnSpc>
              <a:spcAft>
                <a:spcPts val="1000"/>
              </a:spcAft>
              <a:buNone/>
            </a:pPr>
            <a:r>
              <a:rPr sz="1350" b="1" i="0">
                <a:solidFill>
                  <a:srgbClr val="35C7E0"/>
                </a:solidFill>
                <a:latin typeface="Segoe UI"/>
              </a:rPr>
              <a:t>Abstraction — </a:t>
            </a:r>
            <a:r>
              <a:rPr sz="1300" b="0" i="0">
                <a:solidFill>
                  <a:srgbClr val="93A1BE"/>
                </a:solidFill>
                <a:latin typeface="Segoe UI"/>
              </a:rPr>
              <a:t>Définir ce qu'une classe doit faire sans imposer comment (Module 13).</a:t>
            </a:r>
          </a:p>
          <a:p>
            <a:pPr>
              <a:lnSpc>
                <a:spcPct val="110000"/>
              </a:lnSpc>
              <a:spcAft>
                <a:spcPts val="1000"/>
              </a:spcAft>
              <a:buNone/>
            </a:pPr>
            <a:r>
              <a:rPr sz="1350" b="1" i="0">
                <a:solidFill>
                  <a:srgbClr val="35C7E0"/>
                </a:solidFill>
                <a:latin typeface="Segoe UI"/>
              </a:rPr>
              <a:t>Agrégation — </a:t>
            </a:r>
            <a:r>
              <a:rPr sz="1300" b="0" i="0">
                <a:solidFill>
                  <a:srgbClr val="93A1BE"/>
                </a:solidFill>
                <a:latin typeface="Segoe UI"/>
              </a:rPr>
              <a:t>Un objet contient d'autres objets qui pourraient exister indépendamment (Module 15).</a:t>
            </a:r>
          </a:p>
          <a:p>
            <a:pPr>
              <a:lnSpc>
                <a:spcPct val="110000"/>
              </a:lnSpc>
              <a:spcAft>
                <a:spcPts val="1000"/>
              </a:spcAft>
              <a:buNone/>
            </a:pPr>
            <a:r>
              <a:rPr sz="1350" b="1" i="0">
                <a:solidFill>
                  <a:srgbClr val="35C7E0"/>
                </a:solidFill>
                <a:latin typeface="Segoe UI"/>
              </a:rPr>
              <a:t>Association — </a:t>
            </a:r>
            <a:r>
              <a:rPr sz="1300" b="0" i="0">
                <a:solidFill>
                  <a:srgbClr val="93A1BE"/>
                </a:solidFill>
                <a:latin typeface="Segoe UI"/>
              </a:rPr>
              <a:t>Deux objets se connaissent, mais existent chacun indépendamment (Module 15).</a:t>
            </a:r>
          </a:p>
          <a:p>
            <a:pPr>
              <a:lnSpc>
                <a:spcPct val="110000"/>
              </a:lnSpc>
              <a:spcAft>
                <a:spcPts val="1000"/>
              </a:spcAft>
              <a:buNone/>
            </a:pPr>
            <a:r>
              <a:rPr sz="1350" b="1" i="0">
                <a:solidFill>
                  <a:srgbClr val="35C7E0"/>
                </a:solidFill>
                <a:latin typeface="Segoe UI"/>
              </a:rPr>
              <a:t>Attribut — </a:t>
            </a:r>
            <a:r>
              <a:rPr sz="1300" b="0" i="0">
                <a:solidFill>
                  <a:srgbClr val="93A1BE"/>
                </a:solidFill>
                <a:latin typeface="Segoe UI"/>
              </a:rPr>
              <a:t>Une caractéristique (donnée) d'un objet (Module 3).</a:t>
            </a:r>
          </a:p>
          <a:p>
            <a:pPr>
              <a:lnSpc>
                <a:spcPct val="110000"/>
              </a:lnSpc>
              <a:spcAft>
                <a:spcPts val="1000"/>
              </a:spcAft>
              <a:buNone/>
            </a:pPr>
            <a:r>
              <a:rPr sz="1350" b="1" i="0">
                <a:solidFill>
                  <a:srgbClr val="35C7E0"/>
                </a:solidFill>
                <a:latin typeface="Segoe UI"/>
              </a:rPr>
              <a:t>Classe — </a:t>
            </a:r>
            <a:r>
              <a:rPr sz="1300" b="0" i="0">
                <a:solidFill>
                  <a:srgbClr val="93A1BE"/>
                </a:solidFill>
                <a:latin typeface="Segoe UI"/>
              </a:rPr>
              <a:t>Un plan/moule permettant de créer des objets (Module 3).</a:t>
            </a:r>
          </a:p>
          <a:p>
            <a:pPr>
              <a:lnSpc>
                <a:spcPct val="110000"/>
              </a:lnSpc>
              <a:spcAft>
                <a:spcPts val="1000"/>
              </a:spcAft>
              <a:buNone/>
            </a:pPr>
            <a:r>
              <a:rPr sz="1350" b="1" i="0">
                <a:solidFill>
                  <a:srgbClr val="35C7E0"/>
                </a:solidFill>
                <a:latin typeface="Segoe UI"/>
              </a:rPr>
              <a:t>Composition — </a:t>
            </a:r>
            <a:r>
              <a:rPr sz="1300" b="0" i="0">
                <a:solidFill>
                  <a:srgbClr val="93A1BE"/>
                </a:solidFill>
                <a:latin typeface="Segoe UI"/>
              </a:rPr>
              <a:t>Un objet crée et contient des objets qui n'ont aucun sens sans lui (Module 15).</a:t>
            </a:r>
          </a:p>
        </p:txBody>
      </p:sp>
      <p:sp>
        <p:nvSpPr>
          <p:cNvPr id="7" name="TextBox 6"/>
          <p:cNvSpPr txBox="1"/>
          <p:nvPr/>
        </p:nvSpPr>
        <p:spPr>
          <a:xfrm>
            <a:off x="6324448" y="1417320"/>
            <a:ext cx="5227168" cy="4800600"/>
          </a:xfrm>
          <a:prstGeom prst="rect">
            <a:avLst/>
          </a:prstGeom>
          <a:noFill/>
        </p:spPr>
        <p:txBody>
          <a:bodyPr wrap="square" anchor="t" lIns="0" rIns="0" tIns="0" bIns="0">
            <a:spAutoFit/>
          </a:bodyPr>
          <a:lstStyle/>
          <a:p>
            <a:pPr>
              <a:lnSpc>
                <a:spcPct val="110000"/>
              </a:lnSpc>
              <a:spcAft>
                <a:spcPts val="1000"/>
              </a:spcAft>
              <a:buNone/>
            </a:pPr>
            <a:r>
              <a:rPr sz="1350" b="1" i="0">
                <a:solidFill>
                  <a:srgbClr val="35C7E0"/>
                </a:solidFill>
                <a:latin typeface="Segoe UI"/>
              </a:rPr>
              <a:t>Constructeur — </a:t>
            </a:r>
            <a:r>
              <a:rPr sz="1300" b="0" i="0">
                <a:solidFill>
                  <a:srgbClr val="93A1BE"/>
                </a:solidFill>
                <a:latin typeface="Segoe UI"/>
              </a:rPr>
              <a:t>Méthode spéciale exécutée à chaque new, qui initialise un objet (Module 6).</a:t>
            </a:r>
          </a:p>
          <a:p>
            <a:pPr>
              <a:lnSpc>
                <a:spcPct val="110000"/>
              </a:lnSpc>
              <a:spcAft>
                <a:spcPts val="1000"/>
              </a:spcAft>
              <a:buNone/>
            </a:pPr>
            <a:r>
              <a:rPr sz="1350" b="1" i="0">
                <a:solidFill>
                  <a:srgbClr val="35C7E0"/>
                </a:solidFill>
                <a:latin typeface="Segoe UI"/>
              </a:rPr>
              <a:t>DAO — </a:t>
            </a:r>
            <a:r>
              <a:rPr sz="1300" b="0" i="0">
                <a:solidFill>
                  <a:srgbClr val="93A1BE"/>
                </a:solidFill>
                <a:latin typeface="Segoe UI"/>
              </a:rPr>
              <a:t>Data Access Object — classe dédiée à l'accès aux données (Module 29).</a:t>
            </a:r>
          </a:p>
          <a:p>
            <a:pPr>
              <a:lnSpc>
                <a:spcPct val="110000"/>
              </a:lnSpc>
              <a:spcAft>
                <a:spcPts val="1000"/>
              </a:spcAft>
              <a:buNone/>
            </a:pPr>
            <a:r>
              <a:rPr sz="1350" b="1" i="0">
                <a:solidFill>
                  <a:srgbClr val="35C7E0"/>
                </a:solidFill>
                <a:latin typeface="Segoe UI"/>
              </a:rPr>
              <a:t>Encapsulation — </a:t>
            </a:r>
            <a:r>
              <a:rPr sz="1300" b="0" i="0">
                <a:solidFill>
                  <a:srgbClr val="93A1BE"/>
                </a:solidFill>
                <a:latin typeface="Segoe UI"/>
              </a:rPr>
              <a:t>Rendre les attributs privés, exposer des méthodes publiques contrôlées (Module 7).</a:t>
            </a:r>
          </a:p>
          <a:p>
            <a:pPr>
              <a:lnSpc>
                <a:spcPct val="110000"/>
              </a:lnSpc>
              <a:spcAft>
                <a:spcPts val="1000"/>
              </a:spcAft>
              <a:buNone/>
            </a:pPr>
            <a:r>
              <a:rPr sz="1350" b="1" i="0">
                <a:solidFill>
                  <a:srgbClr val="35C7E0"/>
                </a:solidFill>
                <a:latin typeface="Segoe UI"/>
              </a:rPr>
              <a:t>Exception — </a:t>
            </a:r>
            <a:r>
              <a:rPr sz="1300" b="0" i="0">
                <a:solidFill>
                  <a:srgbClr val="93A1BE"/>
                </a:solidFill>
                <a:latin typeface="Segoe UI"/>
              </a:rPr>
              <a:t>Signal envoyé par Java lorsqu'une erreur survient à l'exécution (Module 19).</a:t>
            </a:r>
          </a:p>
          <a:p>
            <a:pPr>
              <a:lnSpc>
                <a:spcPct val="110000"/>
              </a:lnSpc>
              <a:spcAft>
                <a:spcPts val="1000"/>
              </a:spcAft>
              <a:buNone/>
            </a:pPr>
            <a:r>
              <a:rPr sz="1350" b="1" i="0">
                <a:solidFill>
                  <a:srgbClr val="35C7E0"/>
                </a:solidFill>
                <a:latin typeface="Segoe UI"/>
              </a:rPr>
              <a:t>Héritage — </a:t>
            </a:r>
            <a:r>
              <a:rPr sz="1300" b="0" i="0">
                <a:solidFill>
                  <a:srgbClr val="93A1BE"/>
                </a:solidFill>
                <a:latin typeface="Segoe UI"/>
              </a:rPr>
              <a:t>Une classe fille réutilise attributs/méthodes d'une classe mère (Module 10).</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ANNEXE A — Glossaire</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222</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GLOSSAIRE (2/3)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I – P</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5227168" cy="4800600"/>
          </a:xfrm>
          <a:prstGeom prst="rect">
            <a:avLst/>
          </a:prstGeom>
          <a:noFill/>
        </p:spPr>
        <p:txBody>
          <a:bodyPr wrap="square" anchor="t" lIns="0" rIns="0" tIns="0" bIns="0">
            <a:spAutoFit/>
          </a:bodyPr>
          <a:lstStyle/>
          <a:p>
            <a:pPr>
              <a:lnSpc>
                <a:spcPct val="110000"/>
              </a:lnSpc>
              <a:spcAft>
                <a:spcPts val="1000"/>
              </a:spcAft>
              <a:buNone/>
            </a:pPr>
            <a:r>
              <a:rPr sz="1350" b="1" i="0">
                <a:solidFill>
                  <a:srgbClr val="35C7E0"/>
                </a:solidFill>
                <a:latin typeface="Segoe UI"/>
              </a:rPr>
              <a:t>Interface — </a:t>
            </a:r>
            <a:r>
              <a:rPr sz="1300" b="0" i="0">
                <a:solidFill>
                  <a:srgbClr val="93A1BE"/>
                </a:solidFill>
                <a:latin typeface="Segoe UI"/>
              </a:rPr>
              <a:t>Contrat de méthodes qu'une classe s'engage à implémenter (Module 14).</a:t>
            </a:r>
          </a:p>
          <a:p>
            <a:pPr>
              <a:lnSpc>
                <a:spcPct val="110000"/>
              </a:lnSpc>
              <a:spcAft>
                <a:spcPts val="1000"/>
              </a:spcAft>
              <a:buNone/>
            </a:pPr>
            <a:r>
              <a:rPr sz="1350" b="1" i="0">
                <a:solidFill>
                  <a:srgbClr val="35C7E0"/>
                </a:solidFill>
                <a:latin typeface="Segoe UI"/>
              </a:rPr>
              <a:t>JDBC — </a:t>
            </a:r>
            <a:r>
              <a:rPr sz="1300" b="0" i="0">
                <a:solidFill>
                  <a:srgbClr val="93A1BE"/>
                </a:solidFill>
                <a:latin typeface="Segoe UI"/>
              </a:rPr>
              <a:t>Outils Java pour se connecter à une base de données (Module 27).</a:t>
            </a:r>
          </a:p>
          <a:p>
            <a:pPr>
              <a:lnSpc>
                <a:spcPct val="110000"/>
              </a:lnSpc>
              <a:spcAft>
                <a:spcPts val="1000"/>
              </a:spcAft>
              <a:buNone/>
            </a:pPr>
            <a:r>
              <a:rPr sz="1350" b="1" i="0">
                <a:solidFill>
                  <a:srgbClr val="35C7E0"/>
                </a:solidFill>
                <a:latin typeface="Segoe UI"/>
              </a:rPr>
              <a:t>JVM — </a:t>
            </a:r>
            <a:r>
              <a:rPr sz="1300" b="0" i="0">
                <a:solidFill>
                  <a:srgbClr val="93A1BE"/>
                </a:solidFill>
                <a:latin typeface="Segoe UI"/>
              </a:rPr>
              <a:t>Machine virtuelle Java, exécute le bytecode sur tout système (Module 1).</a:t>
            </a:r>
          </a:p>
          <a:p>
            <a:pPr>
              <a:lnSpc>
                <a:spcPct val="110000"/>
              </a:lnSpc>
              <a:spcAft>
                <a:spcPts val="1000"/>
              </a:spcAft>
              <a:buNone/>
            </a:pPr>
            <a:r>
              <a:rPr sz="1350" b="1" i="0">
                <a:solidFill>
                  <a:srgbClr val="35C7E0"/>
                </a:solidFill>
                <a:latin typeface="Segoe UI"/>
              </a:rPr>
              <a:t>Lambda — </a:t>
            </a:r>
            <a:r>
              <a:rPr sz="1300" b="0" i="0">
                <a:solidFill>
                  <a:srgbClr val="93A1BE"/>
                </a:solidFill>
                <a:latin typeface="Segoe UI"/>
              </a:rPr>
              <a:t>Expression compacte pour écrire une méthode « à la volée » (Module 24).</a:t>
            </a:r>
          </a:p>
          <a:p>
            <a:pPr>
              <a:lnSpc>
                <a:spcPct val="110000"/>
              </a:lnSpc>
              <a:spcAft>
                <a:spcPts val="1000"/>
              </a:spcAft>
              <a:buNone/>
            </a:pPr>
            <a:r>
              <a:rPr sz="1350" b="1" i="0">
                <a:solidFill>
                  <a:srgbClr val="35C7E0"/>
                </a:solidFill>
                <a:latin typeface="Segoe UI"/>
              </a:rPr>
              <a:t>Liaison dynamique — </a:t>
            </a:r>
            <a:r>
              <a:rPr sz="1300" b="0" i="0">
                <a:solidFill>
                  <a:srgbClr val="93A1BE"/>
                </a:solidFill>
                <a:latin typeface="Segoe UI"/>
              </a:rPr>
              <a:t>Java choisit, à l'exécution, la méthode selon le type RÉEL de l'objet (Module 12).</a:t>
            </a:r>
          </a:p>
        </p:txBody>
      </p:sp>
      <p:sp>
        <p:nvSpPr>
          <p:cNvPr id="7" name="TextBox 6"/>
          <p:cNvSpPr txBox="1"/>
          <p:nvPr/>
        </p:nvSpPr>
        <p:spPr>
          <a:xfrm>
            <a:off x="6324448" y="1417320"/>
            <a:ext cx="5227168" cy="4800600"/>
          </a:xfrm>
          <a:prstGeom prst="rect">
            <a:avLst/>
          </a:prstGeom>
          <a:noFill/>
        </p:spPr>
        <p:txBody>
          <a:bodyPr wrap="square" anchor="t" lIns="0" rIns="0" tIns="0" bIns="0">
            <a:spAutoFit/>
          </a:bodyPr>
          <a:lstStyle/>
          <a:p>
            <a:pPr>
              <a:lnSpc>
                <a:spcPct val="110000"/>
              </a:lnSpc>
              <a:spcAft>
                <a:spcPts val="1000"/>
              </a:spcAft>
              <a:buNone/>
            </a:pPr>
            <a:r>
              <a:rPr sz="1350" b="1" i="0">
                <a:solidFill>
                  <a:srgbClr val="35C7E0"/>
                </a:solidFill>
                <a:latin typeface="Segoe UI"/>
              </a:rPr>
              <a:t>Méthode — </a:t>
            </a:r>
            <a:r>
              <a:rPr sz="1300" b="0" i="0">
                <a:solidFill>
                  <a:srgbClr val="93A1BE"/>
                </a:solidFill>
                <a:latin typeface="Segoe UI"/>
              </a:rPr>
              <a:t>Bloc d'instructions nommé, appartenant à une classe (Module 3).</a:t>
            </a:r>
          </a:p>
          <a:p>
            <a:pPr>
              <a:lnSpc>
                <a:spcPct val="110000"/>
              </a:lnSpc>
              <a:spcAft>
                <a:spcPts val="1000"/>
              </a:spcAft>
              <a:buNone/>
            </a:pPr>
            <a:r>
              <a:rPr sz="1350" b="1" i="0">
                <a:solidFill>
                  <a:srgbClr val="35C7E0"/>
                </a:solidFill>
                <a:latin typeface="Segoe UI"/>
              </a:rPr>
              <a:t>Objet — </a:t>
            </a:r>
            <a:r>
              <a:rPr sz="1300" b="0" i="0">
                <a:solidFill>
                  <a:srgbClr val="93A1BE"/>
                </a:solidFill>
                <a:latin typeface="Segoe UI"/>
              </a:rPr>
              <a:t>Une instance concrète créée à partir d'une classe (Module 3).</a:t>
            </a:r>
          </a:p>
          <a:p>
            <a:pPr>
              <a:lnSpc>
                <a:spcPct val="110000"/>
              </a:lnSpc>
              <a:spcAft>
                <a:spcPts val="1000"/>
              </a:spcAft>
              <a:buNone/>
            </a:pPr>
            <a:r>
              <a:rPr sz="1350" b="1" i="0">
                <a:solidFill>
                  <a:srgbClr val="35C7E0"/>
                </a:solidFill>
                <a:latin typeface="Segoe UI"/>
              </a:rPr>
              <a:t>Package — </a:t>
            </a:r>
            <a:r>
              <a:rPr sz="1300" b="0" i="0">
                <a:solidFill>
                  <a:srgbClr val="93A1BE"/>
                </a:solidFill>
                <a:latin typeface="Segoe UI"/>
              </a:rPr>
              <a:t>L'équivalent Java d'un dossier, regroupant des classes liées (Module 18).</a:t>
            </a:r>
          </a:p>
          <a:p>
            <a:pPr>
              <a:lnSpc>
                <a:spcPct val="110000"/>
              </a:lnSpc>
              <a:spcAft>
                <a:spcPts val="1000"/>
              </a:spcAft>
              <a:buNone/>
            </a:pPr>
            <a:r>
              <a:rPr sz="1350" b="1" i="0">
                <a:solidFill>
                  <a:srgbClr val="35C7E0"/>
                </a:solidFill>
                <a:latin typeface="Segoe UI"/>
              </a:rPr>
              <a:t>Polymorphisme — </a:t>
            </a:r>
            <a:r>
              <a:rPr sz="1300" b="0" i="0">
                <a:solidFill>
                  <a:srgbClr val="93A1BE"/>
                </a:solidFill>
                <a:latin typeface="Segoe UI"/>
              </a:rPr>
              <a:t>Des objets de classes différentes répondent différemment à un même appel (Module 12).</a:t>
            </a:r>
          </a:p>
          <a:p>
            <a:pPr>
              <a:lnSpc>
                <a:spcPct val="110000"/>
              </a:lnSpc>
              <a:spcAft>
                <a:spcPts val="1000"/>
              </a:spcAft>
              <a:buNone/>
            </a:pPr>
            <a:r>
              <a:rPr sz="1350" b="1" i="0">
                <a:solidFill>
                  <a:srgbClr val="35C7E0"/>
                </a:solidFill>
                <a:latin typeface="Segoe UI"/>
              </a:rPr>
              <a:t>PreparedStatement — </a:t>
            </a:r>
            <a:r>
              <a:rPr sz="1300" b="0" i="0">
                <a:solidFill>
                  <a:srgbClr val="93A1BE"/>
                </a:solidFill>
                <a:latin typeface="Segoe UI"/>
              </a:rPr>
              <a:t>Requête SQL préparée avec des ?, protégeant contre l'injection SQL (Module 28).</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ANNEXE A — Glossaire</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223</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GLOSSAIRE (3/3)</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R – 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5227168" cy="4800600"/>
          </a:xfrm>
          <a:prstGeom prst="rect">
            <a:avLst/>
          </a:prstGeom>
          <a:noFill/>
        </p:spPr>
        <p:txBody>
          <a:bodyPr wrap="square" anchor="t" lIns="0" rIns="0" tIns="0" bIns="0">
            <a:spAutoFit/>
          </a:bodyPr>
          <a:lstStyle/>
          <a:p>
            <a:pPr>
              <a:lnSpc>
                <a:spcPct val="110000"/>
              </a:lnSpc>
              <a:spcAft>
                <a:spcPts val="1000"/>
              </a:spcAft>
              <a:buNone/>
            </a:pPr>
            <a:r>
              <a:rPr sz="1350" b="1" i="0">
                <a:solidFill>
                  <a:srgbClr val="35C7E0"/>
                </a:solidFill>
                <a:latin typeface="Segoe UI"/>
              </a:rPr>
              <a:t>Référence — </a:t>
            </a:r>
            <a:r>
              <a:rPr sz="1300" b="0" i="0">
                <a:solidFill>
                  <a:srgbClr val="93A1BE"/>
                </a:solidFill>
                <a:latin typeface="Segoe UI"/>
              </a:rPr>
              <a:t>Ce qu'une variable objet contient réellement : un pointeur vers l'objet (Module 4).</a:t>
            </a:r>
          </a:p>
          <a:p>
            <a:pPr>
              <a:lnSpc>
                <a:spcPct val="110000"/>
              </a:lnSpc>
              <a:spcAft>
                <a:spcPts val="1000"/>
              </a:spcAft>
              <a:buNone/>
            </a:pPr>
            <a:r>
              <a:rPr sz="1350" b="1" i="0">
                <a:solidFill>
                  <a:srgbClr val="35C7E0"/>
                </a:solidFill>
                <a:latin typeface="Segoe UI"/>
              </a:rPr>
              <a:t>Static — </a:t>
            </a:r>
            <a:r>
              <a:rPr sz="1300" b="0" i="0">
                <a:solidFill>
                  <a:srgbClr val="93A1BE"/>
                </a:solidFill>
                <a:latin typeface="Segoe UI"/>
              </a:rPr>
              <a:t>Appartient à la classe elle-même, un seul exemplaire partagé (Module 9).</a:t>
            </a:r>
          </a:p>
          <a:p>
            <a:pPr>
              <a:lnSpc>
                <a:spcPct val="110000"/>
              </a:lnSpc>
              <a:spcAft>
                <a:spcPts val="1000"/>
              </a:spcAft>
              <a:buNone/>
            </a:pPr>
            <a:r>
              <a:rPr sz="1350" b="1" i="0">
                <a:solidFill>
                  <a:srgbClr val="35C7E0"/>
                </a:solidFill>
                <a:latin typeface="Segoe UI"/>
              </a:rPr>
              <a:t>Stream — </a:t>
            </a:r>
            <a:r>
              <a:rPr sz="1300" b="0" i="0">
                <a:solidFill>
                  <a:srgbClr val="93A1BE"/>
                </a:solidFill>
                <a:latin typeface="Segoe UI"/>
              </a:rPr>
              <a:t>Chaîne d'opérations déclaratives appliquées à une collection (Module 24).</a:t>
            </a:r>
          </a:p>
          <a:p>
            <a:pPr>
              <a:lnSpc>
                <a:spcPct val="110000"/>
              </a:lnSpc>
              <a:spcAft>
                <a:spcPts val="1000"/>
              </a:spcAft>
              <a:buNone/>
            </a:pPr>
            <a:r>
              <a:rPr sz="1350" b="1" i="0">
                <a:solidFill>
                  <a:srgbClr val="35C7E0"/>
                </a:solidFill>
                <a:latin typeface="Segoe UI"/>
              </a:rPr>
              <a:t>Surcharge — </a:t>
            </a:r>
            <a:r>
              <a:rPr sz="1300" b="0" i="0">
                <a:solidFill>
                  <a:srgbClr val="93A1BE"/>
                </a:solidFill>
                <a:latin typeface="Segoe UI"/>
              </a:rPr>
              <a:t>Plusieurs méthodes/constructeurs de même nom, paramètres différents (Module 17).</a:t>
            </a:r>
          </a:p>
        </p:txBody>
      </p:sp>
      <p:sp>
        <p:nvSpPr>
          <p:cNvPr id="7" name="TextBox 6"/>
          <p:cNvSpPr txBox="1"/>
          <p:nvPr/>
        </p:nvSpPr>
        <p:spPr>
          <a:xfrm>
            <a:off x="6324448" y="1417320"/>
            <a:ext cx="5227168" cy="4800600"/>
          </a:xfrm>
          <a:prstGeom prst="rect">
            <a:avLst/>
          </a:prstGeom>
          <a:noFill/>
        </p:spPr>
        <p:txBody>
          <a:bodyPr wrap="square" anchor="t" lIns="0" rIns="0" tIns="0" bIns="0">
            <a:spAutoFit/>
          </a:bodyPr>
          <a:lstStyle/>
          <a:p>
            <a:pPr>
              <a:lnSpc>
                <a:spcPct val="110000"/>
              </a:lnSpc>
              <a:spcAft>
                <a:spcPts val="1000"/>
              </a:spcAft>
              <a:buNone/>
            </a:pPr>
            <a:r>
              <a:rPr sz="1350" b="1" i="0">
                <a:solidFill>
                  <a:srgbClr val="35C7E0"/>
                </a:solidFill>
                <a:latin typeface="Segoe UI"/>
              </a:rPr>
              <a:t>SQL — </a:t>
            </a:r>
            <a:r>
              <a:rPr sz="1300" b="0" i="0">
                <a:solidFill>
                  <a:srgbClr val="93A1BE"/>
                </a:solidFill>
                <a:latin typeface="Segoe UI"/>
              </a:rPr>
              <a:t>Langage standard pour créer et manipuler des bases de données (Module 27).</a:t>
            </a:r>
          </a:p>
          <a:p>
            <a:pPr>
              <a:lnSpc>
                <a:spcPct val="110000"/>
              </a:lnSpc>
              <a:spcAft>
                <a:spcPts val="1000"/>
              </a:spcAft>
              <a:buNone/>
            </a:pPr>
            <a:r>
              <a:rPr sz="1350" b="1" i="0">
                <a:solidFill>
                  <a:srgbClr val="35C7E0"/>
                </a:solidFill>
                <a:latin typeface="Segoe UI"/>
              </a:rPr>
              <a:t>SQLException — </a:t>
            </a:r>
            <a:r>
              <a:rPr sz="1300" b="0" i="0">
                <a:solidFill>
                  <a:srgbClr val="93A1BE"/>
                </a:solidFill>
                <a:latin typeface="Segoe UI"/>
              </a:rPr>
              <a:t>Exception levée par JDBC en cas de problème de base de données (Module 28).</a:t>
            </a:r>
          </a:p>
          <a:p>
            <a:pPr>
              <a:lnSpc>
                <a:spcPct val="110000"/>
              </a:lnSpc>
              <a:spcAft>
                <a:spcPts val="1000"/>
              </a:spcAft>
              <a:buNone/>
            </a:pPr>
            <a:r>
              <a:rPr sz="1350" b="1" i="0">
                <a:solidFill>
                  <a:srgbClr val="35C7E0"/>
                </a:solidFill>
                <a:latin typeface="Segoe UI"/>
              </a:rPr>
              <a:t>this — </a:t>
            </a:r>
            <a:r>
              <a:rPr sz="1300" b="0" i="0">
                <a:solidFill>
                  <a:srgbClr val="93A1BE"/>
                </a:solidFill>
                <a:latin typeface="Segoe UI"/>
              </a:rPr>
              <a:t>Désigne l'objet en cours de construction ou de manipulation (Module 6).</a:t>
            </a:r>
          </a:p>
          <a:p>
            <a:pPr>
              <a:lnSpc>
                <a:spcPct val="110000"/>
              </a:lnSpc>
              <a:spcAft>
                <a:spcPts val="1000"/>
              </a:spcAft>
              <a:buNone/>
            </a:pPr>
            <a:r>
              <a:rPr sz="1350" b="1" i="0">
                <a:solidFill>
                  <a:srgbClr val="35C7E0"/>
                </a:solidFill>
                <a:latin typeface="Segoe UI"/>
              </a:rPr>
              <a:t>Try-with-resources — </a:t>
            </a:r>
            <a:r>
              <a:rPr sz="1300" b="0" i="0">
                <a:solidFill>
                  <a:srgbClr val="93A1BE"/>
                </a:solidFill>
                <a:latin typeface="Segoe UI"/>
              </a:rPr>
              <a:t>Forme de try qui ferme automatiquement une ressource (Module 23).</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ANNEXE A — Glossaire</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224</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ANNEXE B</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Aide-mémoire — syntaxe essentielle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911534" cy="4709160"/>
        </p:xfrm>
        <a:graphic>
          <a:graphicData uri="http://schemas.openxmlformats.org/drawingml/2006/table">
            <a:tbl>
              <a:tblPr firstRow="1" bandRow="1">
                <a:tableStyleId>{5C22544A-7EE6-4342-B048-85BDC9FD1C3A}</a:tableStyleId>
              </a:tblPr>
              <a:tblGrid>
                <a:gridCol w="5455767"/>
                <a:gridCol w="5455767"/>
              </a:tblGrid>
              <a:tr h="392430">
                <a:tc>
                  <a:txBody>
                    <a:bodyPr wrap="square"/>
                    <a:lstStyle/>
                    <a:p>
                      <a:pPr algn="l"/>
                      <a:r>
                        <a:rPr sz="1400" b="1" i="0">
                          <a:solidFill>
                            <a:srgbClr val="0B1220"/>
                          </a:solidFill>
                          <a:latin typeface="Segoe UI"/>
                        </a:rPr>
                        <a:t>Notion</a:t>
                      </a:r>
                    </a:p>
                  </a:txBody>
                  <a:tcPr marT="50800" marB="50800" marL="127000" marR="127000">
                    <a:solidFill>
                      <a:srgbClr val="F28C28"/>
                    </a:solidFill>
                  </a:tcPr>
                </a:tc>
                <a:tc>
                  <a:txBody>
                    <a:bodyPr wrap="square"/>
                    <a:lstStyle/>
                    <a:p>
                      <a:pPr algn="l"/>
                      <a:r>
                        <a:rPr sz="1400" b="1" i="0">
                          <a:solidFill>
                            <a:srgbClr val="0B1220"/>
                          </a:solidFill>
                          <a:latin typeface="Segoe UI"/>
                        </a:rPr>
                        <a:t>Syntaxe</a:t>
                      </a:r>
                    </a:p>
                  </a:txBody>
                  <a:tcPr marT="50800" marB="50800" marL="127000" marR="127000">
                    <a:solidFill>
                      <a:srgbClr val="F28C28"/>
                    </a:solidFill>
                  </a:tcPr>
                </a:tc>
              </a:tr>
              <a:tr h="392430">
                <a:tc>
                  <a:txBody>
                    <a:bodyPr wrap="square"/>
                    <a:lstStyle/>
                    <a:p>
                      <a:r>
                        <a:rPr sz="1350" b="1" i="0">
                          <a:solidFill>
                            <a:srgbClr val="ECF0F7"/>
                          </a:solidFill>
                          <a:latin typeface="Segoe UI"/>
                        </a:rPr>
                        <a:t>Classe</a:t>
                      </a:r>
                    </a:p>
                  </a:txBody>
                  <a:tcPr marT="50800" marB="50800" marL="127000" marR="127000">
                    <a:solidFill>
                      <a:srgbClr val="121C32"/>
                    </a:solidFill>
                  </a:tcPr>
                </a:tc>
                <a:tc>
                  <a:txBody>
                    <a:bodyPr wrap="square"/>
                    <a:lstStyle/>
                    <a:p>
                      <a:r>
                        <a:rPr sz="1350" b="0" i="0">
                          <a:solidFill>
                            <a:srgbClr val="ECF0F7"/>
                          </a:solidFill>
                          <a:latin typeface="Segoe UI"/>
                        </a:rPr>
                        <a:t>public class Nom { }</a:t>
                      </a:r>
                    </a:p>
                  </a:txBody>
                  <a:tcPr marT="50800" marB="50800" marL="127000" marR="127000">
                    <a:solidFill>
                      <a:srgbClr val="121C32"/>
                    </a:solidFill>
                  </a:tcPr>
                </a:tc>
              </a:tr>
              <a:tr h="392430">
                <a:tc>
                  <a:txBody>
                    <a:bodyPr wrap="square"/>
                    <a:lstStyle/>
                    <a:p>
                      <a:r>
                        <a:rPr sz="1350" b="1" i="0">
                          <a:solidFill>
                            <a:srgbClr val="ECF0F7"/>
                          </a:solidFill>
                          <a:latin typeface="Segoe UI"/>
                        </a:rPr>
                        <a:t>Attribut privé + getter</a:t>
                      </a:r>
                    </a:p>
                  </a:txBody>
                  <a:tcPr marT="50800" marB="50800" marL="127000" marR="127000">
                    <a:solidFill>
                      <a:srgbClr val="0B1220"/>
                    </a:solidFill>
                  </a:tcPr>
                </a:tc>
                <a:tc>
                  <a:txBody>
                    <a:bodyPr wrap="square"/>
                    <a:lstStyle/>
                    <a:p>
                      <a:r>
                        <a:rPr sz="1350" b="0" i="0">
                          <a:solidFill>
                            <a:srgbClr val="ECF0F7"/>
                          </a:solidFill>
                          <a:latin typeface="Segoe UI"/>
                        </a:rPr>
                        <a:t>private Type nom; public Type getNom() { return nom; }</a:t>
                      </a:r>
                    </a:p>
                  </a:txBody>
                  <a:tcPr marT="50800" marB="50800" marL="127000" marR="127000">
                    <a:solidFill>
                      <a:srgbClr val="0B1220"/>
                    </a:solidFill>
                  </a:tcPr>
                </a:tc>
              </a:tr>
              <a:tr h="392430">
                <a:tc>
                  <a:txBody>
                    <a:bodyPr wrap="square"/>
                    <a:lstStyle/>
                    <a:p>
                      <a:r>
                        <a:rPr sz="1350" b="1" i="0">
                          <a:solidFill>
                            <a:srgbClr val="ECF0F7"/>
                          </a:solidFill>
                          <a:latin typeface="Segoe UI"/>
                        </a:rPr>
                        <a:t>Constructeur</a:t>
                      </a:r>
                    </a:p>
                  </a:txBody>
                  <a:tcPr marT="50800" marB="50800" marL="127000" marR="127000">
                    <a:solidFill>
                      <a:srgbClr val="121C32"/>
                    </a:solidFill>
                  </a:tcPr>
                </a:tc>
                <a:tc>
                  <a:txBody>
                    <a:bodyPr wrap="square"/>
                    <a:lstStyle/>
                    <a:p>
                      <a:r>
                        <a:rPr sz="1350" b="0" i="0">
                          <a:solidFill>
                            <a:srgbClr val="ECF0F7"/>
                          </a:solidFill>
                          <a:latin typeface="Segoe UI"/>
                        </a:rPr>
                        <a:t>public Nom(Type p) { this.attr = p; }</a:t>
                      </a:r>
                    </a:p>
                  </a:txBody>
                  <a:tcPr marT="50800" marB="50800" marL="127000" marR="127000">
                    <a:solidFill>
                      <a:srgbClr val="121C32"/>
                    </a:solidFill>
                  </a:tcPr>
                </a:tc>
              </a:tr>
              <a:tr h="392430">
                <a:tc>
                  <a:txBody>
                    <a:bodyPr wrap="square"/>
                    <a:lstStyle/>
                    <a:p>
                      <a:r>
                        <a:rPr sz="1350" b="1" i="0">
                          <a:solidFill>
                            <a:srgbClr val="ECF0F7"/>
                          </a:solidFill>
                          <a:latin typeface="Segoe UI"/>
                        </a:rPr>
                        <a:t>Héritage</a:t>
                      </a:r>
                    </a:p>
                  </a:txBody>
                  <a:tcPr marT="50800" marB="50800" marL="127000" marR="127000">
                    <a:solidFill>
                      <a:srgbClr val="0B1220"/>
                    </a:solidFill>
                  </a:tcPr>
                </a:tc>
                <a:tc>
                  <a:txBody>
                    <a:bodyPr wrap="square"/>
                    <a:lstStyle/>
                    <a:p>
                      <a:r>
                        <a:rPr sz="1350" b="0" i="0">
                          <a:solidFill>
                            <a:srgbClr val="ECF0F7"/>
                          </a:solidFill>
                          <a:latin typeface="Segoe UI"/>
                        </a:rPr>
                        <a:t>class Fille extends Mere { }</a:t>
                      </a:r>
                    </a:p>
                  </a:txBody>
                  <a:tcPr marT="50800" marB="50800" marL="127000" marR="127000">
                    <a:solidFill>
                      <a:srgbClr val="0B1220"/>
                    </a:solidFill>
                  </a:tcPr>
                </a:tc>
              </a:tr>
              <a:tr h="392430">
                <a:tc>
                  <a:txBody>
                    <a:bodyPr wrap="square"/>
                    <a:lstStyle/>
                    <a:p>
                      <a:r>
                        <a:rPr sz="1350" b="1" i="0">
                          <a:solidFill>
                            <a:srgbClr val="ECF0F7"/>
                          </a:solidFill>
                          <a:latin typeface="Segoe UI"/>
                        </a:rPr>
                        <a:t>Redéfinition</a:t>
                      </a:r>
                    </a:p>
                  </a:txBody>
                  <a:tcPr marT="50800" marB="50800" marL="127000" marR="127000">
                    <a:solidFill>
                      <a:srgbClr val="121C32"/>
                    </a:solidFill>
                  </a:tcPr>
                </a:tc>
                <a:tc>
                  <a:txBody>
                    <a:bodyPr wrap="square"/>
                    <a:lstStyle/>
                    <a:p>
                      <a:r>
                        <a:rPr sz="1350" b="0" i="0">
                          <a:solidFill>
                            <a:srgbClr val="ECF0F7"/>
                          </a:solidFill>
                          <a:latin typeface="Segoe UI"/>
                        </a:rPr>
                        <a:t>@Override\npublic Type methode() { }</a:t>
                      </a:r>
                    </a:p>
                  </a:txBody>
                  <a:tcPr marT="50800" marB="50800" marL="127000" marR="127000">
                    <a:solidFill>
                      <a:srgbClr val="121C32"/>
                    </a:solidFill>
                  </a:tcPr>
                </a:tc>
              </a:tr>
              <a:tr h="392430">
                <a:tc>
                  <a:txBody>
                    <a:bodyPr wrap="square"/>
                    <a:lstStyle/>
                    <a:p>
                      <a:r>
                        <a:rPr sz="1350" b="1" i="0">
                          <a:solidFill>
                            <a:srgbClr val="ECF0F7"/>
                          </a:solidFill>
                          <a:latin typeface="Segoe UI"/>
                        </a:rPr>
                        <a:t>Interface</a:t>
                      </a:r>
                    </a:p>
                  </a:txBody>
                  <a:tcPr marT="50800" marB="50800" marL="127000" marR="127000">
                    <a:solidFill>
                      <a:srgbClr val="0B1220"/>
                    </a:solidFill>
                  </a:tcPr>
                </a:tc>
                <a:tc>
                  <a:txBody>
                    <a:bodyPr wrap="square"/>
                    <a:lstStyle/>
                    <a:p>
                      <a:r>
                        <a:rPr sz="1350" b="0" i="0">
                          <a:solidFill>
                            <a:srgbClr val="ECF0F7"/>
                          </a:solidFill>
                          <a:latin typeface="Segoe UI"/>
                        </a:rPr>
                        <a:t>interface Nom { void methode(); }\nclass C implements Nom { }</a:t>
                      </a:r>
                    </a:p>
                  </a:txBody>
                  <a:tcPr marT="50800" marB="50800" marL="127000" marR="127000">
                    <a:solidFill>
                      <a:srgbClr val="0B1220"/>
                    </a:solidFill>
                  </a:tcPr>
                </a:tc>
              </a:tr>
              <a:tr h="392430">
                <a:tc>
                  <a:txBody>
                    <a:bodyPr wrap="square"/>
                    <a:lstStyle/>
                    <a:p>
                      <a:r>
                        <a:rPr sz="1350" b="1" i="0">
                          <a:solidFill>
                            <a:srgbClr val="ECF0F7"/>
                          </a:solidFill>
                          <a:latin typeface="Segoe UI"/>
                        </a:rPr>
                        <a:t>Try/catch</a:t>
                      </a:r>
                    </a:p>
                  </a:txBody>
                  <a:tcPr marT="50800" marB="50800" marL="127000" marR="127000">
                    <a:solidFill>
                      <a:srgbClr val="121C32"/>
                    </a:solidFill>
                  </a:tcPr>
                </a:tc>
                <a:tc>
                  <a:txBody>
                    <a:bodyPr wrap="square"/>
                    <a:lstStyle/>
                    <a:p>
                      <a:r>
                        <a:rPr sz="1350" b="0" i="0">
                          <a:solidFill>
                            <a:srgbClr val="ECF0F7"/>
                          </a:solidFill>
                          <a:latin typeface="Segoe UI"/>
                        </a:rPr>
                        <a:t>try { } catch (TypeException e) { } finally { }</a:t>
                      </a:r>
                    </a:p>
                  </a:txBody>
                  <a:tcPr marT="50800" marB="50800" marL="127000" marR="127000">
                    <a:solidFill>
                      <a:srgbClr val="121C32"/>
                    </a:solidFill>
                  </a:tcPr>
                </a:tc>
              </a:tr>
              <a:tr h="392430">
                <a:tc>
                  <a:txBody>
                    <a:bodyPr wrap="square"/>
                    <a:lstStyle/>
                    <a:p>
                      <a:r>
                        <a:rPr sz="1350" b="1" i="0">
                          <a:solidFill>
                            <a:srgbClr val="ECF0F7"/>
                          </a:solidFill>
                          <a:latin typeface="Segoe UI"/>
                        </a:rPr>
                        <a:t>ArrayList</a:t>
                      </a:r>
                    </a:p>
                  </a:txBody>
                  <a:tcPr marT="50800" marB="50800" marL="127000" marR="127000">
                    <a:solidFill>
                      <a:srgbClr val="0B1220"/>
                    </a:solidFill>
                  </a:tcPr>
                </a:tc>
                <a:tc>
                  <a:txBody>
                    <a:bodyPr wrap="square"/>
                    <a:lstStyle/>
                    <a:p>
                      <a:r>
                        <a:rPr sz="1350" b="0" i="0">
                          <a:solidFill>
                            <a:srgbClr val="ECF0F7"/>
                          </a:solidFill>
                          <a:latin typeface="Segoe UI"/>
                        </a:rPr>
                        <a:t>List&lt;T&gt; l = new ArrayList&lt;&gt;(); l.add(x);</a:t>
                      </a:r>
                    </a:p>
                  </a:txBody>
                  <a:tcPr marT="50800" marB="50800" marL="127000" marR="127000">
                    <a:solidFill>
                      <a:srgbClr val="0B1220"/>
                    </a:solidFill>
                  </a:tcPr>
                </a:tc>
              </a:tr>
              <a:tr h="392430">
                <a:tc>
                  <a:txBody>
                    <a:bodyPr wrap="square"/>
                    <a:lstStyle/>
                    <a:p>
                      <a:r>
                        <a:rPr sz="1350" b="1" i="0">
                          <a:solidFill>
                            <a:srgbClr val="ECF0F7"/>
                          </a:solidFill>
                          <a:latin typeface="Segoe UI"/>
                        </a:rPr>
                        <a:t>HashMap</a:t>
                      </a:r>
                    </a:p>
                  </a:txBody>
                  <a:tcPr marT="50800" marB="50800" marL="127000" marR="127000">
                    <a:solidFill>
                      <a:srgbClr val="121C32"/>
                    </a:solidFill>
                  </a:tcPr>
                </a:tc>
                <a:tc>
                  <a:txBody>
                    <a:bodyPr wrap="square"/>
                    <a:lstStyle/>
                    <a:p>
                      <a:r>
                        <a:rPr sz="1350" b="0" i="0">
                          <a:solidFill>
                            <a:srgbClr val="ECF0F7"/>
                          </a:solidFill>
                          <a:latin typeface="Segoe UI"/>
                        </a:rPr>
                        <a:t>Map&lt;K,V&gt; m = new HashMap&lt;&gt;(); m.put(k, v); m.get(k);</a:t>
                      </a:r>
                    </a:p>
                  </a:txBody>
                  <a:tcPr marT="50800" marB="50800" marL="127000" marR="127000">
                    <a:solidFill>
                      <a:srgbClr val="121C32"/>
                    </a:solidFill>
                  </a:tcPr>
                </a:tc>
              </a:tr>
              <a:tr h="392430">
                <a:tc>
                  <a:txBody>
                    <a:bodyPr wrap="square"/>
                    <a:lstStyle/>
                    <a:p>
                      <a:r>
                        <a:rPr sz="1350" b="1" i="0">
                          <a:solidFill>
                            <a:srgbClr val="ECF0F7"/>
                          </a:solidFill>
                          <a:latin typeface="Segoe UI"/>
                        </a:rPr>
                        <a:t>Connexion JDBC</a:t>
                      </a:r>
                    </a:p>
                  </a:txBody>
                  <a:tcPr marT="50800" marB="50800" marL="127000" marR="127000">
                    <a:solidFill>
                      <a:srgbClr val="0B1220"/>
                    </a:solidFill>
                  </a:tcPr>
                </a:tc>
                <a:tc>
                  <a:txBody>
                    <a:bodyPr wrap="square"/>
                    <a:lstStyle/>
                    <a:p>
                      <a:r>
                        <a:rPr sz="1350" b="0" i="0">
                          <a:solidFill>
                            <a:srgbClr val="ECF0F7"/>
                          </a:solidFill>
                          <a:latin typeface="Segoe UI"/>
                        </a:rPr>
                        <a:t>DriverManager.getConnection(url, user, pass)</a:t>
                      </a:r>
                    </a:p>
                  </a:txBody>
                  <a:tcPr marT="50800" marB="50800" marL="127000" marR="127000">
                    <a:solidFill>
                      <a:srgbClr val="0B1220"/>
                    </a:solidFill>
                  </a:tcPr>
                </a:tc>
              </a:tr>
              <a:tr h="392430">
                <a:tc>
                  <a:txBody>
                    <a:bodyPr wrap="square"/>
                    <a:lstStyle/>
                    <a:p>
                      <a:r>
                        <a:rPr sz="1350" b="1" i="0">
                          <a:solidFill>
                            <a:srgbClr val="ECF0F7"/>
                          </a:solidFill>
                          <a:latin typeface="Segoe UI"/>
                        </a:rPr>
                        <a:t>PreparedStatement</a:t>
                      </a:r>
                    </a:p>
                  </a:txBody>
                  <a:tcPr marT="50800" marB="50800" marL="127000" marR="127000">
                    <a:solidFill>
                      <a:srgbClr val="121C32"/>
                    </a:solidFill>
                  </a:tcPr>
                </a:tc>
                <a:tc>
                  <a:txBody>
                    <a:bodyPr wrap="square"/>
                    <a:lstStyle/>
                    <a:p>
                      <a:r>
                        <a:rPr sz="1350" b="0" i="0">
                          <a:solidFill>
                            <a:srgbClr val="ECF0F7"/>
                          </a:solidFill>
                          <a:latin typeface="Segoe UI"/>
                        </a:rPr>
                        <a:t>conn.prepareStatement("... WHERE x = ?")</a:t>
                      </a:r>
                    </a:p>
                  </a:txBody>
                  <a:tcPr marT="50800" marB="50800" marL="127000" marR="127000">
                    <a:solidFill>
                      <a:srgbClr val="121C32"/>
                    </a:solidFill>
                  </a:tcPr>
                </a:tc>
              </a:tr>
            </a:tbl>
          </a:graphicData>
        </a:graphic>
      </p:graphicFrame>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ANNEXE A — Glossaire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225</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ANNEXE C</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 — récapitulatif POO</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new → NullPointerException sur un attribut objet non initialisé</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Confondre classe et objet</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Rendre tous les attributs publics (perte de l'encapsulation)</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Confondre surcharge (paramètres différents) et redéfinition (@Override, même signature)</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Oublier @Override sur une redéfinition (faute de frappe silencieuse possible)</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Mal utiliser l'héritage (hériter sans que le test « EST UN » soit vrai)</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Comparer des objets avec == plutôt que .equals()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ANNEXE A — Glossaire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226</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5C5C"/>
                </a:solidFill>
                <a:latin typeface="Segoe UI"/>
              </a:rPr>
              <a:t>ANNEXE C (SUITE)</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Erreurs fréquentes — base de données</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535" cy="4800600"/>
          </a:xfrm>
          <a:prstGeom prst="rect">
            <a:avLst/>
          </a:prstGeom>
          <a:noFill/>
        </p:spPr>
        <p:txBody>
          <a:bodyPr wrap="square" anchor="t" lIns="0" rIns="0" tIns="0" bIns="0">
            <a:spAutoFit/>
          </a:bodyPr>
          <a:lstStyle/>
          <a:p>
            <a:pPr>
              <a:lnSpc>
                <a:spcPct val="115000"/>
              </a:lnSpc>
              <a:spcAft>
                <a:spcPts val="1400"/>
              </a:spcAft>
              <a:buNone/>
            </a:pPr>
            <a:r>
              <a:rPr sz="1700" b="1" i="0">
                <a:solidFill>
                  <a:srgbClr val="E85C5C"/>
                </a:solidFill>
                <a:latin typeface="Segoe UI"/>
              </a:rPr>
              <a:t>✖  </a:t>
            </a:r>
            <a:r>
              <a:rPr sz="1700" b="0" i="0">
                <a:solidFill>
                  <a:srgbClr val="ECF0F7"/>
                </a:solidFill>
                <a:latin typeface="Segoe UI"/>
              </a:rPr>
              <a:t>UPDATE/DELETE sans WHERE : modifie ou supprime TOUTES les lignes</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Construire du SQL avec des chaînes concaténées non sécurisées (injection SQL)</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Ne jamais fermer les ressources JDBC (préférer systématiquement try-with-resources)</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Laisser du SQL fuir hors des classes DAO</a:t>
            </a:r>
          </a:p>
          <a:p>
            <a:pPr>
              <a:lnSpc>
                <a:spcPct val="115000"/>
              </a:lnSpc>
              <a:spcAft>
                <a:spcPts val="1400"/>
              </a:spcAft>
              <a:buNone/>
            </a:pPr>
            <a:r>
              <a:rPr sz="1700" b="1" i="0">
                <a:solidFill>
                  <a:srgbClr val="E85C5C"/>
                </a:solidFill>
                <a:latin typeface="Segoe UI"/>
              </a:rPr>
              <a:t>✖  </a:t>
            </a:r>
            <a:r>
              <a:rPr sz="1700" b="0" i="0">
                <a:solidFill>
                  <a:srgbClr val="ECF0F7"/>
                </a:solidFill>
                <a:latin typeface="Segoe UI"/>
              </a:rPr>
              <a:t>Compter les positions des ? d'un PreparedStatement à partir de 0 (elles commencent à 1)</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ANNEXE A — Glossaire</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227</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548640"/>
          </a:xfrm>
          <a:prstGeom prst="rect">
            <a:avLst/>
          </a:prstGeom>
          <a:noFill/>
        </p:spPr>
        <p:txBody>
          <a:bodyPr wrap="square" anchor="t" lIns="0" rIns="0" tIns="0" bIns="0">
            <a:spAutoFit/>
          </a:bodyPr>
          <a:lstStyle/>
          <a:p>
            <a:pPr algn="l">
              <a:spcBef>
                <a:spcPts val="0"/>
              </a:spcBef>
              <a:spcAft>
                <a:spcPts val="0"/>
              </a:spcAft>
              <a:buNone/>
            </a:pPr>
            <a:r>
              <a:rPr sz="2000" b="1" i="0">
                <a:solidFill>
                  <a:srgbClr val="F28C28"/>
                </a:solidFill>
                <a:latin typeface="Segoe UI"/>
              </a:rPr>
              <a:t>CLÔTURE</a:t>
            </a:r>
          </a:p>
        </p:txBody>
      </p:sp>
      <p:sp>
        <p:nvSpPr>
          <p:cNvPr id="5" name="TextBox 4"/>
          <p:cNvSpPr txBox="1"/>
          <p:nvPr/>
        </p:nvSpPr>
        <p:spPr>
          <a:xfrm>
            <a:off x="914400" y="2971800"/>
            <a:ext cx="10332720" cy="1463040"/>
          </a:xfrm>
          <a:prstGeom prst="rect">
            <a:avLst/>
          </a:prstGeom>
          <a:noFill/>
        </p:spPr>
        <p:txBody>
          <a:bodyPr wrap="square" anchor="t" lIns="0" rIns="0" tIns="0" bIns="0">
            <a:spAutoFit/>
          </a:bodyPr>
          <a:lstStyle/>
          <a:p>
            <a:pPr algn="l">
              <a:lnSpc>
                <a:spcPct val="102000"/>
              </a:lnSpc>
              <a:spcBef>
                <a:spcPts val="0"/>
              </a:spcBef>
              <a:spcAft>
                <a:spcPts val="0"/>
              </a:spcAft>
              <a:buNone/>
            </a:pPr>
            <a:r>
              <a:rPr sz="4400" b="1" i="0">
                <a:solidFill>
                  <a:srgbClr val="ECF0F7"/>
                </a:solidFill>
                <a:latin typeface="Segoe UI Semibold"/>
              </a:rPr>
              <a:t>Résumé et message final</a:t>
            </a:r>
          </a:p>
        </p:txBody>
      </p:sp>
      <p:sp>
        <p:nvSpPr>
          <p:cNvPr id="6" name="TextBox 5"/>
          <p:cNvSpPr txBox="1"/>
          <p:nvPr/>
        </p:nvSpPr>
        <p:spPr>
          <a:xfrm>
            <a:off x="914400" y="3977639"/>
            <a:ext cx="9875520" cy="914400"/>
          </a:xfrm>
          <a:prstGeom prst="rect">
            <a:avLst/>
          </a:prstGeom>
          <a:noFill/>
        </p:spPr>
        <p:txBody>
          <a:bodyPr wrap="square" anchor="t" lIns="0" rIns="0" tIns="0" bIns="0">
            <a:spAutoFit/>
          </a:bodyPr>
          <a:lstStyle/>
          <a:p>
            <a:pPr algn="l">
              <a:spcBef>
                <a:spcPts val="0"/>
              </a:spcBef>
              <a:spcAft>
                <a:spcPts val="0"/>
              </a:spcAft>
              <a:buNone/>
            </a:pPr>
            <a:r>
              <a:rPr sz="1800" b="0" i="0">
                <a:solidFill>
                  <a:srgbClr val="93A1BE"/>
                </a:solidFill>
                <a:latin typeface="Segoe UI"/>
              </a:rPr>
              <a:t>De la syntaxe à la pensée d'un développeur</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8" name="TextBox 7"/>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CLÔTURE — Résumé et message final</a:t>
            </a:r>
          </a:p>
        </p:txBody>
      </p:sp>
      <p:sp>
        <p:nvSpPr>
          <p:cNvPr id="9" name="TextBox 8"/>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228</a:t>
            </a:r>
          </a:p>
        </p:txBody>
      </p:sp>
      <p:sp>
        <p:nvSpPr>
          <p:cNvPr id="10" name="Rectangle 9"/>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F28C28"/>
                </a:solidFill>
                <a:latin typeface="Segoe UI"/>
              </a:rPr>
              <a:t>PROGRESSION DU COURS — SCHÉMA DU PROMPT</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Comprendre → Maîtriser → Construire</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63928" y="155448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3928" y="155448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38248" y="155448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Comprendre</a:t>
            </a:r>
          </a:p>
        </p:txBody>
      </p:sp>
      <p:sp>
        <p:nvSpPr>
          <p:cNvPr id="9" name="Down Arrow 8"/>
          <p:cNvSpPr/>
          <p:nvPr/>
        </p:nvSpPr>
        <p:spPr>
          <a:xfrm>
            <a:off x="5967832" y="213969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3928" y="237744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63928" y="237744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8248" y="237744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Pratiquer</a:t>
            </a:r>
          </a:p>
        </p:txBody>
      </p:sp>
      <p:sp>
        <p:nvSpPr>
          <p:cNvPr id="13" name="Down Arrow 12"/>
          <p:cNvSpPr/>
          <p:nvPr/>
        </p:nvSpPr>
        <p:spPr>
          <a:xfrm>
            <a:off x="5967832" y="296265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3928" y="320040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63928" y="320040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8248" y="320040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Se tromper</a:t>
            </a:r>
          </a:p>
        </p:txBody>
      </p:sp>
      <p:sp>
        <p:nvSpPr>
          <p:cNvPr id="17" name="Down Arrow 16"/>
          <p:cNvSpPr/>
          <p:nvPr/>
        </p:nvSpPr>
        <p:spPr>
          <a:xfrm>
            <a:off x="5967832" y="378561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63928" y="402336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63928" y="402336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8248" y="402336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Corriger</a:t>
            </a:r>
          </a:p>
        </p:txBody>
      </p:sp>
      <p:sp>
        <p:nvSpPr>
          <p:cNvPr id="21" name="Down Arrow 20"/>
          <p:cNvSpPr/>
          <p:nvPr/>
        </p:nvSpPr>
        <p:spPr>
          <a:xfrm>
            <a:off x="5967832" y="460857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63928" y="484632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63928" y="484632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38248" y="484632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Construire</a:t>
            </a:r>
          </a:p>
        </p:txBody>
      </p:sp>
      <p:sp>
        <p:nvSpPr>
          <p:cNvPr id="25" name="Down Arrow 24"/>
          <p:cNvSpPr/>
          <p:nvPr/>
        </p:nvSpPr>
        <p:spPr>
          <a:xfrm>
            <a:off x="5967832" y="5431536"/>
            <a:ext cx="256032" cy="201168"/>
          </a:xfrm>
          <a:prstGeom prst="down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63928" y="5669280"/>
            <a:ext cx="7863840" cy="548640"/>
          </a:xfrm>
          <a:prstGeom prst="rect">
            <a:avLst/>
          </a:prstGeom>
          <a:solidFill>
            <a:srgbClr val="121C32"/>
          </a:solidFill>
          <a:ln w="12700">
            <a:solidFill>
              <a:srgbClr val="2431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63928" y="5669280"/>
            <a:ext cx="82296"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38248" y="5669280"/>
            <a:ext cx="7406640" cy="548640"/>
          </a:xfrm>
          <a:prstGeom prst="rect">
            <a:avLst/>
          </a:prstGeom>
          <a:noFill/>
        </p:spPr>
        <p:txBody>
          <a:bodyPr wrap="square" anchor="ctr" lIns="0" rIns="0" tIns="0" bIns="0">
            <a:spAutoFit/>
          </a:bodyPr>
          <a:lstStyle/>
          <a:p>
            <a:pPr algn="l">
              <a:spcBef>
                <a:spcPts val="0"/>
              </a:spcBef>
              <a:spcAft>
                <a:spcPts val="0"/>
              </a:spcAft>
              <a:buNone/>
            </a:pPr>
            <a:r>
              <a:rPr sz="1700" b="1" i="0">
                <a:solidFill>
                  <a:srgbClr val="ECF0F7"/>
                </a:solidFill>
                <a:latin typeface="Segoe UI"/>
              </a:rPr>
              <a:t>Maîtriser</a:t>
            </a:r>
          </a:p>
        </p:txBody>
      </p:sp>
      <p:sp>
        <p:nvSpPr>
          <p:cNvPr id="29" name="TextBox 28"/>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30" name="TextBox 29"/>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CLÔTURE — Résumé et message final</a:t>
            </a:r>
          </a:p>
        </p:txBody>
      </p:sp>
      <p:sp>
        <p:nvSpPr>
          <p:cNvPr id="31" name="TextBox 30"/>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229</a:t>
            </a:r>
          </a:p>
        </p:txBody>
      </p:sp>
      <p:sp>
        <p:nvSpPr>
          <p:cNvPr id="32" name="Rectangle 31"/>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365760"/>
          </a:xfrm>
          <a:prstGeom prst="rect">
            <a:avLst/>
          </a:prstGeom>
          <a:noFill/>
        </p:spPr>
        <p:txBody>
          <a:bodyPr wrap="square" anchor="t" lIns="0" rIns="0" tIns="0" bIns="0">
            <a:spAutoFit/>
          </a:bodyPr>
          <a:lstStyle/>
          <a:p>
            <a:pPr algn="l">
              <a:spcBef>
                <a:spcPts val="0"/>
              </a:spcBef>
              <a:spcAft>
                <a:spcPts val="0"/>
              </a:spcAft>
              <a:buNone/>
            </a:pPr>
            <a:r>
              <a:rPr sz="1300" b="1" i="0">
                <a:solidFill>
                  <a:srgbClr val="E8C54A"/>
                </a:solidFill>
                <a:latin typeface="Segoe UI"/>
              </a:rPr>
              <a:t>RÉSUMÉ GÉNÉRAL</a:t>
            </a:r>
          </a:p>
        </p:txBody>
      </p:sp>
      <p:sp>
        <p:nvSpPr>
          <p:cNvPr id="4" name="TextBox 3"/>
          <p:cNvSpPr txBox="1"/>
          <p:nvPr/>
        </p:nvSpPr>
        <p:spPr>
          <a:xfrm>
            <a:off x="640080" y="832104"/>
            <a:ext cx="10911535" cy="914400"/>
          </a:xfrm>
          <a:prstGeom prst="rect">
            <a:avLst/>
          </a:prstGeom>
          <a:noFill/>
        </p:spPr>
        <p:txBody>
          <a:bodyPr wrap="square" anchor="t" lIns="0" rIns="0" tIns="0" bIns="0">
            <a:spAutoFit/>
          </a:bodyPr>
          <a:lstStyle/>
          <a:p>
            <a:pPr algn="l">
              <a:lnSpc>
                <a:spcPct val="100000"/>
              </a:lnSpc>
              <a:spcBef>
                <a:spcPts val="0"/>
              </a:spcBef>
              <a:spcAft>
                <a:spcPts val="0"/>
              </a:spcAft>
              <a:buNone/>
            </a:pPr>
            <a:r>
              <a:rPr sz="3200" b="1" i="0">
                <a:solidFill>
                  <a:srgbClr val="ECF0F7"/>
                </a:solidFill>
                <a:latin typeface="Segoe UI Semibold"/>
              </a:rPr>
              <a:t>Ce que vous savez faire maintenant</a:t>
            </a:r>
          </a:p>
        </p:txBody>
      </p:sp>
      <p:sp>
        <p:nvSpPr>
          <p:cNvPr id="5" name="Rectangle 4"/>
          <p:cNvSpPr/>
          <p:nvPr/>
        </p:nvSpPr>
        <p:spPr>
          <a:xfrm>
            <a:off x="640080" y="850392"/>
            <a:ext cx="54864" cy="4572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10911535" cy="4800600"/>
          </a:xfrm>
          <a:prstGeom prst="rect">
            <a:avLst/>
          </a:prstGeom>
          <a:solidFill>
            <a:srgbClr val="121C32"/>
          </a:solidFill>
          <a:ln w="12700">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80015" cy="4343400"/>
          </a:xfrm>
          <a:prstGeom prst="rect">
            <a:avLst/>
          </a:prstGeom>
          <a:noFill/>
        </p:spPr>
        <p:txBody>
          <a:bodyPr wrap="square" anchor="t" lIns="0" rIns="0" tIns="0" bIns="0">
            <a:spAutoFit/>
          </a:bodyPr>
          <a:lstStyle/>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Concevoir des classes avec attributs, méthodes, constructeurs et encapsulation</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Utiliser héritage, polymorphisme, abstraction et interfaces pour organiser un système</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Choisir la bonne collection (ArrayList, HashSet, HashMap) selon le besoin</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Gérer les erreurs proprement avec des exceptions, y compris personnalisées</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Concevoir avec UML avant de coder, en couches claires (UI/Service/DAO)</a:t>
            </a:r>
          </a:p>
          <a:p>
            <a:pPr algn="l">
              <a:lnSpc>
                <a:spcPct val="115000"/>
              </a:lnSpc>
              <a:spcAft>
                <a:spcPts val="1400"/>
              </a:spcAft>
              <a:buNone/>
            </a:pPr>
            <a:r>
              <a:rPr sz="1800" b="1" i="0">
                <a:solidFill>
                  <a:srgbClr val="F28C28"/>
                </a:solidFill>
                <a:latin typeface="Segoe UI"/>
              </a:rPr>
              <a:t>›  </a:t>
            </a:r>
            <a:r>
              <a:rPr sz="1800" b="0" i="0">
                <a:solidFill>
                  <a:srgbClr val="ECF0F7"/>
                </a:solidFill>
                <a:latin typeface="Segoe UI"/>
              </a:rPr>
              <a:t>Connecter Java à MySQL avec JDBC et une architecture DAO propre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9" name="TextBox 8"/>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CLÔTURE — Résumé et message final</a:t>
            </a:r>
          </a:p>
        </p:txBody>
      </p:sp>
      <p:sp>
        <p:nvSpPr>
          <p:cNvPr id="10" name="TextBox 9"/>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230</a:t>
            </a:r>
          </a:p>
        </p:txBody>
      </p:sp>
      <p:sp>
        <p:nvSpPr>
          <p:cNvPr id="11" name="Rectangle 10"/>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57200"/>
          </a:xfrm>
          <a:prstGeom prst="rect">
            <a:avLst/>
          </a:prstGeom>
          <a:noFill/>
        </p:spPr>
        <p:txBody>
          <a:bodyPr wrap="square" anchor="t" lIns="0" rIns="0" tIns="0" bIns="0">
            <a:spAutoFit/>
          </a:bodyPr>
          <a:lstStyle/>
          <a:p>
            <a:pPr algn="ctr">
              <a:spcBef>
                <a:spcPts val="0"/>
              </a:spcBef>
              <a:spcAft>
                <a:spcPts val="0"/>
              </a:spcAft>
              <a:buNone/>
            </a:pPr>
            <a:r>
              <a:rPr sz="1500" b="1" i="0">
                <a:solidFill>
                  <a:srgbClr val="35C7E0"/>
                </a:solidFill>
                <a:latin typeface="Segoe UI"/>
              </a:rPr>
              <a:t>Message final aux étudiants</a:t>
            </a:r>
          </a:p>
        </p:txBody>
      </p:sp>
      <p:sp>
        <p:nvSpPr>
          <p:cNvPr id="5" name="TextBox 4"/>
          <p:cNvSpPr txBox="1"/>
          <p:nvPr/>
        </p:nvSpPr>
        <p:spPr>
          <a:xfrm>
            <a:off x="1097280" y="3200400"/>
            <a:ext cx="9966960" cy="2011680"/>
          </a:xfrm>
          <a:prstGeom prst="rect">
            <a:avLst/>
          </a:prstGeom>
          <a:noFill/>
        </p:spPr>
        <p:txBody>
          <a:bodyPr wrap="square" anchor="t" lIns="0" rIns="0" tIns="0" bIns="0">
            <a:spAutoFit/>
          </a:bodyPr>
          <a:lstStyle/>
          <a:p>
            <a:pPr algn="ctr">
              <a:lnSpc>
                <a:spcPct val="125000"/>
              </a:lnSpc>
              <a:spcBef>
                <a:spcPts val="0"/>
              </a:spcBef>
              <a:spcAft>
                <a:spcPts val="0"/>
              </a:spcAft>
              <a:buNone/>
            </a:pPr>
            <a:r>
              <a:rPr sz="3000" b="1" i="1">
                <a:solidFill>
                  <a:srgbClr val="ECF0F7"/>
                </a:solidFill>
                <a:latin typeface="Segoe UI Semibold"/>
              </a:rPr>
              <a:t>« Ne vous contentez pas d'apprendre la syntaxe Java. Apprenez à penser comme un développeur. »</a:t>
            </a:r>
          </a:p>
        </p:txBody>
      </p:sp>
      <p:sp>
        <p:nvSpPr>
          <p:cNvPr id="6" name="TextBox 5"/>
          <p:cNvSpPr txBox="1"/>
          <p:nvPr/>
        </p:nvSpPr>
        <p:spPr>
          <a:xfrm>
            <a:off x="640080" y="6473952"/>
            <a:ext cx="6400800" cy="274320"/>
          </a:xfrm>
          <a:prstGeom prst="rect">
            <a:avLst/>
          </a:prstGeom>
          <a:noFill/>
        </p:spPr>
        <p:txBody>
          <a:bodyPr wrap="square" anchor="t" lIns="0" rIns="0" tIns="0" bIns="0">
            <a:spAutoFit/>
          </a:bodyPr>
          <a:lstStyle/>
          <a:p>
            <a:pPr algn="l">
              <a:spcBef>
                <a:spcPts val="0"/>
              </a:spcBef>
              <a:spcAft>
                <a:spcPts val="0"/>
              </a:spcAft>
              <a:buNone/>
            </a:pPr>
            <a:r>
              <a:rPr sz="900" b="0" i="0">
                <a:solidFill>
                  <a:srgbClr val="5C6A87"/>
                </a:solidFill>
                <a:latin typeface="Segoe UI"/>
              </a:rPr>
              <a:t>JAVA — PROGRAMMATION ORIENTÉE OBJET</a:t>
            </a:r>
          </a:p>
        </p:txBody>
      </p:sp>
      <p:sp>
        <p:nvSpPr>
          <p:cNvPr id="7" name="TextBox 6"/>
          <p:cNvSpPr txBox="1"/>
          <p:nvPr/>
        </p:nvSpPr>
        <p:spPr>
          <a:xfrm>
            <a:off x="8351215" y="6473952"/>
            <a:ext cx="3200400" cy="274320"/>
          </a:xfrm>
          <a:prstGeom prst="rect">
            <a:avLst/>
          </a:prstGeom>
          <a:noFill/>
        </p:spPr>
        <p:txBody>
          <a:bodyPr wrap="square" anchor="t" lIns="0" rIns="0" tIns="0" bIns="0">
            <a:spAutoFit/>
          </a:bodyPr>
          <a:lstStyle/>
          <a:p>
            <a:pPr algn="r"/>
            <a:r>
              <a:rPr sz="900" b="0" i="0">
                <a:solidFill>
                  <a:srgbClr val="5C6A87"/>
                </a:solidFill>
                <a:latin typeface="Segoe UI"/>
              </a:rPr>
              <a:t>CLÔTURE — Résumé et message final</a:t>
            </a:r>
          </a:p>
        </p:txBody>
      </p:sp>
      <p:sp>
        <p:nvSpPr>
          <p:cNvPr id="8" name="TextBox 7"/>
          <p:cNvSpPr txBox="1"/>
          <p:nvPr/>
        </p:nvSpPr>
        <p:spPr>
          <a:xfrm>
            <a:off x="11368735" y="6473952"/>
            <a:ext cx="457200" cy="274320"/>
          </a:xfrm>
          <a:prstGeom prst="rect">
            <a:avLst/>
          </a:prstGeom>
          <a:noFill/>
        </p:spPr>
        <p:txBody>
          <a:bodyPr wrap="square" anchor="t" lIns="0" rIns="0" tIns="0" bIns="0">
            <a:spAutoFit/>
          </a:bodyPr>
          <a:lstStyle/>
          <a:p>
            <a:pPr algn="r"/>
            <a:r>
              <a:rPr sz="900" b="0" i="0">
                <a:solidFill>
                  <a:srgbClr val="5C6A87"/>
                </a:solidFill>
                <a:latin typeface="Segoe UI"/>
              </a:rPr>
              <a:t>231</a:t>
            </a:r>
          </a:p>
        </p:txBody>
      </p:sp>
      <p:sp>
        <p:nvSpPr>
          <p:cNvPr id="9" name="Rectangle 8"/>
          <p:cNvSpPr/>
          <p:nvPr/>
        </p:nvSpPr>
        <p:spPr>
          <a:xfrm>
            <a:off x="0" y="6355080"/>
            <a:ext cx="12191695" cy="12700"/>
          </a:xfrm>
          <a:prstGeom prst="rect">
            <a:avLst/>
          </a:prstGeom>
          <a:solidFill>
            <a:srgbClr val="24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